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9406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60–90s. Frame in one breath: organisations collect more feedback than ever, yet fewer than a third systematically close the loop. This thesis designs, builds and evaluates a platform where the loop is not just closed but GOVERNED and MEASURED — and where what worked becomes organisational memory. One system, studied through Design Science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Anchor the gap in Bone et al., then the Uber experiment — the strongest evidence that acting without measuring can make things worse. End on the central claim; everything after is those two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Say why DSR: the question is 'what works by design', not 'what is'. Note H1–H8 map under these four RQs. Flag honestly that RQ4 data collection is in progress — protocol and instruments are complete and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Walk the diagram left to right: sources → ingestion → enrich → synthesize → rules → the approval diamond → execute → measure → learn, with governance cross-cutting. Emphasise the architectural principle: bounded model, deterministic loop. Mention it exists in two builds; the evaluated build is CLARA (FastAPI + LangGraph).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One sentence each; slow down on decay (the novelty boundary vs MemoryBank — examiners may probe novelty; we cite the prior art ourselves and position precisely) and on industry profiles (adaptation without retraining, demonstrated on three real sectors).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This is the RAI thesis heart. Two lines matter most: (1) the gate deliberately EXCEEDS Art 14 because awareness alone doesn't de-bias overseers; (2) the code review found declared-but-unenforced controls — and the governance instrumentation is what made that visible. Honesty as 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Stress the honesty features: real data only (synthetic excluded), star ratings as a NON-CIRCULAR sentiment gold, seed labels external to the artifact, every number written by a reproducible harness — no hand-typed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The three-rung story. Be precise about gold standards: the 0.37/0.78 rows are the thesis harness (188 seed-labelled signals); the LLM numbers are the artifact's committed in-repo eval on a DIFFERENT 60-case golden set — convergent evidence, not the same table. If probed: exemplar A/B lift was NOT significant at n=60 (McNemar p≈1.0) — we report that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This slide wins or loses trust. Lead with the number, land on the boundary: mechanism measured, benefit pending. Examiners reward the distinction — it's also written into the traceability matrix (next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Pre-empt the researcher-as-founder question here: externally-labelled gold sets, standardised instruments, reproducible harness, and this matrix. Conflict of interest is declared in the front matter and managed by method, not denial.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Category has moved TOWARD the thesis: analysts declared the insight half commoditised. Each rival owns a fragment; nobody verifiably holds the combination — and we apply the same verification standard to ourselves (previous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90s. Say number ① slowly: the single most important next artifact — a real action, a real metric, a contract, a window, a verdict. The method is already specified (ITS, then SDID). Everything else is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60s. Read the four contributions crisply, end on the one-liner, invite questions. Likely probes: novelty vs MemoryBank (answered on slide 5), founder COI (slide 10), simulated outcomes (slide 9), why not RCTs (slide 12 — ITS/SDID).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the Loop, Building the Memory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design-science study of a governed platform for turning customer feedback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measured action and reusable organisational learning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6868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868680" y="4233672"/>
            <a:ext cx="457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14884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5176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2651760" y="4233672"/>
            <a:ext cx="457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154680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3484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4434840" y="4233672"/>
            <a:ext cx="457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37760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1500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6217920" y="4233672"/>
            <a:ext cx="457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20840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Elvis Shehi  ·  MSc Responsible Artificial Intelligence  ·  OPIT  ·  Supervisor: Prof. Zorina Alliata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feedback is collected, not converted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feedback-to-action gap, and why acting without measuring is not enough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554480"/>
            <a:ext cx="5486400" cy="1417320"/>
          </a:xfrm>
          <a:prstGeom prst="roundRect">
            <a:avLst>
              <a:gd name="adj" fmla="val 387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85800" y="1645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30% of firms close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1938528"/>
            <a:ext cx="5212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barriers — silos, unclear ownership, no workflow from feedback to responsible team (Bone et al., 2017). Forrester 2025: most CX teams still can't get stakeholders to act; only 27% communicate insights in time.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486400" cy="1417320"/>
          </a:xfrm>
          <a:prstGeom prst="roundRect">
            <a:avLst>
              <a:gd name="adj" fmla="val 387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685800" y="32461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acting can backfire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85800" y="3538728"/>
            <a:ext cx="5212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experiment, ~1.5M Uber customers: apologies alone didn't restore spending — repeated apologies REDUCED it (Halperin et al., 2022). Action taken ≠ problem solved. Closure must be measured.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754880"/>
            <a:ext cx="5486400" cy="1417320"/>
          </a:xfrm>
          <a:prstGeom prst="roundRect">
            <a:avLst>
              <a:gd name="adj" fmla="val 387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85800" y="48463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learned is forgotten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" y="5138928"/>
            <a:ext cx="5212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Organisational memory depreciates (Argote 2013; Walsh &amp; Ungson 1991). Teams re-learn the same lessons; no system retains which remedies actually worked.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deficiencies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0" y="2057400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fragmentation — 13+ sources, no unified priority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Insight–action gap — no governed path to execution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Unmeasured closure — tickets created, outcomes unknown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memory — what worked isn't retained or retrieved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4251960"/>
            <a:ext cx="5212080" cy="192024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4" name="Text 22"/>
          <p:cNvSpPr/>
          <p:nvPr/>
        </p:nvSpPr>
        <p:spPr>
          <a:xfrm>
            <a:off x="6629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claim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29400" y="4709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 is a workflow-and-governance problem. The missing primitives are a measured outcome contract and a perishable learning memory — not a better dashboard.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 and method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Science Research (Hevner 2004; Peffers 2007) — the artifact is the research output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60020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85800" y="169164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· Core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51663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an artifact make actions governed, executed and VERIFIED to have closed — with reusable learning?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160020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6309360" y="169164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· Governance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09360" y="1984248"/>
            <a:ext cx="51663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design lets autonomous action align with EU AI Act &amp; GDPR without unduly slowing practitioners?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29184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85800" y="338328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· Quantitative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" y="3675888"/>
            <a:ext cx="51663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accurately does AI enrichment/routing reproduce human labels on real feedback, across sectors &amp; languages?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29184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6309360" y="338328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Qualitative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309360" y="3675888"/>
            <a:ext cx="51663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practitioners judge usefulness, usability, trustworthiness? (interviews + SUS/TAM — in progress)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problem-centred DSRM — problem → objectives → design &amp; build → demonstrate → evaluate → communicate. Mixed-methods evaluation: a quantitative gold-set on 188 real, multilingual signals + a practitioner study (12–15 interviews, task sessions, SUS/TAM). Design-validity claims, not statistical effects.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artifact: a governed loop, end to end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CLARA — Capture, Listen, Analyze, Respond, Adapt (parallel build: Odradek)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pic>
        <p:nvPicPr>
          <p:cNvPr id="12" name="Image 0" descr="/Users/olamakri/Documents/Thesis_writing/diagrams/rendered/01_architecture_log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11064240" cy="3886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owns validation, conflict resolution, execution, audit. Language-model reasoning is confined to named, bounded stages. The points where the system can act are finite, named, individually auditable — that is what makes it governable.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design decisions the literature doesn't resolve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implemented, grounded, and stated with its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600200"/>
            <a:ext cx="3593592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85800" y="1691640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Rule conflict resolution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331927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→ specificity → action-type dedupe; superseded rules logged. Cost: config debt — entrenches a wrong rule as faithfully as a right one.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5112" y="1600200"/>
            <a:ext cx="3593592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4462272" y="1691640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Confidence decay in learnings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462272" y="1984248"/>
            <a:ext cx="331927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as perishable: base × 0.5^(age/half-life). Prior art bounded: MemoryBank decays chat memory; ours decays ACTION-OUTCOME evidence. Cost: the half-life is a guess.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01584" y="1600200"/>
            <a:ext cx="3593592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8238744" y="1691640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Cross-signal severity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38744" y="1984248"/>
            <a:ext cx="331927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from the corroborating SET (urgency, volume, sentiment), not the loudest voice. Cost: can bury the rare catastrophic single signal — needs an override.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3593592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685800" y="3840480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Past-learnings retrieval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5800" y="4133088"/>
            <a:ext cx="331927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Decayed-confidence retrieval into new decisions (CBR lineage). Cost: retrieval quality gates usefulness.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749040"/>
            <a:ext cx="3593592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4462272" y="3840480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Per-industry profiles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462272" y="4133088"/>
            <a:ext cx="331927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by configuration, not fine-tuning: weight overlays per sector. Cost: authored priors can encode stereotypes; inspectability is the safeguard.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01584" y="3749040"/>
            <a:ext cx="3538728" cy="1965960"/>
          </a:xfrm>
          <a:prstGeom prst="roundRect">
            <a:avLst>
              <a:gd name="adj" fmla="val 27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8" name="Text 26"/>
          <p:cNvSpPr/>
          <p:nvPr/>
        </p:nvSpPr>
        <p:spPr>
          <a:xfrm>
            <a:off x="8275320" y="3886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costs?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75320" y="4224528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principle that buys something for nothing is a platitude. Stating the cost is what makes each decision defensible.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 as a property of the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compliance module — the loop itself is the control surface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60020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85800" y="169164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· Art 14+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5166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auto_execute=false ⇒ pending approval. Designed BEYOND Art 14: friction, evidence &amp; confidence shown, per-decision attribution (meaningful human control — Siebert 2023; automation-bias critique — Laux &amp; Ruschemeier 2025).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160020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6309360" y="169164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Art 12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09360" y="1984248"/>
            <a:ext cx="5166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action: rule, params, executor, result. Review-then-harden finding: declared controls ≠ enforced controls until adversarially verified.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· Art 50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" y="4133088"/>
            <a:ext cx="5166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outputs labelled with provenance. Human editorial review = the Art 50(4) exemption mechanism — the approval gate IS the compliance artifact.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74904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6309360" y="384048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&amp; GDPR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309360" y="4133088"/>
            <a:ext cx="5166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LLM — self-hostable, EU-resident. PII masking, retention limits, workspace RLS. Sentiment on text is NOT 'emotion recognition' (Art 3(39): biometric only).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closure has three levels: operational (ticket done) → customer (reporter notified) → outcome (metric moved). "Closed" means the third.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Evaluation: two independent streams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accuracy × practitioner judgement — neither alone suffices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pic>
        <p:nvPicPr>
          <p:cNvPr id="12" name="Image 0" descr="/Users/olamakri/Documents/Thesis_writing/diagrams/rendered/07_evaluat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9509760" cy="3703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real, public, paraphrased signals · 3 sectors (fintech / food delivery / B2B industrial) · EN+DE · human seed labels, authored independently of the artifact. Plus: the artifact's own committed in-repo evaluation (60-case golden set, live LLM) as convergent evidence.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1: triage accuracy is method-dependent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methods fail on real multilingual feedback; learned models are necessary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18288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Sentiment acc (n=153)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macro-F1 (n=106)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Lexicon / keyword floor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 (5-fold CV)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path (in-repo, 60-case golden set)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(sentiment)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 (urgency)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379476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floor fails: paraphrased operational complaints ("transaction history cannot be exported…") carry no sentiment words — 58 of 94 negatives misread as neutral. Substantive finding, not a strawman.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4846320"/>
            <a:ext cx="6675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Convergent in-repo run (CLARA, GLM-5.2, 3 Jul 2026): sentiment 96.7% · urgency 81.7% · theme 80.8% by meaning vs 45.8% exact — semantic scoring vindicated. Real-data star-proxy: ≈90% across all three sectors, zero fine-tuning.</a:t>
            </a:r>
            <a:endParaRPr lang="en-US" sz="1300" dirty="0"/>
          </a:p>
        </p:txBody>
      </p:sp>
      <p:pic>
        <p:nvPicPr>
          <p:cNvPr id="15" name="Image 0" descr="/Users/olamakri/Documents/Thesis_writing/evaluation/results/risk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645920"/>
            <a:ext cx="3931920" cy="3493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635240" y="52578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floor collapses risk to "low" — 19 of 27 critical signals missed.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2: the memory steers, honestly bounded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perishable-learning mechanism, instrumented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38752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 → 71%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731520" y="285292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past remedy appearing in the new recommendation when retrieval is ON (66.7% adoption)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34840" y="20116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0.503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4434840" y="285292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lift vs a same-run noise floor that absorbs model jitter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38160" y="20116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6.7%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8138160" y="285292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ledger / hallucination rate, latest run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42062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FDF3F3"/>
          </a:solidFill>
          <a:ln w="12700">
            <a:solidFill>
              <a:srgbClr val="99001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boundary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681728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data behind these learnings is still SIMULATED. Adoption shows the loop steers recommendations; whether the steered remedy is BETTER requires a live outcome contract on real data — the single most important open step. We claim mechanism, not benefit.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proven, demonstrated, and pending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traceability matrix — the thesis's honesty map (Appendix 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quality (H3, RQ3)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independent gold standards (§5A + in-repo)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DP2 memory influence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 21→71%; outcomes simulated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DP1 outcome contracts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designed + instrumented; live contract pending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end-to-end in production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Jira/Slack push; interrupt fix verified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Practitioner value (RQ4)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instruments ready; interviews in progress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claim's status is stated once, in one place, and the chapters must agree with it. This is the discipline that keeps a design-science thesis honest when the artifact is also a company.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 (July 2026)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differentiator survives — the contribution is the combination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600200"/>
            <a:ext cx="6035040" cy="987552"/>
          </a:xfrm>
          <a:prstGeom prst="roundRect">
            <a:avLst>
              <a:gd name="adj" fmla="val 555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85800" y="16916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ties feedback to behavioural/revenue data it owns — recommends, doesn't contract closure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15768"/>
            <a:ext cx="6035040" cy="987552"/>
          </a:xfrm>
          <a:prstGeom prst="roundRect">
            <a:avLst>
              <a:gd name="adj" fmla="val 555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685800" y="280720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Medallia + Ada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85800" y="309981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policy-aware workflows from insight — enterprise scale, published gains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31336"/>
            <a:ext cx="6035040" cy="987552"/>
          </a:xfrm>
          <a:prstGeom prst="roundRect">
            <a:avLst>
              <a:gd name="adj" fmla="val 555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85800" y="392277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Sprinklr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" y="421538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trails &amp; agent evaluation — governance artefacts at enterprise level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946904"/>
            <a:ext cx="6035040" cy="987552"/>
          </a:xfrm>
          <a:prstGeom prst="roundRect">
            <a:avLst>
              <a:gd name="adj" fmla="val 5556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685800" y="503834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Dovetail / Enterpret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5800" y="533095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agents "trigger real work" / MCP breadth — no approval gates, no outcome measurement (verified)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0" y="1600200"/>
            <a:ext cx="4754880" cy="3108960"/>
          </a:xfrm>
          <a:prstGeom prst="roundRect">
            <a:avLst>
              <a:gd name="adj" fmla="val 176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708660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unclaimed combination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86600" y="219456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contracts (verified closure)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approval-gated cross-system action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decaying learning memory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EU-sovereign deployment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accessible to 10–500-employee firms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858000" y="4892040"/>
            <a:ext cx="4754880" cy="13716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Text 26"/>
          <p:cNvSpPr/>
          <p:nvPr/>
        </p:nvSpPr>
        <p:spPr>
          <a:xfrm>
            <a:off x="7059168" y="5029200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(2025): &gt;40% of agentic-AI projects cancelled by 2027 — for unclear business value and inadequate risk controls. Exactly the two failure modes this design answers.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1722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Forrester retired its CFM Wave (Q1 2026): insight is commoditised; the new axes are autonomous action and trust.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 comes next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claims, and the one experiment that matters most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424160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08208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808208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192256" y="41148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1192256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576304" y="4114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1576304" y="395935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(stated, not buried)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201168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Modest, balanced corpus — characterises the pipeline, not a population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study small-N, design-validity — no causal effect claims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Researcher-as-designer-and-founder — managed by external labels, standard instruments, reproducibility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 found 10 HIGH findings → hardened; not warranted multi-tenant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 claims demonstrated + partially measured, not field-proven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15544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01168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One LIVE outcome contract on real data — scored by interrupted time series; then synthetic difference-in-differences as panels accumulate (Arkhangelsky et al., 2021)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Unify the two LLM evidence streams on one gold standard; grow the golden set past significance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Connector parity + broader pulls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Standing fairness monitoring of routing across segments and languages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2A357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1024128" y="1691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artifact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4128" y="208483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governed loop — signal to measured outcome to reusable learning — running end to end, in production, with real external writes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2A357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6510528" y="1691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design principles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10528" y="208483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its cost: closure as contract, perishable memory, set-based severity, graduated authority, bounded model, adaptation by configuration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5204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2A357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Text 8"/>
          <p:cNvSpPr/>
          <p:nvPr/>
        </p:nvSpPr>
        <p:spPr>
          <a:xfrm>
            <a:off x="1024128" y="3657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real-data evaluation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24128" y="405079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multilingual signals, two independent gold standards; triage is method-dependent and the loop's precondition is satisfiable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35204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2A357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510528" y="3657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Responsible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10528" y="405079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designed beyond Art 14, transparency via Art 50(4), auditability that found its own gaps — governance as durable design commitment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 and governing the closing are not in opposition — they are two halves of one well-designed workflow.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2494</Words>
  <Application>Microsoft Macintosh PowerPoint</Application>
  <PresentationFormat>Widescreen</PresentationFormat>
  <Paragraphs>232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Elvis Shehi</cp:lastModifiedBy>
  <cp:revision>2</cp:revision>
  <dcterms:created xsi:type="dcterms:W3CDTF">2026-07-12T01:45:24Z</dcterms:created>
  <dcterms:modified xsi:type="dcterms:W3CDTF">2026-07-16T01:04:58Z</dcterms:modified>
</cp:coreProperties>
</file>