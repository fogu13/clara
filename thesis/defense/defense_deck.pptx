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60–90s. Frame in one breath: organisations collect more feedback than ever, yet fewer than a third systematically close the loop. This thesis designs, builds and evaluates a platform where the loop is not just closed but GOVERNED and MEASURED — and where what worked becomes organisational memory. One system, studied through Design Science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Anchor the gap in Bone et al., then the Uber experiment — the strongest evidence that acting without measuring can make things worse. End on the central claim; everything after is those two primitives.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Say why DSR: the question is 'what works by design', not 'what is'. Note H1–H8 map under these four RQs. Flag honestly that RQ4 data collection is in progress — protocol and instruments are complete and in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Walk the diagram left to right: sources → ingestion → enrich → synthesize → rules → the approval diamond → execute → measure → learn, with governance cross-cutting. Emphasise the architectural principle: bounded model, deterministic loop. Mention it exists in two builds; the evaluated build is CLARA (FastAPI + LangGraph).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One sentence each; slow down on decay (the novelty boundary vs MemoryBank — examiners may probe novelty; we cite the prior art ourselves and position precisely) and on industry profiles (adaptation without retraining, demonstrated on three real sectors).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This is the RAI thesis heart. Two lines matter most: (1) the gate deliberately EXCEEDS Art 14 because awareness alone doesn't de-bias overseers; (2) the code review found declared-but-unenforced controls — and the governance instrumentation is what made that visible. Honesty as methodology.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Stress the honesty features: real data only (synthetic excluded), star ratings as a NON-CIRCULAR sentiment gold, seed labels external to the artifact, every number written by a reproducible harness — no hand-typed metrics.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The three-rung story. Be precise about gold standards: the 0.37/0.78 rows are the thesis harness (188 seed-labelled signals); the LLM numbers are the artifact's committed in-repo eval on a DIFFERENT 80-case bilingual golden set (20 authored German cases — disclosed) — convergent evidence, not the same table. If probed on exemplars: at n=60 the A/B was not significant (p≈1.0); at n=80, after adding German exemplars, the exact-tag-set lift IS significant (8.75%→28.75% per item, in-run paired McNemar p=0.001) while urgency stays underpowered (81.25%→86.25%, p=0.219) — we report both ourselves. The in-run paired A/B is the designed inference; the model is non-deterministic even at temperature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This slide wins or loses trust. Lead with the number, land on the boundary: mechanism measured, benefit pending. Examiners reward the distinction — it's also written into the traceability matrix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Pre-empt the researcher-as-founder question here: externally-labelled gold sets, standardised instruments, reproducible harness, and this matrix. Conflict of interest is declared in the front matter and managed by method, not denial. If asked about the July external reviews (§5A.8): two independent LLM strategic reviews, 45 claims adversarially verified (27 confirmed / 13 partial / 2 refuted), 20 hardening PRs, 17/17 live production checks — and the refuted claims are themselves a finding: unsurfaced capability reads as absent.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Category has moved TOWARD the thesis: analysts declared the insight half commoditised. Each rival owns a fragment; nobody verifiably holds the combination — and we apply the same verification standard to ourselves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Say number ① slowly: the single most important next artifact — a real action, a real metric, a contract, a window, a verdict. The method is already specified (ITS, then SDID). Everything else is engineering.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Read the four contributions crisply, end on the one-liner, invite questions. Likely probes: novelty vs MemoryBank (answered on slide 5), founder COI (slide 10), simulated outcomes (slide 9), why not RCTs (slide 12 — ITS/SDID).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1828800"/>
            <a:ext cx="10515600" cy="1097280"/>
          </a:xfrm>
          <a:prstGeom prst="rect">
            <a:avLst/>
          </a:prstGeom>
          <a:noFill/>
          <a:ln/>
        </p:spPr>
        <p:txBody>
          <a:bodyPr wrap="square"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Closing the Loop, Building the Memory</a:t>
            </a:r>
            <a:endParaRPr lang="en-US" sz="4400" dirty="0"/>
          </a:p>
        </p:txBody>
      </p:sp>
      <p:sp>
        <p:nvSpPr>
          <p:cNvPr id="3" name="Text 1"/>
          <p:cNvSpPr/>
          <p:nvPr/>
        </p:nvSpPr>
        <p:spPr>
          <a:xfrm>
            <a:off x="822960" y="2971800"/>
            <a:ext cx="10515600" cy="822960"/>
          </a:xfrm>
          <a:prstGeom prst="rect">
            <a:avLst/>
          </a:prstGeom>
          <a:noFill/>
          <a:ln/>
        </p:spPr>
        <p:txBody>
          <a:bodyPr wrap="square" rtlCol="0" anchor="ctr"/>
          <a:lstStyle/>
          <a:p>
            <a:pPr indent="0" marL="0">
              <a:buNone/>
            </a:pPr>
            <a:r>
              <a:rPr lang="en-US" sz="2000" dirty="0">
                <a:solidFill>
                  <a:srgbClr val="CADCFC"/>
                </a:solidFill>
                <a:latin typeface="Calibri" pitchFamily="34" charset="0"/>
                <a:ea typeface="Calibri" pitchFamily="34" charset="-122"/>
                <a:cs typeface="Calibri" pitchFamily="34" charset="-120"/>
              </a:rPr>
              <a:t>A design-science study of a governed platform for turning customer feedback</a:t>
            </a:r>
            <a:endParaRPr lang="en-US" sz="2000" dirty="0"/>
          </a:p>
          <a:p>
            <a:pPr indent="0" marL="0">
              <a:buNone/>
            </a:pPr>
            <a:r>
              <a:rPr lang="en-US" sz="2000" dirty="0">
                <a:solidFill>
                  <a:srgbClr val="CADCFC"/>
                </a:solidFill>
                <a:latin typeface="Calibri" pitchFamily="34" charset="0"/>
                <a:ea typeface="Calibri" pitchFamily="34" charset="-122"/>
                <a:cs typeface="Calibri" pitchFamily="34" charset="-120"/>
              </a:rPr>
              <a:t>into measured action and reusable organisational learning</a:t>
            </a:r>
            <a:endParaRPr lang="en-US" sz="2000" dirty="0"/>
          </a:p>
        </p:txBody>
      </p:sp>
      <p:sp>
        <p:nvSpPr>
          <p:cNvPr id="4" name="Shape 2"/>
          <p:cNvSpPr/>
          <p:nvPr/>
        </p:nvSpPr>
        <p:spPr>
          <a:xfrm>
            <a:off x="868680" y="4251960"/>
            <a:ext cx="457200" cy="457200"/>
          </a:xfrm>
          <a:prstGeom prst="ellipse">
            <a:avLst/>
          </a:prstGeom>
          <a:solidFill>
            <a:srgbClr val="CADCFC"/>
          </a:solidFill>
          <a:ln/>
        </p:spPr>
      </p:sp>
      <p:sp>
        <p:nvSpPr>
          <p:cNvPr id="5" name="Text 3"/>
          <p:cNvSpPr/>
          <p:nvPr/>
        </p:nvSpPr>
        <p:spPr>
          <a:xfrm>
            <a:off x="868680" y="4233672"/>
            <a:ext cx="457200" cy="484632"/>
          </a:xfrm>
          <a:prstGeom prst="rect">
            <a:avLst/>
          </a:prstGeom>
          <a:noFill/>
          <a:ln/>
        </p:spPr>
        <p:txBody>
          <a:bodyPr wrap="square" lIns="0" tIns="0" rIns="0" bIns="0" rtlCol="0" anchor="ctr"/>
          <a:lstStyle/>
          <a:p>
            <a:pPr algn="ctr" indent="0" marL="0">
              <a:buNone/>
            </a:pPr>
            <a:r>
              <a:rPr lang="en-US" sz="1800" b="1" dirty="0">
                <a:solidFill>
                  <a:srgbClr val="1E2761"/>
                </a:solidFill>
                <a:latin typeface="Calibri" pitchFamily="34" charset="0"/>
                <a:ea typeface="Calibri" pitchFamily="34" charset="-122"/>
                <a:cs typeface="Calibri" pitchFamily="34" charset="-120"/>
              </a:rPr>
              <a:t>1</a:t>
            </a:r>
            <a:endParaRPr lang="en-US" sz="1800" dirty="0"/>
          </a:p>
        </p:txBody>
      </p:sp>
      <p:sp>
        <p:nvSpPr>
          <p:cNvPr id="6" name="Text 4"/>
          <p:cNvSpPr/>
          <p:nvPr/>
        </p:nvSpPr>
        <p:spPr>
          <a:xfrm>
            <a:off x="1371600" y="4297680"/>
            <a:ext cx="1234440" cy="3657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Signal</a:t>
            </a:r>
            <a:endParaRPr lang="en-US" sz="1500" dirty="0"/>
          </a:p>
        </p:txBody>
      </p:sp>
      <p:sp>
        <p:nvSpPr>
          <p:cNvPr id="7" name="Text 5"/>
          <p:cNvSpPr/>
          <p:nvPr/>
        </p:nvSpPr>
        <p:spPr>
          <a:xfrm>
            <a:off x="2148840" y="4297680"/>
            <a:ext cx="365760" cy="36576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a:t>
            </a:r>
            <a:endParaRPr lang="en-US" sz="1500" dirty="0"/>
          </a:p>
        </p:txBody>
      </p:sp>
      <p:sp>
        <p:nvSpPr>
          <p:cNvPr id="8" name="Shape 6"/>
          <p:cNvSpPr/>
          <p:nvPr/>
        </p:nvSpPr>
        <p:spPr>
          <a:xfrm>
            <a:off x="2651760" y="4251960"/>
            <a:ext cx="457200" cy="457200"/>
          </a:xfrm>
          <a:prstGeom prst="ellipse">
            <a:avLst/>
          </a:prstGeom>
          <a:solidFill>
            <a:srgbClr val="CADCFC"/>
          </a:solidFill>
          <a:ln/>
        </p:spPr>
      </p:sp>
      <p:sp>
        <p:nvSpPr>
          <p:cNvPr id="9" name="Text 7"/>
          <p:cNvSpPr/>
          <p:nvPr/>
        </p:nvSpPr>
        <p:spPr>
          <a:xfrm>
            <a:off x="2651760" y="4233672"/>
            <a:ext cx="457200" cy="484632"/>
          </a:xfrm>
          <a:prstGeom prst="rect">
            <a:avLst/>
          </a:prstGeom>
          <a:noFill/>
          <a:ln/>
        </p:spPr>
        <p:txBody>
          <a:bodyPr wrap="square" lIns="0" tIns="0" rIns="0" bIns="0" rtlCol="0" anchor="ctr"/>
          <a:lstStyle/>
          <a:p>
            <a:pPr algn="ctr" indent="0" marL="0">
              <a:buNone/>
            </a:pPr>
            <a:r>
              <a:rPr lang="en-US" sz="1800" b="1" dirty="0">
                <a:solidFill>
                  <a:srgbClr val="1E2761"/>
                </a:solidFill>
                <a:latin typeface="Calibri" pitchFamily="34" charset="0"/>
                <a:ea typeface="Calibri" pitchFamily="34" charset="-122"/>
                <a:cs typeface="Calibri" pitchFamily="34" charset="-120"/>
              </a:rPr>
              <a:t>2</a:t>
            </a:r>
            <a:endParaRPr lang="en-US" sz="1800" dirty="0"/>
          </a:p>
        </p:txBody>
      </p:sp>
      <p:sp>
        <p:nvSpPr>
          <p:cNvPr id="10" name="Text 8"/>
          <p:cNvSpPr/>
          <p:nvPr/>
        </p:nvSpPr>
        <p:spPr>
          <a:xfrm>
            <a:off x="3154680" y="4297680"/>
            <a:ext cx="1234440" cy="3657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Insight</a:t>
            </a:r>
            <a:endParaRPr lang="en-US" sz="1500" dirty="0"/>
          </a:p>
        </p:txBody>
      </p:sp>
      <p:sp>
        <p:nvSpPr>
          <p:cNvPr id="11" name="Text 9"/>
          <p:cNvSpPr/>
          <p:nvPr/>
        </p:nvSpPr>
        <p:spPr>
          <a:xfrm>
            <a:off x="3931920" y="4297680"/>
            <a:ext cx="365760" cy="36576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a:t>
            </a:r>
            <a:endParaRPr lang="en-US" sz="1500" dirty="0"/>
          </a:p>
        </p:txBody>
      </p:sp>
      <p:sp>
        <p:nvSpPr>
          <p:cNvPr id="12" name="Shape 10"/>
          <p:cNvSpPr/>
          <p:nvPr/>
        </p:nvSpPr>
        <p:spPr>
          <a:xfrm>
            <a:off x="4434840" y="4251960"/>
            <a:ext cx="457200" cy="457200"/>
          </a:xfrm>
          <a:prstGeom prst="ellipse">
            <a:avLst/>
          </a:prstGeom>
          <a:solidFill>
            <a:srgbClr val="CADCFC"/>
          </a:solidFill>
          <a:ln/>
        </p:spPr>
      </p:sp>
      <p:sp>
        <p:nvSpPr>
          <p:cNvPr id="13" name="Text 11"/>
          <p:cNvSpPr/>
          <p:nvPr/>
        </p:nvSpPr>
        <p:spPr>
          <a:xfrm>
            <a:off x="4434840" y="4233672"/>
            <a:ext cx="457200" cy="484632"/>
          </a:xfrm>
          <a:prstGeom prst="rect">
            <a:avLst/>
          </a:prstGeom>
          <a:noFill/>
          <a:ln/>
        </p:spPr>
        <p:txBody>
          <a:bodyPr wrap="square" lIns="0" tIns="0" rIns="0" bIns="0" rtlCol="0" anchor="ctr"/>
          <a:lstStyle/>
          <a:p>
            <a:pPr algn="ctr" indent="0" marL="0">
              <a:buNone/>
            </a:pPr>
            <a:r>
              <a:rPr lang="en-US" sz="1800" b="1" dirty="0">
                <a:solidFill>
                  <a:srgbClr val="1E2761"/>
                </a:solidFill>
                <a:latin typeface="Calibri" pitchFamily="34" charset="0"/>
                <a:ea typeface="Calibri" pitchFamily="34" charset="-122"/>
                <a:cs typeface="Calibri" pitchFamily="34" charset="-120"/>
              </a:rPr>
              <a:t>3</a:t>
            </a:r>
            <a:endParaRPr lang="en-US" sz="1800" dirty="0"/>
          </a:p>
        </p:txBody>
      </p:sp>
      <p:sp>
        <p:nvSpPr>
          <p:cNvPr id="14" name="Text 12"/>
          <p:cNvSpPr/>
          <p:nvPr/>
        </p:nvSpPr>
        <p:spPr>
          <a:xfrm>
            <a:off x="4937760" y="4297680"/>
            <a:ext cx="1234440" cy="3657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Action</a:t>
            </a:r>
            <a:endParaRPr lang="en-US" sz="1500" dirty="0"/>
          </a:p>
        </p:txBody>
      </p:sp>
      <p:sp>
        <p:nvSpPr>
          <p:cNvPr id="15" name="Text 13"/>
          <p:cNvSpPr/>
          <p:nvPr/>
        </p:nvSpPr>
        <p:spPr>
          <a:xfrm>
            <a:off x="5715000" y="4297680"/>
            <a:ext cx="365760" cy="36576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a:t>
            </a:r>
            <a:endParaRPr lang="en-US" sz="1500" dirty="0"/>
          </a:p>
        </p:txBody>
      </p:sp>
      <p:sp>
        <p:nvSpPr>
          <p:cNvPr id="16" name="Shape 14"/>
          <p:cNvSpPr/>
          <p:nvPr/>
        </p:nvSpPr>
        <p:spPr>
          <a:xfrm>
            <a:off x="6217920" y="4251960"/>
            <a:ext cx="457200" cy="457200"/>
          </a:xfrm>
          <a:prstGeom prst="ellipse">
            <a:avLst/>
          </a:prstGeom>
          <a:solidFill>
            <a:srgbClr val="02C39A"/>
          </a:solidFill>
          <a:ln/>
        </p:spPr>
      </p:sp>
      <p:sp>
        <p:nvSpPr>
          <p:cNvPr id="17" name="Text 15"/>
          <p:cNvSpPr/>
          <p:nvPr/>
        </p:nvSpPr>
        <p:spPr>
          <a:xfrm>
            <a:off x="6217920" y="4233672"/>
            <a:ext cx="457200" cy="484632"/>
          </a:xfrm>
          <a:prstGeom prst="rect">
            <a:avLst/>
          </a:prstGeom>
          <a:noFill/>
          <a:ln/>
        </p:spPr>
        <p:txBody>
          <a:bodyPr wrap="square" lIns="0" tIns="0" rIns="0" bIns="0" rtlCol="0" anchor="ctr"/>
          <a:lstStyle/>
          <a:p>
            <a:pPr algn="ctr" indent="0" marL="0">
              <a:buNone/>
            </a:pPr>
            <a:r>
              <a:rPr lang="en-US" sz="1800" b="1" dirty="0">
                <a:solidFill>
                  <a:srgbClr val="1E2761"/>
                </a:solidFill>
                <a:latin typeface="Calibri" pitchFamily="34" charset="0"/>
                <a:ea typeface="Calibri" pitchFamily="34" charset="-122"/>
                <a:cs typeface="Calibri" pitchFamily="34" charset="-120"/>
              </a:rPr>
              <a:t>4</a:t>
            </a:r>
            <a:endParaRPr lang="en-US" sz="1800" dirty="0"/>
          </a:p>
        </p:txBody>
      </p:sp>
      <p:sp>
        <p:nvSpPr>
          <p:cNvPr id="18" name="Text 16"/>
          <p:cNvSpPr/>
          <p:nvPr/>
        </p:nvSpPr>
        <p:spPr>
          <a:xfrm>
            <a:off x="6720840" y="4297680"/>
            <a:ext cx="1234440" cy="3657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Learning</a:t>
            </a:r>
            <a:endParaRPr lang="en-US" sz="1500" dirty="0"/>
          </a:p>
        </p:txBody>
      </p:sp>
      <p:sp>
        <p:nvSpPr>
          <p:cNvPr id="19" name="Text 17"/>
          <p:cNvSpPr/>
          <p:nvPr/>
        </p:nvSpPr>
        <p:spPr>
          <a:xfrm>
            <a:off x="822960" y="5989320"/>
            <a:ext cx="10515600" cy="36576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Elvis Shehi  ·  MSc Responsible Artificial Intelligence  ·  OPIT  ·  Supervisor: Prof. Zorina Alliata  ·  September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The problem: feedback is collected, not converted</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The feedback-to-action gap, and why acting without measuring is not enough</a:t>
            </a:r>
            <a:endParaRPr lang="en-US" sz="1400" dirty="0"/>
          </a:p>
        </p:txBody>
      </p:sp>
      <p:sp>
        <p:nvSpPr>
          <p:cNvPr id="4" name="Shape 2"/>
          <p:cNvSpPr/>
          <p:nvPr/>
        </p:nvSpPr>
        <p:spPr>
          <a:xfrm>
            <a:off x="10424160" y="411480"/>
            <a:ext cx="292608" cy="292608"/>
          </a:xfrm>
          <a:prstGeom prst="ellipse">
            <a:avLst/>
          </a:prstGeom>
          <a:solidFill>
            <a:srgbClr val="1E2761"/>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CADCFC"/>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sp>
        <p:nvSpPr>
          <p:cNvPr id="12" name="Shape 10"/>
          <p:cNvSpPr/>
          <p:nvPr/>
        </p:nvSpPr>
        <p:spPr>
          <a:xfrm>
            <a:off x="548640" y="1554480"/>
            <a:ext cx="5486400" cy="1417320"/>
          </a:xfrm>
          <a:prstGeom prst="roundRect">
            <a:avLst>
              <a:gd name="adj" fmla="val 3871"/>
            </a:avLst>
          </a:prstGeom>
          <a:solidFill>
            <a:srgbClr val="F4F7FC"/>
          </a:solidFill>
          <a:ln w="12700">
            <a:solidFill>
              <a:srgbClr val="CADCFC"/>
            </a:solidFill>
            <a:prstDash val="solid"/>
          </a:ln>
        </p:spPr>
      </p:sp>
      <p:sp>
        <p:nvSpPr>
          <p:cNvPr id="13" name="Text 11"/>
          <p:cNvSpPr/>
          <p:nvPr/>
        </p:nvSpPr>
        <p:spPr>
          <a:xfrm>
            <a:off x="685800" y="1645920"/>
            <a:ext cx="521208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Fewer than 30% of firms close the loop</a:t>
            </a:r>
            <a:endParaRPr lang="en-US" sz="1350" dirty="0"/>
          </a:p>
        </p:txBody>
      </p:sp>
      <p:sp>
        <p:nvSpPr>
          <p:cNvPr id="14" name="Text 12"/>
          <p:cNvSpPr/>
          <p:nvPr/>
        </p:nvSpPr>
        <p:spPr>
          <a:xfrm>
            <a:off x="685800" y="1938528"/>
            <a:ext cx="5212080" cy="94183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Structural barriers — silos, unclear ownership, no workflow from feedback to responsible team (Bone et al., 2017). Forrester 2025: most CX teams still can't get stakeholders to act; only 27% communicate insights in time.</a:t>
            </a:r>
            <a:endParaRPr lang="en-US" sz="1150" dirty="0"/>
          </a:p>
        </p:txBody>
      </p:sp>
      <p:sp>
        <p:nvSpPr>
          <p:cNvPr id="15" name="Shape 13"/>
          <p:cNvSpPr/>
          <p:nvPr/>
        </p:nvSpPr>
        <p:spPr>
          <a:xfrm>
            <a:off x="548640" y="3154680"/>
            <a:ext cx="5486400" cy="1417320"/>
          </a:xfrm>
          <a:prstGeom prst="roundRect">
            <a:avLst>
              <a:gd name="adj" fmla="val 3871"/>
            </a:avLst>
          </a:prstGeom>
          <a:solidFill>
            <a:srgbClr val="F4F7FC"/>
          </a:solidFill>
          <a:ln w="12700">
            <a:solidFill>
              <a:srgbClr val="CADCFC"/>
            </a:solidFill>
            <a:prstDash val="solid"/>
          </a:ln>
        </p:spPr>
      </p:sp>
      <p:sp>
        <p:nvSpPr>
          <p:cNvPr id="16" name="Text 14"/>
          <p:cNvSpPr/>
          <p:nvPr/>
        </p:nvSpPr>
        <p:spPr>
          <a:xfrm>
            <a:off x="685800" y="3246120"/>
            <a:ext cx="521208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Even acting can backfire</a:t>
            </a:r>
            <a:endParaRPr lang="en-US" sz="1350" dirty="0"/>
          </a:p>
        </p:txBody>
      </p:sp>
      <p:sp>
        <p:nvSpPr>
          <p:cNvPr id="17" name="Text 15"/>
          <p:cNvSpPr/>
          <p:nvPr/>
        </p:nvSpPr>
        <p:spPr>
          <a:xfrm>
            <a:off x="685800" y="3538728"/>
            <a:ext cx="5212080" cy="94183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Field experiment, ~1.5M Uber customers: apologies alone didn't restore spending — repeated apologies REDUCED it (Halperin et al., 2022). Action taken ≠ problem solved. Closure must be measured.</a:t>
            </a:r>
            <a:endParaRPr lang="en-US" sz="1150" dirty="0"/>
          </a:p>
        </p:txBody>
      </p:sp>
      <p:sp>
        <p:nvSpPr>
          <p:cNvPr id="18" name="Shape 16"/>
          <p:cNvSpPr/>
          <p:nvPr/>
        </p:nvSpPr>
        <p:spPr>
          <a:xfrm>
            <a:off x="548640" y="4754880"/>
            <a:ext cx="5486400" cy="1417320"/>
          </a:xfrm>
          <a:prstGeom prst="roundRect">
            <a:avLst>
              <a:gd name="adj" fmla="val 3871"/>
            </a:avLst>
          </a:prstGeom>
          <a:solidFill>
            <a:srgbClr val="F4F7FC"/>
          </a:solidFill>
          <a:ln w="12700">
            <a:solidFill>
              <a:srgbClr val="CADCFC"/>
            </a:solidFill>
            <a:prstDash val="solid"/>
          </a:ln>
        </p:spPr>
      </p:sp>
      <p:sp>
        <p:nvSpPr>
          <p:cNvPr id="19" name="Text 17"/>
          <p:cNvSpPr/>
          <p:nvPr/>
        </p:nvSpPr>
        <p:spPr>
          <a:xfrm>
            <a:off x="685800" y="4846320"/>
            <a:ext cx="521208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What is learned is forgotten</a:t>
            </a:r>
            <a:endParaRPr lang="en-US" sz="1350" dirty="0"/>
          </a:p>
        </p:txBody>
      </p:sp>
      <p:sp>
        <p:nvSpPr>
          <p:cNvPr id="20" name="Text 18"/>
          <p:cNvSpPr/>
          <p:nvPr/>
        </p:nvSpPr>
        <p:spPr>
          <a:xfrm>
            <a:off x="685800" y="5138928"/>
            <a:ext cx="5212080" cy="94183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Organisational memory depreciates (Argote 2013; Walsh &amp; Ungson 1991). Teams re-learn the same lessons; no system retains which remedies actually worked.</a:t>
            </a:r>
            <a:endParaRPr lang="en-US" sz="1150" dirty="0"/>
          </a:p>
        </p:txBody>
      </p:sp>
      <p:sp>
        <p:nvSpPr>
          <p:cNvPr id="21" name="Text 19"/>
          <p:cNvSpPr/>
          <p:nvPr/>
        </p:nvSpPr>
        <p:spPr>
          <a:xfrm>
            <a:off x="6400800" y="1600200"/>
            <a:ext cx="5120640" cy="365760"/>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Four deficiencies</a:t>
            </a:r>
            <a:endParaRPr lang="en-US" sz="1700" dirty="0"/>
          </a:p>
        </p:txBody>
      </p:sp>
      <p:sp>
        <p:nvSpPr>
          <p:cNvPr id="22" name="Text 20"/>
          <p:cNvSpPr/>
          <p:nvPr/>
        </p:nvSpPr>
        <p:spPr>
          <a:xfrm>
            <a:off x="6583680" y="2057400"/>
            <a:ext cx="4937760" cy="1920240"/>
          </a:xfrm>
          <a:prstGeom prst="rect">
            <a:avLst/>
          </a:prstGeom>
          <a:noFill/>
          <a:ln/>
        </p:spPr>
        <p:txBody>
          <a:bodyPr wrap="square" rtlCol="0" anchor="ctr"/>
          <a:lstStyle/>
          <a:p>
            <a:pPr marL="342900" indent="-3429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Signal fragmentation — 13+ sources, no unified priority</a:t>
            </a:r>
            <a:endParaRPr lang="en-US" sz="1400" dirty="0"/>
          </a:p>
          <a:p>
            <a:pPr marL="342900" indent="-3429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Insight–action gap — no governed path to execution</a:t>
            </a:r>
            <a:endParaRPr lang="en-US" sz="1400" dirty="0"/>
          </a:p>
          <a:p>
            <a:pPr marL="342900" indent="-3429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Unmeasured closure — tickets created, outcomes unknown</a:t>
            </a:r>
            <a:endParaRPr lang="en-US" sz="1400" dirty="0"/>
          </a:p>
          <a:p>
            <a:pPr marL="342900" indent="-3429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Lost memory — what worked isn't retained or retrieved</a:t>
            </a:r>
            <a:endParaRPr lang="en-US" sz="1400" dirty="0"/>
          </a:p>
        </p:txBody>
      </p:sp>
      <p:sp>
        <p:nvSpPr>
          <p:cNvPr id="23" name="Shape 21"/>
          <p:cNvSpPr/>
          <p:nvPr/>
        </p:nvSpPr>
        <p:spPr>
          <a:xfrm>
            <a:off x="6400800" y="4251960"/>
            <a:ext cx="5212080" cy="1920240"/>
          </a:xfrm>
          <a:prstGeom prst="roundRect">
            <a:avLst>
              <a:gd name="adj" fmla="val 2857"/>
            </a:avLst>
          </a:prstGeom>
          <a:solidFill>
            <a:srgbClr val="1E2761"/>
          </a:solidFill>
          <a:ln/>
        </p:spPr>
      </p:sp>
      <p:sp>
        <p:nvSpPr>
          <p:cNvPr id="24" name="Text 22"/>
          <p:cNvSpPr/>
          <p:nvPr/>
        </p:nvSpPr>
        <p:spPr>
          <a:xfrm>
            <a:off x="6629400" y="4389120"/>
            <a:ext cx="4754880" cy="320040"/>
          </a:xfrm>
          <a:prstGeom prst="rect">
            <a:avLst/>
          </a:prstGeom>
          <a:noFill/>
          <a:ln/>
        </p:spPr>
        <p:txBody>
          <a:bodyPr wrap="square" lIns="0" tIns="0" rIns="0" bIns="0" rtlCol="0" anchor="ctr"/>
          <a:lstStyle/>
          <a:p>
            <a:pPr indent="0" marL="0">
              <a:buNone/>
            </a:pPr>
            <a:r>
              <a:rPr lang="en-US" sz="1300" b="1" dirty="0">
                <a:solidFill>
                  <a:srgbClr val="CADCFC"/>
                </a:solidFill>
                <a:latin typeface="Calibri" pitchFamily="34" charset="0"/>
                <a:ea typeface="Calibri" pitchFamily="34" charset="-122"/>
                <a:cs typeface="Calibri" pitchFamily="34" charset="-120"/>
              </a:rPr>
              <a:t>Central claim</a:t>
            </a:r>
            <a:endParaRPr lang="en-US" sz="1300" dirty="0"/>
          </a:p>
        </p:txBody>
      </p:sp>
      <p:sp>
        <p:nvSpPr>
          <p:cNvPr id="25" name="Text 23"/>
          <p:cNvSpPr/>
          <p:nvPr/>
        </p:nvSpPr>
        <p:spPr>
          <a:xfrm>
            <a:off x="6629400" y="4709160"/>
            <a:ext cx="4754880" cy="1371600"/>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Closing the loop is a workflow-and-governance problem. The missing primitives are a measured outcome contract and a perishable learning memory — not a better dashboard.</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Research questions and method</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Design Science Research (Hevner 2004; Peffers 2007) — the artifact is the research output</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1E2761"/>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CADCFC"/>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sp>
        <p:nvSpPr>
          <p:cNvPr id="12" name="Shape 10"/>
          <p:cNvSpPr/>
          <p:nvPr/>
        </p:nvSpPr>
        <p:spPr>
          <a:xfrm>
            <a:off x="548640" y="1600200"/>
            <a:ext cx="5440680" cy="1508760"/>
          </a:xfrm>
          <a:prstGeom prst="roundRect">
            <a:avLst>
              <a:gd name="adj" fmla="val 3636"/>
            </a:avLst>
          </a:prstGeom>
          <a:solidFill>
            <a:srgbClr val="F4F7FC"/>
          </a:solidFill>
          <a:ln w="12700">
            <a:solidFill>
              <a:srgbClr val="CADCFC"/>
            </a:solidFill>
            <a:prstDash val="solid"/>
          </a:ln>
        </p:spPr>
      </p:sp>
      <p:sp>
        <p:nvSpPr>
          <p:cNvPr id="13" name="Text 11"/>
          <p:cNvSpPr/>
          <p:nvPr/>
        </p:nvSpPr>
        <p:spPr>
          <a:xfrm>
            <a:off x="685800" y="1691640"/>
            <a:ext cx="516636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RQ1 · Core</a:t>
            </a:r>
            <a:endParaRPr lang="en-US" sz="1350" dirty="0"/>
          </a:p>
        </p:txBody>
      </p:sp>
      <p:sp>
        <p:nvSpPr>
          <p:cNvPr id="14" name="Text 12"/>
          <p:cNvSpPr/>
          <p:nvPr/>
        </p:nvSpPr>
        <p:spPr>
          <a:xfrm>
            <a:off x="685800" y="1984248"/>
            <a:ext cx="5166360" cy="10332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How can an artifact make actions governed, executed and VERIFIED to have closed — with reusable learning?</a:t>
            </a:r>
            <a:endParaRPr lang="en-US" sz="1150" dirty="0"/>
          </a:p>
        </p:txBody>
      </p:sp>
      <p:sp>
        <p:nvSpPr>
          <p:cNvPr id="15" name="Shape 13"/>
          <p:cNvSpPr/>
          <p:nvPr/>
        </p:nvSpPr>
        <p:spPr>
          <a:xfrm>
            <a:off x="6172200" y="1600200"/>
            <a:ext cx="5440680" cy="1508760"/>
          </a:xfrm>
          <a:prstGeom prst="roundRect">
            <a:avLst>
              <a:gd name="adj" fmla="val 3636"/>
            </a:avLst>
          </a:prstGeom>
          <a:solidFill>
            <a:srgbClr val="F4F7FC"/>
          </a:solidFill>
          <a:ln w="12700">
            <a:solidFill>
              <a:srgbClr val="CADCFC"/>
            </a:solidFill>
            <a:prstDash val="solid"/>
          </a:ln>
        </p:spPr>
      </p:sp>
      <p:sp>
        <p:nvSpPr>
          <p:cNvPr id="16" name="Text 14"/>
          <p:cNvSpPr/>
          <p:nvPr/>
        </p:nvSpPr>
        <p:spPr>
          <a:xfrm>
            <a:off x="6309360" y="1691640"/>
            <a:ext cx="516636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RQ2 · Governance</a:t>
            </a:r>
            <a:endParaRPr lang="en-US" sz="1350" dirty="0"/>
          </a:p>
        </p:txBody>
      </p:sp>
      <p:sp>
        <p:nvSpPr>
          <p:cNvPr id="17" name="Text 15"/>
          <p:cNvSpPr/>
          <p:nvPr/>
        </p:nvSpPr>
        <p:spPr>
          <a:xfrm>
            <a:off x="6309360" y="1984248"/>
            <a:ext cx="5166360" cy="10332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What design lets autonomous action align with EU AI Act &amp; GDPR without unduly slowing practitioners?</a:t>
            </a:r>
            <a:endParaRPr lang="en-US" sz="1150" dirty="0"/>
          </a:p>
        </p:txBody>
      </p:sp>
      <p:sp>
        <p:nvSpPr>
          <p:cNvPr id="18" name="Shape 16"/>
          <p:cNvSpPr/>
          <p:nvPr/>
        </p:nvSpPr>
        <p:spPr>
          <a:xfrm>
            <a:off x="548640" y="3291840"/>
            <a:ext cx="5440680" cy="1508760"/>
          </a:xfrm>
          <a:prstGeom prst="roundRect">
            <a:avLst>
              <a:gd name="adj" fmla="val 3636"/>
            </a:avLst>
          </a:prstGeom>
          <a:solidFill>
            <a:srgbClr val="F4F7FC"/>
          </a:solidFill>
          <a:ln w="12700">
            <a:solidFill>
              <a:srgbClr val="CADCFC"/>
            </a:solidFill>
            <a:prstDash val="solid"/>
          </a:ln>
        </p:spPr>
      </p:sp>
      <p:sp>
        <p:nvSpPr>
          <p:cNvPr id="19" name="Text 17"/>
          <p:cNvSpPr/>
          <p:nvPr/>
        </p:nvSpPr>
        <p:spPr>
          <a:xfrm>
            <a:off x="685800" y="3383280"/>
            <a:ext cx="516636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RQ3 · Quantitative</a:t>
            </a:r>
            <a:endParaRPr lang="en-US" sz="1350" dirty="0"/>
          </a:p>
        </p:txBody>
      </p:sp>
      <p:sp>
        <p:nvSpPr>
          <p:cNvPr id="20" name="Text 18"/>
          <p:cNvSpPr/>
          <p:nvPr/>
        </p:nvSpPr>
        <p:spPr>
          <a:xfrm>
            <a:off x="685800" y="3675888"/>
            <a:ext cx="5166360" cy="10332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How accurately does AI enrichment/routing reproduce human labels on real feedback, across sectors &amp; languages?</a:t>
            </a:r>
            <a:endParaRPr lang="en-US" sz="1150" dirty="0"/>
          </a:p>
        </p:txBody>
      </p:sp>
      <p:sp>
        <p:nvSpPr>
          <p:cNvPr id="21" name="Shape 19"/>
          <p:cNvSpPr/>
          <p:nvPr/>
        </p:nvSpPr>
        <p:spPr>
          <a:xfrm>
            <a:off x="6172200" y="3291840"/>
            <a:ext cx="5440680" cy="1508760"/>
          </a:xfrm>
          <a:prstGeom prst="roundRect">
            <a:avLst>
              <a:gd name="adj" fmla="val 3636"/>
            </a:avLst>
          </a:prstGeom>
          <a:solidFill>
            <a:srgbClr val="F4F7FC"/>
          </a:solidFill>
          <a:ln w="12700">
            <a:solidFill>
              <a:srgbClr val="CADCFC"/>
            </a:solidFill>
            <a:prstDash val="solid"/>
          </a:ln>
        </p:spPr>
      </p:sp>
      <p:sp>
        <p:nvSpPr>
          <p:cNvPr id="22" name="Text 20"/>
          <p:cNvSpPr/>
          <p:nvPr/>
        </p:nvSpPr>
        <p:spPr>
          <a:xfrm>
            <a:off x="6309360" y="3383280"/>
            <a:ext cx="516636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RQ4 · Qualitative</a:t>
            </a:r>
            <a:endParaRPr lang="en-US" sz="1350" dirty="0"/>
          </a:p>
        </p:txBody>
      </p:sp>
      <p:sp>
        <p:nvSpPr>
          <p:cNvPr id="23" name="Text 21"/>
          <p:cNvSpPr/>
          <p:nvPr/>
        </p:nvSpPr>
        <p:spPr>
          <a:xfrm>
            <a:off x="6309360" y="3675888"/>
            <a:ext cx="5166360" cy="10332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How do practitioners judge usefulness, usability, trustworthiness? (interviews + SUS/TAM — in progress)</a:t>
            </a:r>
            <a:endParaRPr lang="en-US" sz="1150" dirty="0"/>
          </a:p>
        </p:txBody>
      </p:sp>
      <p:sp>
        <p:nvSpPr>
          <p:cNvPr id="24" name="Shape 22"/>
          <p:cNvSpPr/>
          <p:nvPr/>
        </p:nvSpPr>
        <p:spPr>
          <a:xfrm>
            <a:off x="548640" y="5120640"/>
            <a:ext cx="11064240" cy="1143000"/>
          </a:xfrm>
          <a:prstGeom prst="roundRect">
            <a:avLst>
              <a:gd name="adj" fmla="val 4800"/>
            </a:avLst>
          </a:prstGeom>
          <a:solidFill>
            <a:srgbClr val="F4F7FC"/>
          </a:solidFill>
          <a:ln w="12700">
            <a:solidFill>
              <a:srgbClr val="CADCFC"/>
            </a:solidFill>
            <a:prstDash val="solid"/>
          </a:ln>
        </p:spPr>
      </p:sp>
      <p:sp>
        <p:nvSpPr>
          <p:cNvPr id="25" name="Text 23"/>
          <p:cNvSpPr/>
          <p:nvPr/>
        </p:nvSpPr>
        <p:spPr>
          <a:xfrm>
            <a:off x="777240" y="5257800"/>
            <a:ext cx="10607040" cy="914400"/>
          </a:xfrm>
          <a:prstGeom prst="rect">
            <a:avLst/>
          </a:prstGeom>
          <a:noFill/>
          <a:ln/>
        </p:spPr>
        <p:txBody>
          <a:bodyPr wrap="square" lIns="0" tIns="0" rIns="0" bIns="0" rtlCol="0" anchor="ctr"/>
          <a:lstStyle/>
          <a:p>
            <a:pPr indent="0" marL="0">
              <a:buNone/>
            </a:pPr>
            <a:r>
              <a:rPr lang="en-US" sz="1350" dirty="0">
                <a:solidFill>
                  <a:srgbClr val="1A1A2E"/>
                </a:solidFill>
                <a:latin typeface="Calibri" pitchFamily="34" charset="0"/>
                <a:ea typeface="Calibri" pitchFamily="34" charset="-122"/>
                <a:cs typeface="Calibri" pitchFamily="34" charset="-120"/>
              </a:rPr>
              <a:t>Method: problem-centred DSRM — problem → objectives → design &amp; build → demonstrate → evaluate → communicate. Mixed-methods evaluation: a quantitative gold-set on 188 real, multilingual signals + a practitioner study (12–15 interviews, task sessions, SUS/TAM). Design-validity claims, not statistical effects.</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The artifact: a governed loop, end to end</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CLARA — Capture, Listen, Analyze, Respond, Adapt</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1E2761"/>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pic>
        <p:nvPicPr>
          <p:cNvPr id="12" name="Image 0" descr="/Users/olamakri/Documents/CLARA/.claude/worktrees/review-phase-a/thesis/diagrams/rendered/01_architecture_logical.png">    </p:cNvPr>
          <p:cNvPicPr>
            <a:picLocks noChangeAspect="1"/>
          </p:cNvPicPr>
          <p:nvPr/>
        </p:nvPicPr>
        <p:blipFill>
          <a:blip r:embed="rId1"/>
          <a:stretch>
            <a:fillRect/>
          </a:stretch>
        </p:blipFill>
        <p:spPr>
          <a:xfrm>
            <a:off x="548640" y="1554480"/>
            <a:ext cx="11064240" cy="3886200"/>
          </a:xfrm>
          <a:prstGeom prst="rect">
            <a:avLst/>
          </a:prstGeom>
        </p:spPr>
      </p:pic>
      <p:sp>
        <p:nvSpPr>
          <p:cNvPr id="13" name="Text 10"/>
          <p:cNvSpPr/>
          <p:nvPr/>
        </p:nvSpPr>
        <p:spPr>
          <a:xfrm>
            <a:off x="548640" y="5623560"/>
            <a:ext cx="11064240" cy="77724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Deterministic code owns validation, conflict resolution, execution, audit. Language-model reasoning is confined to named, bounded stages. The points where the system can act are finite, named, individually auditable — that is what makes it governable.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Five design decisions the literature doesn't resolve</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Each implemented, grounded, and stated with its cost</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1E2761"/>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sp>
        <p:nvSpPr>
          <p:cNvPr id="12" name="Shape 10"/>
          <p:cNvSpPr/>
          <p:nvPr/>
        </p:nvSpPr>
        <p:spPr>
          <a:xfrm>
            <a:off x="548640" y="1600200"/>
            <a:ext cx="3593592" cy="1965960"/>
          </a:xfrm>
          <a:prstGeom prst="roundRect">
            <a:avLst>
              <a:gd name="adj" fmla="val 2791"/>
            </a:avLst>
          </a:prstGeom>
          <a:solidFill>
            <a:srgbClr val="F4F7FC"/>
          </a:solidFill>
          <a:ln w="12700">
            <a:solidFill>
              <a:srgbClr val="CADCFC"/>
            </a:solidFill>
            <a:prstDash val="solid"/>
          </a:ln>
        </p:spPr>
      </p:sp>
      <p:sp>
        <p:nvSpPr>
          <p:cNvPr id="13" name="Text 11"/>
          <p:cNvSpPr/>
          <p:nvPr/>
        </p:nvSpPr>
        <p:spPr>
          <a:xfrm>
            <a:off x="685800" y="1691640"/>
            <a:ext cx="3319272"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1 · Rule conflict resolution</a:t>
            </a:r>
            <a:endParaRPr lang="en-US" sz="1350" dirty="0"/>
          </a:p>
        </p:txBody>
      </p:sp>
      <p:sp>
        <p:nvSpPr>
          <p:cNvPr id="14" name="Text 12"/>
          <p:cNvSpPr/>
          <p:nvPr/>
        </p:nvSpPr>
        <p:spPr>
          <a:xfrm>
            <a:off x="685800" y="1984248"/>
            <a:ext cx="3319272" cy="14904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Priority → specificity → action-type dedupe; superseded rules logged. Cost: config debt — entrenches a wrong rule as faithfully as a right one.</a:t>
            </a:r>
            <a:endParaRPr lang="en-US" sz="1150" dirty="0"/>
          </a:p>
        </p:txBody>
      </p:sp>
      <p:sp>
        <p:nvSpPr>
          <p:cNvPr id="15" name="Shape 13"/>
          <p:cNvSpPr/>
          <p:nvPr/>
        </p:nvSpPr>
        <p:spPr>
          <a:xfrm>
            <a:off x="4325112" y="1600200"/>
            <a:ext cx="3593592" cy="1965960"/>
          </a:xfrm>
          <a:prstGeom prst="roundRect">
            <a:avLst>
              <a:gd name="adj" fmla="val 2791"/>
            </a:avLst>
          </a:prstGeom>
          <a:solidFill>
            <a:srgbClr val="F4F7FC"/>
          </a:solidFill>
          <a:ln w="12700">
            <a:solidFill>
              <a:srgbClr val="CADCFC"/>
            </a:solidFill>
            <a:prstDash val="solid"/>
          </a:ln>
        </p:spPr>
      </p:sp>
      <p:sp>
        <p:nvSpPr>
          <p:cNvPr id="16" name="Text 14"/>
          <p:cNvSpPr/>
          <p:nvPr/>
        </p:nvSpPr>
        <p:spPr>
          <a:xfrm>
            <a:off x="4462272" y="1691640"/>
            <a:ext cx="3319272"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2 · Confidence decay in learnings</a:t>
            </a:r>
            <a:endParaRPr lang="en-US" sz="1350" dirty="0"/>
          </a:p>
        </p:txBody>
      </p:sp>
      <p:sp>
        <p:nvSpPr>
          <p:cNvPr id="17" name="Text 15"/>
          <p:cNvSpPr/>
          <p:nvPr/>
        </p:nvSpPr>
        <p:spPr>
          <a:xfrm>
            <a:off x="4462272" y="1984248"/>
            <a:ext cx="3319272" cy="14904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Memory as perishable: base × 0.5^(age/half-life). Prior art bounded: MemoryBank decays chat memory; ours decays ACTION-OUTCOME evidence. Cost: the half-life is a guess.</a:t>
            </a:r>
            <a:endParaRPr lang="en-US" sz="1150" dirty="0"/>
          </a:p>
        </p:txBody>
      </p:sp>
      <p:sp>
        <p:nvSpPr>
          <p:cNvPr id="18" name="Shape 16"/>
          <p:cNvSpPr/>
          <p:nvPr/>
        </p:nvSpPr>
        <p:spPr>
          <a:xfrm>
            <a:off x="8101584" y="1600200"/>
            <a:ext cx="3593592" cy="1965960"/>
          </a:xfrm>
          <a:prstGeom prst="roundRect">
            <a:avLst>
              <a:gd name="adj" fmla="val 2791"/>
            </a:avLst>
          </a:prstGeom>
          <a:solidFill>
            <a:srgbClr val="F4F7FC"/>
          </a:solidFill>
          <a:ln w="12700">
            <a:solidFill>
              <a:srgbClr val="CADCFC"/>
            </a:solidFill>
            <a:prstDash val="solid"/>
          </a:ln>
        </p:spPr>
      </p:sp>
      <p:sp>
        <p:nvSpPr>
          <p:cNvPr id="19" name="Text 17"/>
          <p:cNvSpPr/>
          <p:nvPr/>
        </p:nvSpPr>
        <p:spPr>
          <a:xfrm>
            <a:off x="8238744" y="1691640"/>
            <a:ext cx="3319272"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3 · Cross-signal severity</a:t>
            </a:r>
            <a:endParaRPr lang="en-US" sz="1350" dirty="0"/>
          </a:p>
        </p:txBody>
      </p:sp>
      <p:sp>
        <p:nvSpPr>
          <p:cNvPr id="20" name="Text 18"/>
          <p:cNvSpPr/>
          <p:nvPr/>
        </p:nvSpPr>
        <p:spPr>
          <a:xfrm>
            <a:off x="8238744" y="1984248"/>
            <a:ext cx="3319272" cy="14904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Severity from the corroborating SET (urgency, volume, sentiment), not the loudest voice. Cost: can bury the rare catastrophic single signal — needs an override.</a:t>
            </a:r>
            <a:endParaRPr lang="en-US" sz="1150" dirty="0"/>
          </a:p>
        </p:txBody>
      </p:sp>
      <p:sp>
        <p:nvSpPr>
          <p:cNvPr id="21" name="Shape 19"/>
          <p:cNvSpPr/>
          <p:nvPr/>
        </p:nvSpPr>
        <p:spPr>
          <a:xfrm>
            <a:off x="548640" y="3749040"/>
            <a:ext cx="3593592" cy="1965960"/>
          </a:xfrm>
          <a:prstGeom prst="roundRect">
            <a:avLst>
              <a:gd name="adj" fmla="val 2791"/>
            </a:avLst>
          </a:prstGeom>
          <a:solidFill>
            <a:srgbClr val="F4F7FC"/>
          </a:solidFill>
          <a:ln w="12700">
            <a:solidFill>
              <a:srgbClr val="CADCFC"/>
            </a:solidFill>
            <a:prstDash val="solid"/>
          </a:ln>
        </p:spPr>
      </p:sp>
      <p:sp>
        <p:nvSpPr>
          <p:cNvPr id="22" name="Text 20"/>
          <p:cNvSpPr/>
          <p:nvPr/>
        </p:nvSpPr>
        <p:spPr>
          <a:xfrm>
            <a:off x="685800" y="3840480"/>
            <a:ext cx="3319272"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4 · Past-learnings retrieval</a:t>
            </a:r>
            <a:endParaRPr lang="en-US" sz="1350" dirty="0"/>
          </a:p>
        </p:txBody>
      </p:sp>
      <p:sp>
        <p:nvSpPr>
          <p:cNvPr id="23" name="Text 21"/>
          <p:cNvSpPr/>
          <p:nvPr/>
        </p:nvSpPr>
        <p:spPr>
          <a:xfrm>
            <a:off x="685800" y="4133088"/>
            <a:ext cx="3319272" cy="14904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Decayed-confidence retrieval into new decisions (CBR lineage). Cost: retrieval quality gates usefulness.</a:t>
            </a:r>
            <a:endParaRPr lang="en-US" sz="1150" dirty="0"/>
          </a:p>
        </p:txBody>
      </p:sp>
      <p:sp>
        <p:nvSpPr>
          <p:cNvPr id="24" name="Shape 22"/>
          <p:cNvSpPr/>
          <p:nvPr/>
        </p:nvSpPr>
        <p:spPr>
          <a:xfrm>
            <a:off x="4325112" y="3749040"/>
            <a:ext cx="3593592" cy="1965960"/>
          </a:xfrm>
          <a:prstGeom prst="roundRect">
            <a:avLst>
              <a:gd name="adj" fmla="val 2791"/>
            </a:avLst>
          </a:prstGeom>
          <a:solidFill>
            <a:srgbClr val="F4F7FC"/>
          </a:solidFill>
          <a:ln w="12700">
            <a:solidFill>
              <a:srgbClr val="CADCFC"/>
            </a:solidFill>
            <a:prstDash val="solid"/>
          </a:ln>
        </p:spPr>
      </p:sp>
      <p:sp>
        <p:nvSpPr>
          <p:cNvPr id="25" name="Text 23"/>
          <p:cNvSpPr/>
          <p:nvPr/>
        </p:nvSpPr>
        <p:spPr>
          <a:xfrm>
            <a:off x="4462272" y="3840480"/>
            <a:ext cx="3319272"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5 · Per-industry profiles</a:t>
            </a:r>
            <a:endParaRPr lang="en-US" sz="1350" dirty="0"/>
          </a:p>
        </p:txBody>
      </p:sp>
      <p:sp>
        <p:nvSpPr>
          <p:cNvPr id="26" name="Text 24"/>
          <p:cNvSpPr/>
          <p:nvPr/>
        </p:nvSpPr>
        <p:spPr>
          <a:xfrm>
            <a:off x="4462272" y="4133088"/>
            <a:ext cx="3319272" cy="14904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Adaptation by configuration, not fine-tuning: weight overlays per sector. Cost: authored priors can encode stereotypes; inspectability is the safeguard.</a:t>
            </a:r>
            <a:endParaRPr lang="en-US" sz="1150" dirty="0"/>
          </a:p>
        </p:txBody>
      </p:sp>
      <p:sp>
        <p:nvSpPr>
          <p:cNvPr id="27" name="Shape 25"/>
          <p:cNvSpPr/>
          <p:nvPr/>
        </p:nvSpPr>
        <p:spPr>
          <a:xfrm>
            <a:off x="8101584" y="3749040"/>
            <a:ext cx="3538728" cy="1965960"/>
          </a:xfrm>
          <a:prstGeom prst="roundRect">
            <a:avLst>
              <a:gd name="adj" fmla="val 2791"/>
            </a:avLst>
          </a:prstGeom>
          <a:solidFill>
            <a:srgbClr val="1E2761"/>
          </a:solidFill>
          <a:ln/>
        </p:spPr>
      </p:sp>
      <p:sp>
        <p:nvSpPr>
          <p:cNvPr id="28" name="Text 26"/>
          <p:cNvSpPr/>
          <p:nvPr/>
        </p:nvSpPr>
        <p:spPr>
          <a:xfrm>
            <a:off x="8275320" y="3886200"/>
            <a:ext cx="3200400" cy="320040"/>
          </a:xfrm>
          <a:prstGeom prst="rect">
            <a:avLst/>
          </a:prstGeom>
          <a:noFill/>
          <a:ln/>
        </p:spPr>
        <p:txBody>
          <a:bodyPr wrap="square" lIns="0" tIns="0" rIns="0" bIns="0" rtlCol="0" anchor="ctr"/>
          <a:lstStyle/>
          <a:p>
            <a:pPr indent="0" marL="0">
              <a:buNone/>
            </a:pPr>
            <a:r>
              <a:rPr lang="en-US" sz="1300" b="1" dirty="0">
                <a:solidFill>
                  <a:srgbClr val="CADCFC"/>
                </a:solidFill>
                <a:latin typeface="Calibri" pitchFamily="34" charset="0"/>
                <a:ea typeface="Calibri" pitchFamily="34" charset="-122"/>
                <a:cs typeface="Calibri" pitchFamily="34" charset="-120"/>
              </a:rPr>
              <a:t>Why costs?</a:t>
            </a:r>
            <a:endParaRPr lang="en-US" sz="1300" dirty="0"/>
          </a:p>
        </p:txBody>
      </p:sp>
      <p:sp>
        <p:nvSpPr>
          <p:cNvPr id="29" name="Text 27"/>
          <p:cNvSpPr/>
          <p:nvPr/>
        </p:nvSpPr>
        <p:spPr>
          <a:xfrm>
            <a:off x="8275320" y="4224528"/>
            <a:ext cx="3200400" cy="13716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A design principle that buys something for nothing is a platitude. Stating the cost is what makes each decision defensible.</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Responsible AI as a property of the loop</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Not a compliance module — the loop itself is the control surface</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1E2761"/>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sp>
        <p:nvSpPr>
          <p:cNvPr id="12" name="Shape 10"/>
          <p:cNvSpPr/>
          <p:nvPr/>
        </p:nvSpPr>
        <p:spPr>
          <a:xfrm>
            <a:off x="548640" y="1600200"/>
            <a:ext cx="5440680" cy="1965960"/>
          </a:xfrm>
          <a:prstGeom prst="roundRect">
            <a:avLst>
              <a:gd name="adj" fmla="val 2791"/>
            </a:avLst>
          </a:prstGeom>
          <a:solidFill>
            <a:srgbClr val="F4F7FC"/>
          </a:solidFill>
          <a:ln w="12700">
            <a:solidFill>
              <a:srgbClr val="CADCFC"/>
            </a:solidFill>
            <a:prstDash val="solid"/>
          </a:ln>
        </p:spPr>
      </p:sp>
      <p:sp>
        <p:nvSpPr>
          <p:cNvPr id="13" name="Text 11"/>
          <p:cNvSpPr/>
          <p:nvPr/>
        </p:nvSpPr>
        <p:spPr>
          <a:xfrm>
            <a:off x="685800" y="1691640"/>
            <a:ext cx="516636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Human approval · Art 14+</a:t>
            </a:r>
            <a:endParaRPr lang="en-US" sz="1350" dirty="0"/>
          </a:p>
        </p:txBody>
      </p:sp>
      <p:sp>
        <p:nvSpPr>
          <p:cNvPr id="14" name="Text 12"/>
          <p:cNvSpPr/>
          <p:nvPr/>
        </p:nvSpPr>
        <p:spPr>
          <a:xfrm>
            <a:off x="685800" y="1984248"/>
            <a:ext cx="5166360" cy="14904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auto_execute=false ⇒ pending approval. Designed BEYOND Art 14: friction, evidence &amp; confidence shown, per-decision attribution (meaningful human control — Siebert 2023; automation-bias critique — Laux &amp; Ruschemeier 2025).</a:t>
            </a:r>
            <a:endParaRPr lang="en-US" sz="1150" dirty="0"/>
          </a:p>
        </p:txBody>
      </p:sp>
      <p:sp>
        <p:nvSpPr>
          <p:cNvPr id="15" name="Shape 13"/>
          <p:cNvSpPr/>
          <p:nvPr/>
        </p:nvSpPr>
        <p:spPr>
          <a:xfrm>
            <a:off x="6172200" y="1600200"/>
            <a:ext cx="5440680" cy="1965960"/>
          </a:xfrm>
          <a:prstGeom prst="roundRect">
            <a:avLst>
              <a:gd name="adj" fmla="val 2791"/>
            </a:avLst>
          </a:prstGeom>
          <a:solidFill>
            <a:srgbClr val="F4F7FC"/>
          </a:solidFill>
          <a:ln w="12700">
            <a:solidFill>
              <a:srgbClr val="CADCFC"/>
            </a:solidFill>
            <a:prstDash val="solid"/>
          </a:ln>
        </p:spPr>
      </p:sp>
      <p:sp>
        <p:nvSpPr>
          <p:cNvPr id="16" name="Text 14"/>
          <p:cNvSpPr/>
          <p:nvPr/>
        </p:nvSpPr>
        <p:spPr>
          <a:xfrm>
            <a:off x="6309360" y="1691640"/>
            <a:ext cx="516636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Audit trail · Art 12</a:t>
            </a:r>
            <a:endParaRPr lang="en-US" sz="1350" dirty="0"/>
          </a:p>
        </p:txBody>
      </p:sp>
      <p:sp>
        <p:nvSpPr>
          <p:cNvPr id="17" name="Text 15"/>
          <p:cNvSpPr/>
          <p:nvPr/>
        </p:nvSpPr>
        <p:spPr>
          <a:xfrm>
            <a:off x="6309360" y="1984248"/>
            <a:ext cx="5166360" cy="14904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Every action: rule, params, executor, result. Review-then-harden finding: declared controls ≠ enforced controls until adversarially verified.</a:t>
            </a:r>
            <a:endParaRPr lang="en-US" sz="1150" dirty="0"/>
          </a:p>
        </p:txBody>
      </p:sp>
      <p:sp>
        <p:nvSpPr>
          <p:cNvPr id="18" name="Shape 16"/>
          <p:cNvSpPr/>
          <p:nvPr/>
        </p:nvSpPr>
        <p:spPr>
          <a:xfrm>
            <a:off x="548640" y="3749040"/>
            <a:ext cx="5440680" cy="1965960"/>
          </a:xfrm>
          <a:prstGeom prst="roundRect">
            <a:avLst>
              <a:gd name="adj" fmla="val 2791"/>
            </a:avLst>
          </a:prstGeom>
          <a:solidFill>
            <a:srgbClr val="F4F7FC"/>
          </a:solidFill>
          <a:ln w="12700">
            <a:solidFill>
              <a:srgbClr val="CADCFC"/>
            </a:solidFill>
            <a:prstDash val="solid"/>
          </a:ln>
        </p:spPr>
      </p:sp>
      <p:sp>
        <p:nvSpPr>
          <p:cNvPr id="19" name="Text 17"/>
          <p:cNvSpPr/>
          <p:nvPr/>
        </p:nvSpPr>
        <p:spPr>
          <a:xfrm>
            <a:off x="685800" y="3840480"/>
            <a:ext cx="516636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Transparency · Art 50</a:t>
            </a:r>
            <a:endParaRPr lang="en-US" sz="1350" dirty="0"/>
          </a:p>
        </p:txBody>
      </p:sp>
      <p:sp>
        <p:nvSpPr>
          <p:cNvPr id="20" name="Text 18"/>
          <p:cNvSpPr/>
          <p:nvPr/>
        </p:nvSpPr>
        <p:spPr>
          <a:xfrm>
            <a:off x="685800" y="4133088"/>
            <a:ext cx="5166360" cy="14904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AI outputs labelled with provenance. Human editorial review = the Art 50(4) exemption mechanism — the approval gate IS the compliance artifact.</a:t>
            </a:r>
            <a:endParaRPr lang="en-US" sz="1150" dirty="0"/>
          </a:p>
        </p:txBody>
      </p:sp>
      <p:sp>
        <p:nvSpPr>
          <p:cNvPr id="21" name="Shape 19"/>
          <p:cNvSpPr/>
          <p:nvPr/>
        </p:nvSpPr>
        <p:spPr>
          <a:xfrm>
            <a:off x="6172200" y="3749040"/>
            <a:ext cx="5440680" cy="1965960"/>
          </a:xfrm>
          <a:prstGeom prst="roundRect">
            <a:avLst>
              <a:gd name="adj" fmla="val 2791"/>
            </a:avLst>
          </a:prstGeom>
          <a:solidFill>
            <a:srgbClr val="F4F7FC"/>
          </a:solidFill>
          <a:ln w="12700">
            <a:solidFill>
              <a:srgbClr val="CADCFC"/>
            </a:solidFill>
            <a:prstDash val="solid"/>
          </a:ln>
        </p:spPr>
      </p:sp>
      <p:sp>
        <p:nvSpPr>
          <p:cNvPr id="22" name="Text 20"/>
          <p:cNvSpPr/>
          <p:nvPr/>
        </p:nvSpPr>
        <p:spPr>
          <a:xfrm>
            <a:off x="6309360" y="3840480"/>
            <a:ext cx="516636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Sovereignty &amp; GDPR</a:t>
            </a:r>
            <a:endParaRPr lang="en-US" sz="1350" dirty="0"/>
          </a:p>
        </p:txBody>
      </p:sp>
      <p:sp>
        <p:nvSpPr>
          <p:cNvPr id="23" name="Text 21"/>
          <p:cNvSpPr/>
          <p:nvPr/>
        </p:nvSpPr>
        <p:spPr>
          <a:xfrm>
            <a:off x="6309360" y="4133088"/>
            <a:ext cx="5166360" cy="14904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Provider-agnostic LLM — self-hostable, EU-resident. PII masking, retention limits, workspace RLS. Sentiment on text is NOT 'emotion recognition' (Art 3(39): biometric only).</a:t>
            </a:r>
            <a:endParaRPr lang="en-US" sz="1150" dirty="0"/>
          </a:p>
        </p:txBody>
      </p:sp>
      <p:sp>
        <p:nvSpPr>
          <p:cNvPr id="24" name="Text 22"/>
          <p:cNvSpPr/>
          <p:nvPr/>
        </p:nvSpPr>
        <p:spPr>
          <a:xfrm>
            <a:off x="548640" y="5897880"/>
            <a:ext cx="11064240" cy="548640"/>
          </a:xfrm>
          <a:prstGeom prst="rect">
            <a:avLst/>
          </a:prstGeom>
          <a:noFill/>
          <a:ln/>
        </p:spPr>
        <p:txBody>
          <a:bodyPr wrap="square"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Measured closure has three levels: operational (ticket done) → customer (reporter notified) → outcome (metric moved). "Closed" means the third.</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Evaluation: two independent streams</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Objective accuracy × practitioner judgement — neither alone suffices</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CADCFC"/>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1E2761"/>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t>
            </a:r>
            <a:endParaRPr lang="en-US" sz="1100" dirty="0"/>
          </a:p>
        </p:txBody>
      </p:sp>
      <p:pic>
        <p:nvPicPr>
          <p:cNvPr id="12" name="Image 0" descr="/Users/olamakri/Documents/CLARA/.claude/worktrees/review-phase-a/thesis/diagrams/rendered/07_evaluation_pipeline.png">    </p:cNvPr>
          <p:cNvPicPr>
            <a:picLocks noChangeAspect="1"/>
          </p:cNvPicPr>
          <p:nvPr/>
        </p:nvPicPr>
        <p:blipFill>
          <a:blip r:embed="rId1"/>
          <a:stretch>
            <a:fillRect/>
          </a:stretch>
        </p:blipFill>
        <p:spPr>
          <a:xfrm>
            <a:off x="548640" y="1600200"/>
            <a:ext cx="9509760" cy="3703320"/>
          </a:xfrm>
          <a:prstGeom prst="rect">
            <a:avLst/>
          </a:prstGeom>
        </p:spPr>
      </p:pic>
      <p:sp>
        <p:nvSpPr>
          <p:cNvPr id="13" name="Text 10"/>
          <p:cNvSpPr/>
          <p:nvPr/>
        </p:nvSpPr>
        <p:spPr>
          <a:xfrm>
            <a:off x="548640" y="5486400"/>
            <a:ext cx="11064240" cy="777240"/>
          </a:xfrm>
          <a:prstGeom prst="rect">
            <a:avLst/>
          </a:prstGeom>
          <a:noFill/>
          <a:ln/>
        </p:spPr>
        <p:txBody>
          <a:bodyPr wrap="square" rtlCol="0" anchor="ctr"/>
          <a:lstStyle/>
          <a:p>
            <a:pPr indent="0" marL="0">
              <a:buNone/>
            </a:pPr>
            <a:r>
              <a:rPr lang="en-US" sz="1350" dirty="0">
                <a:solidFill>
                  <a:srgbClr val="5A6478"/>
                </a:solidFill>
                <a:latin typeface="Calibri" pitchFamily="34" charset="0"/>
                <a:ea typeface="Calibri" pitchFamily="34" charset="-122"/>
                <a:cs typeface="Calibri" pitchFamily="34" charset="-120"/>
              </a:rPr>
              <a:t>188 real, public, paraphrased signals · 3 sectors (fintech / food delivery / B2B industrial) · EN+DE · human seed labels, authored independently of the artifact. Plus: the artifact's own committed in-repo evaluation (80-case bilingual golden set — 60 EN / 20 DE, live LLM) as convergent evidence.</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Result 1: triage accuracy is method-dependent</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Naive methods fail on real multilingual feedback; learned models are necessary</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CADCFC"/>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1E2761"/>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675120" cy="914400"/>
        </p:xfrm>
        <a:graphic>
          <a:graphicData uri="http://schemas.openxmlformats.org/drawingml/2006/table">
            <a:tbl>
              <a:tblPr/>
              <a:tblGrid>
                <a:gridCol w="3108960"/>
                <a:gridCol w="1783080"/>
                <a:gridCol w="178308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Predictor</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Sentiment acc (n=153)</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Risk macro-F1 (n=106)</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Lexicon / keyword floor</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0.37</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0.26</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TF-IDF + LogReg (5-fold CV)</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0.78</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0.65</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LLM path (in-repo, 80-case bilingual golden set)</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0.975 (sentiment)</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0.863 (urgency)</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13" name="Text 10"/>
          <p:cNvSpPr/>
          <p:nvPr/>
        </p:nvSpPr>
        <p:spPr>
          <a:xfrm>
            <a:off x="548640" y="3794760"/>
            <a:ext cx="6675120" cy="1005840"/>
          </a:xfrm>
          <a:prstGeom prst="rect">
            <a:avLst/>
          </a:prstGeom>
          <a:noFill/>
          <a:ln/>
        </p:spPr>
        <p:txBody>
          <a:bodyPr wrap="square" rtlCol="0" anchor="ctr"/>
          <a:lstStyle/>
          <a:p>
            <a:pPr indent="0" marL="0">
              <a:buNone/>
            </a:pPr>
            <a:r>
              <a:rPr lang="en-US" sz="1300" dirty="0">
                <a:solidFill>
                  <a:srgbClr val="1A1A2E"/>
                </a:solidFill>
                <a:latin typeface="Calibri" pitchFamily="34" charset="0"/>
                <a:ea typeface="Calibri" pitchFamily="34" charset="-122"/>
                <a:cs typeface="Calibri" pitchFamily="34" charset="-120"/>
              </a:rPr>
              <a:t>Why the floor fails: paraphrased operational complaints ("transaction history cannot be exported…") carry no sentiment words — 58 of 94 negatives misread as neutral. Substantive finding, not a strawman.</a:t>
            </a:r>
            <a:endParaRPr lang="en-US" sz="1300" dirty="0"/>
          </a:p>
        </p:txBody>
      </p:sp>
      <p:sp>
        <p:nvSpPr>
          <p:cNvPr id="14" name="Text 11"/>
          <p:cNvSpPr/>
          <p:nvPr/>
        </p:nvSpPr>
        <p:spPr>
          <a:xfrm>
            <a:off x="548640" y="4846320"/>
            <a:ext cx="6675120" cy="1234440"/>
          </a:xfrm>
          <a:prstGeom prst="rect">
            <a:avLst/>
          </a:prstGeom>
          <a:noFill/>
          <a:ln/>
        </p:spPr>
        <p:txBody>
          <a:bodyPr wrap="square" rtlCol="0" anchor="ctr"/>
          <a:lstStyle/>
          <a:p>
            <a:pPr indent="0" marL="0">
              <a:buNone/>
            </a:pPr>
            <a:r>
              <a:rPr lang="en-US" sz="1300" dirty="0">
                <a:solidFill>
                  <a:srgbClr val="1E2761"/>
                </a:solidFill>
                <a:latin typeface="Calibri" pitchFamily="34" charset="0"/>
                <a:ea typeface="Calibri" pitchFamily="34" charset="-122"/>
                <a:cs typeface="Calibri" pitchFamily="34" charset="-120"/>
              </a:rPr>
              <a:t>Convergent in-repo run (CLARA, GLM-5.2, 17 Jul 2026, n=80 incl. 20 DE): sentiment 97.5% (CI 94–100) · urgency 86.3% (CI 79–94) · tag F1 80.2% by meaning vs 55.5% exact-string — semantic scoring vindicated; DE within 1.7pp of EN on urgency. Real-data star-proxy: ≈90% across all three sectors, zero fine-tuning.</a:t>
            </a:r>
            <a:endParaRPr lang="en-US" sz="1300" dirty="0"/>
          </a:p>
        </p:txBody>
      </p:sp>
      <p:pic>
        <p:nvPicPr>
          <p:cNvPr id="15" name="Image 0" descr="/Users/olamakri/Documents/CLARA/.claude/worktrees/review-phase-a/thesis/evaluation/results/risk_confusion.png">    </p:cNvPr>
          <p:cNvPicPr>
            <a:picLocks noChangeAspect="1"/>
          </p:cNvPicPr>
          <p:nvPr/>
        </p:nvPicPr>
        <p:blipFill>
          <a:blip r:embed="rId1"/>
          <a:stretch>
            <a:fillRect/>
          </a:stretch>
        </p:blipFill>
        <p:spPr>
          <a:xfrm>
            <a:off x="7635240" y="1645920"/>
            <a:ext cx="3931920" cy="3493008"/>
          </a:xfrm>
          <a:prstGeom prst="rect">
            <a:avLst/>
          </a:prstGeom>
        </p:spPr>
      </p:pic>
      <p:sp>
        <p:nvSpPr>
          <p:cNvPr id="16" name="Text 12"/>
          <p:cNvSpPr/>
          <p:nvPr/>
        </p:nvSpPr>
        <p:spPr>
          <a:xfrm>
            <a:off x="7635240" y="5257800"/>
            <a:ext cx="3931920" cy="731520"/>
          </a:xfrm>
          <a:prstGeom prst="rect">
            <a:avLst/>
          </a:prstGeom>
          <a:noFill/>
          <a:ln/>
        </p:spPr>
        <p:txBody>
          <a:bodyPr wrap="square" rtlCol="0" anchor="ctr"/>
          <a:lstStyle/>
          <a:p>
            <a:pPr indent="0" marL="0">
              <a:buNone/>
            </a:pPr>
            <a:r>
              <a:rPr lang="en-US" sz="1150" i="1" dirty="0">
                <a:solidFill>
                  <a:srgbClr val="5A6478"/>
                </a:solidFill>
                <a:latin typeface="Calibri" pitchFamily="34" charset="0"/>
                <a:ea typeface="Calibri" pitchFamily="34" charset="-122"/>
                <a:cs typeface="Calibri" pitchFamily="34" charset="-120"/>
              </a:rPr>
              <a:t>Keyword floor collapses risk to "low" — 19 of 27 critical signals missed.</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Result 2: the memory steers, honestly bounded</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The perishable-learning mechanism, instrumented</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CADCFC"/>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1E2761"/>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t>
            </a:r>
            <a:endParaRPr lang="en-US" sz="1100" dirty="0"/>
          </a:p>
        </p:txBody>
      </p:sp>
      <p:sp>
        <p:nvSpPr>
          <p:cNvPr id="12" name="Text 10"/>
          <p:cNvSpPr/>
          <p:nvPr/>
        </p:nvSpPr>
        <p:spPr>
          <a:xfrm>
            <a:off x="731520" y="2011680"/>
            <a:ext cx="3291840" cy="822960"/>
          </a:xfrm>
          <a:prstGeom prst="rect">
            <a:avLst/>
          </a:prstGeom>
          <a:noFill/>
          <a:ln/>
        </p:spPr>
        <p:txBody>
          <a:bodyPr wrap="square" lIns="0" tIns="0" rIns="0" bIns="0" rtlCol="0" anchor="ctr"/>
          <a:lstStyle/>
          <a:p>
            <a:pPr algn="ctr" indent="0" marL="0">
              <a:buNone/>
            </a:pPr>
            <a:r>
              <a:rPr lang="en-US" sz="5400" b="1" dirty="0">
                <a:solidFill>
                  <a:srgbClr val="1E2761"/>
                </a:solidFill>
                <a:latin typeface="Cambria" pitchFamily="34" charset="0"/>
                <a:ea typeface="Cambria" pitchFamily="34" charset="-122"/>
                <a:cs typeface="Cambria" pitchFamily="34" charset="-120"/>
              </a:rPr>
              <a:t>21% → 71%</a:t>
            </a:r>
            <a:endParaRPr lang="en-US" sz="5400" dirty="0"/>
          </a:p>
        </p:txBody>
      </p:sp>
      <p:sp>
        <p:nvSpPr>
          <p:cNvPr id="13" name="Text 11"/>
          <p:cNvSpPr/>
          <p:nvPr/>
        </p:nvSpPr>
        <p:spPr>
          <a:xfrm>
            <a:off x="731520" y="2852928"/>
            <a:ext cx="3291840" cy="594360"/>
          </a:xfrm>
          <a:prstGeom prst="rect">
            <a:avLst/>
          </a:prstGeom>
          <a:noFill/>
          <a:ln/>
        </p:spPr>
        <p:txBody>
          <a:bodyPr wrap="square" lIns="0" tIns="0" rIns="0" bIns="0" rtlCol="0" anchor="ctr"/>
          <a:lstStyle/>
          <a:p>
            <a:pPr algn="ctr" indent="0" marL="0">
              <a:buNone/>
            </a:pPr>
            <a:r>
              <a:rPr lang="en-US" sz="1250" dirty="0">
                <a:solidFill>
                  <a:srgbClr val="5A6478"/>
                </a:solidFill>
                <a:latin typeface="Calibri" pitchFamily="34" charset="0"/>
                <a:ea typeface="Calibri" pitchFamily="34" charset="-122"/>
                <a:cs typeface="Calibri" pitchFamily="34" charset="-120"/>
              </a:rPr>
              <a:t>share of a past remedy appearing in the new recommendation when retrieval is ON (66.7% adoption)</a:t>
            </a:r>
            <a:endParaRPr lang="en-US" sz="1250" dirty="0"/>
          </a:p>
        </p:txBody>
      </p:sp>
      <p:sp>
        <p:nvSpPr>
          <p:cNvPr id="14" name="Text 12"/>
          <p:cNvSpPr/>
          <p:nvPr/>
        </p:nvSpPr>
        <p:spPr>
          <a:xfrm>
            <a:off x="4434840" y="2011680"/>
            <a:ext cx="3291840" cy="822960"/>
          </a:xfrm>
          <a:prstGeom prst="rect">
            <a:avLst/>
          </a:prstGeom>
          <a:noFill/>
          <a:ln/>
        </p:spPr>
        <p:txBody>
          <a:bodyPr wrap="square" lIns="0" tIns="0" rIns="0" bIns="0" rtlCol="0" anchor="ctr"/>
          <a:lstStyle/>
          <a:p>
            <a:pPr algn="ctr" indent="0" marL="0">
              <a:buNone/>
            </a:pPr>
            <a:r>
              <a:rPr lang="en-US" sz="5400" b="1" dirty="0">
                <a:solidFill>
                  <a:srgbClr val="2C5F2D"/>
                </a:solidFill>
                <a:latin typeface="Cambria" pitchFamily="34" charset="0"/>
                <a:ea typeface="Cambria" pitchFamily="34" charset="-122"/>
                <a:cs typeface="Cambria" pitchFamily="34" charset="-120"/>
              </a:rPr>
              <a:t>0.503</a:t>
            </a:r>
            <a:endParaRPr lang="en-US" sz="5400" dirty="0"/>
          </a:p>
        </p:txBody>
      </p:sp>
      <p:sp>
        <p:nvSpPr>
          <p:cNvPr id="15" name="Text 13"/>
          <p:cNvSpPr/>
          <p:nvPr/>
        </p:nvSpPr>
        <p:spPr>
          <a:xfrm>
            <a:off x="4434840" y="2852928"/>
            <a:ext cx="3291840" cy="594360"/>
          </a:xfrm>
          <a:prstGeom prst="rect">
            <a:avLst/>
          </a:prstGeom>
          <a:noFill/>
          <a:ln/>
        </p:spPr>
        <p:txBody>
          <a:bodyPr wrap="square" lIns="0" tIns="0" rIns="0" bIns="0" rtlCol="0" anchor="ctr"/>
          <a:lstStyle/>
          <a:p>
            <a:pPr algn="ctr" indent="0" marL="0">
              <a:buNone/>
            </a:pPr>
            <a:r>
              <a:rPr lang="en-US" sz="1250" dirty="0">
                <a:solidFill>
                  <a:srgbClr val="5A6478"/>
                </a:solidFill>
                <a:latin typeface="Calibri" pitchFamily="34" charset="0"/>
                <a:ea typeface="Calibri" pitchFamily="34" charset="-122"/>
                <a:cs typeface="Calibri" pitchFamily="34" charset="-120"/>
              </a:rPr>
              <a:t>alignment lift vs a same-run noise floor that absorbs model jitter</a:t>
            </a:r>
            <a:endParaRPr lang="en-US" sz="1250" dirty="0"/>
          </a:p>
        </p:txBody>
      </p:sp>
      <p:sp>
        <p:nvSpPr>
          <p:cNvPr id="16" name="Text 14"/>
          <p:cNvSpPr/>
          <p:nvPr/>
        </p:nvSpPr>
        <p:spPr>
          <a:xfrm>
            <a:off x="8138160" y="2011680"/>
            <a:ext cx="3291840" cy="822960"/>
          </a:xfrm>
          <a:prstGeom prst="rect">
            <a:avLst/>
          </a:prstGeom>
          <a:noFill/>
          <a:ln/>
        </p:spPr>
        <p:txBody>
          <a:bodyPr wrap="square" lIns="0" tIns="0" rIns="0" bIns="0" rtlCol="0" anchor="ctr"/>
          <a:lstStyle/>
          <a:p>
            <a:pPr algn="ctr" indent="0" marL="0">
              <a:buNone/>
            </a:pPr>
            <a:r>
              <a:rPr lang="en-US" sz="5400" b="1" dirty="0">
                <a:solidFill>
                  <a:srgbClr val="1E2761"/>
                </a:solidFill>
                <a:latin typeface="Cambria" pitchFamily="34" charset="0"/>
                <a:ea typeface="Cambria" pitchFamily="34" charset="-122"/>
                <a:cs typeface="Cambria" pitchFamily="34" charset="-120"/>
              </a:rPr>
              <a:t>0 / 2.5%</a:t>
            </a:r>
            <a:endParaRPr lang="en-US" sz="5400" dirty="0"/>
          </a:p>
        </p:txBody>
      </p:sp>
      <p:sp>
        <p:nvSpPr>
          <p:cNvPr id="17" name="Text 15"/>
          <p:cNvSpPr/>
          <p:nvPr/>
        </p:nvSpPr>
        <p:spPr>
          <a:xfrm>
            <a:off x="8138160" y="2852928"/>
            <a:ext cx="3291840" cy="594360"/>
          </a:xfrm>
          <a:prstGeom prst="rect">
            <a:avLst/>
          </a:prstGeom>
          <a:noFill/>
          <a:ln/>
        </p:spPr>
        <p:txBody>
          <a:bodyPr wrap="square" lIns="0" tIns="0" rIns="0" bIns="0" rtlCol="0" anchor="ctr"/>
          <a:lstStyle/>
          <a:p>
            <a:pPr algn="ctr" indent="0" marL="0">
              <a:buNone/>
            </a:pPr>
            <a:r>
              <a:rPr lang="en-US" sz="1250" dirty="0">
                <a:solidFill>
                  <a:srgbClr val="5A6478"/>
                </a:solidFill>
                <a:latin typeface="Calibri" pitchFamily="34" charset="0"/>
                <a:ea typeface="Calibri" pitchFamily="34" charset="-122"/>
                <a:cs typeface="Calibri" pitchFamily="34" charset="-120"/>
              </a:rPr>
              <a:t>PII leaks across ledger / hallucination rate, latest run (hallucination check EN-scope by construction)</a:t>
            </a:r>
            <a:endParaRPr lang="en-US" sz="1250" dirty="0"/>
          </a:p>
        </p:txBody>
      </p:sp>
      <p:sp>
        <p:nvSpPr>
          <p:cNvPr id="18" name="Shape 16"/>
          <p:cNvSpPr/>
          <p:nvPr/>
        </p:nvSpPr>
        <p:spPr>
          <a:xfrm>
            <a:off x="731520" y="4206240"/>
            <a:ext cx="10698480" cy="1828800"/>
          </a:xfrm>
          <a:prstGeom prst="roundRect">
            <a:avLst>
              <a:gd name="adj" fmla="val 3000"/>
            </a:avLst>
          </a:prstGeom>
          <a:solidFill>
            <a:srgbClr val="FDF3F3"/>
          </a:solidFill>
          <a:ln w="12700">
            <a:solidFill>
              <a:srgbClr val="990011"/>
            </a:solidFill>
            <a:prstDash val="solid"/>
          </a:ln>
        </p:spPr>
      </p:sp>
      <p:sp>
        <p:nvSpPr>
          <p:cNvPr id="19" name="Text 17"/>
          <p:cNvSpPr/>
          <p:nvPr/>
        </p:nvSpPr>
        <p:spPr>
          <a:xfrm>
            <a:off x="960120" y="4343400"/>
            <a:ext cx="10241280" cy="320040"/>
          </a:xfrm>
          <a:prstGeom prst="rect">
            <a:avLst/>
          </a:prstGeom>
          <a:noFill/>
          <a:ln/>
        </p:spPr>
        <p:txBody>
          <a:bodyPr wrap="square" lIns="0" tIns="0" rIns="0" bIns="0" rtlCol="0" anchor="ctr"/>
          <a:lstStyle/>
          <a:p>
            <a:pPr indent="0" marL="0">
              <a:buNone/>
            </a:pPr>
            <a:r>
              <a:rPr lang="en-US" sz="1400" b="1" dirty="0">
                <a:solidFill>
                  <a:srgbClr val="990011"/>
                </a:solidFill>
                <a:latin typeface="Calibri" pitchFamily="34" charset="0"/>
                <a:ea typeface="Calibri" pitchFamily="34" charset="-122"/>
                <a:cs typeface="Calibri" pitchFamily="34" charset="-120"/>
              </a:rPr>
              <a:t>The honest boundary</a:t>
            </a:r>
            <a:endParaRPr lang="en-US" sz="1400" dirty="0"/>
          </a:p>
        </p:txBody>
      </p:sp>
      <p:sp>
        <p:nvSpPr>
          <p:cNvPr id="20" name="Text 18"/>
          <p:cNvSpPr/>
          <p:nvPr/>
        </p:nvSpPr>
        <p:spPr>
          <a:xfrm>
            <a:off x="960120" y="4681728"/>
            <a:ext cx="10241280" cy="1234440"/>
          </a:xfrm>
          <a:prstGeom prst="rect">
            <a:avLst/>
          </a:prstGeom>
          <a:noFill/>
          <a:ln/>
        </p:spPr>
        <p:txBody>
          <a:bodyPr wrap="square" lIns="0" tIns="0" rIns="0" bIns="0" rtlCol="0" anchor="ctr"/>
          <a:lstStyle/>
          <a:p>
            <a:pPr indent="0" marL="0">
              <a:buNone/>
            </a:pPr>
            <a:r>
              <a:rPr lang="en-US" sz="1400" dirty="0">
                <a:solidFill>
                  <a:srgbClr val="1A1A2E"/>
                </a:solidFill>
                <a:latin typeface="Calibri" pitchFamily="34" charset="0"/>
                <a:ea typeface="Calibri" pitchFamily="34" charset="-122"/>
                <a:cs typeface="Calibri" pitchFamily="34" charset="-120"/>
              </a:rPr>
              <a:t>Outcome data behind these learnings is still SIMULATED. Adoption shows the loop steers recommendations; whether the steered remedy is BETTER requires a live outcome contract on real data — the single most important open step. We claim mechanism, not benefit.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What is proven, demonstrated, and pending</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The traceability matrix — the thesis's honesty map (Appendix D)</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CADCFC"/>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1E2761"/>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4023360"/>
                <a:gridCol w="2560320"/>
                <a:gridCol w="4480560"/>
              </a:tblGrid>
              <a:tr h="502920">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Claim</a:t>
                      </a:r>
                      <a:endParaRPr lang="en-US" sz="135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Status</a:t>
                      </a:r>
                      <a:endParaRPr lang="en-US" sz="135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Evidence</a:t>
                      </a:r>
                      <a:endParaRPr lang="en-US" sz="135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502920">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Triage quality (H3, RQ3)</a:t>
                      </a:r>
                      <a:endParaRPr lang="en-US" sz="135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MEASURED</a:t>
                      </a:r>
                      <a:endParaRPr lang="en-US" sz="135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two independent gold standards (§5A + in-repo)</a:t>
                      </a:r>
                      <a:endParaRPr lang="en-US" sz="135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502920">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DP2 memory influence</a:t>
                      </a:r>
                      <a:endParaRPr lang="en-US" sz="135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PARTIALLY MEASURED</a:t>
                      </a:r>
                      <a:endParaRPr lang="en-US" sz="135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adoption 21→71%; outcomes simulated</a:t>
                      </a:r>
                      <a:endParaRPr lang="en-US" sz="135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502920">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DP1 outcome contracts</a:t>
                      </a:r>
                      <a:endParaRPr lang="en-US" sz="135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DEMONSTRATED</a:t>
                      </a:r>
                      <a:endParaRPr lang="en-US" sz="135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designed + instrumented; live contract pending</a:t>
                      </a:r>
                      <a:endParaRPr lang="en-US" sz="135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502920">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Loop end-to-end in production</a:t>
                      </a:r>
                      <a:endParaRPr lang="en-US" sz="135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DEMONSTRATED</a:t>
                      </a:r>
                      <a:endParaRPr lang="en-US" sz="135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real Jira/Slack push; interrupt fix verified</a:t>
                      </a:r>
                      <a:endParaRPr lang="en-US" sz="135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502920">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Practitioner value (RQ4)</a:t>
                      </a:r>
                      <a:endParaRPr lang="en-US" sz="135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PENDING</a:t>
                      </a:r>
                      <a:endParaRPr lang="en-US" sz="135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instruments ready; interviews in progress</a:t>
                      </a:r>
                      <a:endParaRPr lang="en-US" sz="135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13" name="Text 10"/>
          <p:cNvSpPr/>
          <p:nvPr/>
        </p:nvSpPr>
        <p:spPr>
          <a:xfrm>
            <a:off x="548640" y="5029200"/>
            <a:ext cx="11064240" cy="73152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A claim's status is stated once, in one place, and the chapters must agree with it. This is the discipline that keeps a design-science thesis honest when the artifact is also a company.</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Where this sits (July 2026)</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No single differentiator survives — the contribution is the combination</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1E2761"/>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sp>
        <p:nvSpPr>
          <p:cNvPr id="12" name="Shape 10"/>
          <p:cNvSpPr/>
          <p:nvPr/>
        </p:nvSpPr>
        <p:spPr>
          <a:xfrm>
            <a:off x="548640" y="1600200"/>
            <a:ext cx="6035040" cy="987552"/>
          </a:xfrm>
          <a:prstGeom prst="roundRect">
            <a:avLst>
              <a:gd name="adj" fmla="val 5556"/>
            </a:avLst>
          </a:prstGeom>
          <a:solidFill>
            <a:srgbClr val="F4F7FC"/>
          </a:solidFill>
          <a:ln w="12700">
            <a:solidFill>
              <a:srgbClr val="CADCFC"/>
            </a:solidFill>
            <a:prstDash val="solid"/>
          </a:ln>
        </p:spPr>
      </p:sp>
      <p:sp>
        <p:nvSpPr>
          <p:cNvPr id="13" name="Text 11"/>
          <p:cNvSpPr/>
          <p:nvPr/>
        </p:nvSpPr>
        <p:spPr>
          <a:xfrm>
            <a:off x="685800" y="1691640"/>
            <a:ext cx="576072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Amplitude</a:t>
            </a:r>
            <a:endParaRPr lang="en-US" sz="1350" dirty="0"/>
          </a:p>
        </p:txBody>
      </p:sp>
      <p:sp>
        <p:nvSpPr>
          <p:cNvPr id="14" name="Text 12"/>
          <p:cNvSpPr/>
          <p:nvPr/>
        </p:nvSpPr>
        <p:spPr>
          <a:xfrm>
            <a:off x="685800" y="1984248"/>
            <a:ext cx="5760720" cy="51206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ties feedback to behavioural/revenue data it owns — recommends, doesn't contract closure</a:t>
            </a:r>
            <a:endParaRPr lang="en-US" sz="1150" dirty="0"/>
          </a:p>
        </p:txBody>
      </p:sp>
      <p:sp>
        <p:nvSpPr>
          <p:cNvPr id="15" name="Shape 13"/>
          <p:cNvSpPr/>
          <p:nvPr/>
        </p:nvSpPr>
        <p:spPr>
          <a:xfrm>
            <a:off x="548640" y="2715768"/>
            <a:ext cx="6035040" cy="987552"/>
          </a:xfrm>
          <a:prstGeom prst="roundRect">
            <a:avLst>
              <a:gd name="adj" fmla="val 5556"/>
            </a:avLst>
          </a:prstGeom>
          <a:solidFill>
            <a:srgbClr val="F4F7FC"/>
          </a:solidFill>
          <a:ln w="12700">
            <a:solidFill>
              <a:srgbClr val="CADCFC"/>
            </a:solidFill>
            <a:prstDash val="solid"/>
          </a:ln>
        </p:spPr>
      </p:sp>
      <p:sp>
        <p:nvSpPr>
          <p:cNvPr id="16" name="Text 14"/>
          <p:cNvSpPr/>
          <p:nvPr/>
        </p:nvSpPr>
        <p:spPr>
          <a:xfrm>
            <a:off x="685800" y="2807208"/>
            <a:ext cx="576072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Medallia + Ada</a:t>
            </a:r>
            <a:endParaRPr lang="en-US" sz="1350" dirty="0"/>
          </a:p>
        </p:txBody>
      </p:sp>
      <p:sp>
        <p:nvSpPr>
          <p:cNvPr id="17" name="Text 15"/>
          <p:cNvSpPr/>
          <p:nvPr/>
        </p:nvSpPr>
        <p:spPr>
          <a:xfrm>
            <a:off x="685800" y="3099816"/>
            <a:ext cx="5760720" cy="51206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executes policy-aware workflows from insight — enterprise scale, published gains</a:t>
            </a:r>
            <a:endParaRPr lang="en-US" sz="1150" dirty="0"/>
          </a:p>
        </p:txBody>
      </p:sp>
      <p:sp>
        <p:nvSpPr>
          <p:cNvPr id="18" name="Shape 16"/>
          <p:cNvSpPr/>
          <p:nvPr/>
        </p:nvSpPr>
        <p:spPr>
          <a:xfrm>
            <a:off x="548640" y="3831336"/>
            <a:ext cx="6035040" cy="987552"/>
          </a:xfrm>
          <a:prstGeom prst="roundRect">
            <a:avLst>
              <a:gd name="adj" fmla="val 5556"/>
            </a:avLst>
          </a:prstGeom>
          <a:solidFill>
            <a:srgbClr val="F4F7FC"/>
          </a:solidFill>
          <a:ln w="12700">
            <a:solidFill>
              <a:srgbClr val="CADCFC"/>
            </a:solidFill>
            <a:prstDash val="solid"/>
          </a:ln>
        </p:spPr>
      </p:sp>
      <p:sp>
        <p:nvSpPr>
          <p:cNvPr id="19" name="Text 17"/>
          <p:cNvSpPr/>
          <p:nvPr/>
        </p:nvSpPr>
        <p:spPr>
          <a:xfrm>
            <a:off x="685800" y="3922776"/>
            <a:ext cx="576072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Sprinklr</a:t>
            </a:r>
            <a:endParaRPr lang="en-US" sz="1350" dirty="0"/>
          </a:p>
        </p:txBody>
      </p:sp>
      <p:sp>
        <p:nvSpPr>
          <p:cNvPr id="20" name="Text 18"/>
          <p:cNvSpPr/>
          <p:nvPr/>
        </p:nvSpPr>
        <p:spPr>
          <a:xfrm>
            <a:off x="685800" y="4215384"/>
            <a:ext cx="5760720" cy="51206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audit trails &amp; agent evaluation — governance artefacts at enterprise level</a:t>
            </a:r>
            <a:endParaRPr lang="en-US" sz="1150" dirty="0"/>
          </a:p>
        </p:txBody>
      </p:sp>
      <p:sp>
        <p:nvSpPr>
          <p:cNvPr id="21" name="Shape 19"/>
          <p:cNvSpPr/>
          <p:nvPr/>
        </p:nvSpPr>
        <p:spPr>
          <a:xfrm>
            <a:off x="548640" y="4946904"/>
            <a:ext cx="6035040" cy="987552"/>
          </a:xfrm>
          <a:prstGeom prst="roundRect">
            <a:avLst>
              <a:gd name="adj" fmla="val 5556"/>
            </a:avLst>
          </a:prstGeom>
          <a:solidFill>
            <a:srgbClr val="F4F7FC"/>
          </a:solidFill>
          <a:ln w="12700">
            <a:solidFill>
              <a:srgbClr val="CADCFC"/>
            </a:solidFill>
            <a:prstDash val="solid"/>
          </a:ln>
        </p:spPr>
      </p:sp>
      <p:sp>
        <p:nvSpPr>
          <p:cNvPr id="22" name="Text 20"/>
          <p:cNvSpPr/>
          <p:nvPr/>
        </p:nvSpPr>
        <p:spPr>
          <a:xfrm>
            <a:off x="685800" y="5038344"/>
            <a:ext cx="576072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Dovetail / Enterpret</a:t>
            </a:r>
            <a:endParaRPr lang="en-US" sz="1350" dirty="0"/>
          </a:p>
        </p:txBody>
      </p:sp>
      <p:sp>
        <p:nvSpPr>
          <p:cNvPr id="23" name="Text 21"/>
          <p:cNvSpPr/>
          <p:nvPr/>
        </p:nvSpPr>
        <p:spPr>
          <a:xfrm>
            <a:off x="685800" y="5330952"/>
            <a:ext cx="5760720" cy="51206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SMB agents "trigger real work" / MCP breadth — no approval gates, no outcome measurement (verified)</a:t>
            </a:r>
            <a:endParaRPr lang="en-US" sz="1150" dirty="0"/>
          </a:p>
        </p:txBody>
      </p:sp>
      <p:sp>
        <p:nvSpPr>
          <p:cNvPr id="24" name="Shape 22"/>
          <p:cNvSpPr/>
          <p:nvPr/>
        </p:nvSpPr>
        <p:spPr>
          <a:xfrm>
            <a:off x="6858000" y="1600200"/>
            <a:ext cx="4754880" cy="3108960"/>
          </a:xfrm>
          <a:prstGeom prst="roundRect">
            <a:avLst>
              <a:gd name="adj" fmla="val 1765"/>
            </a:avLst>
          </a:prstGeom>
          <a:solidFill>
            <a:srgbClr val="1E2761"/>
          </a:solidFill>
          <a:ln/>
        </p:spPr>
      </p:sp>
      <p:sp>
        <p:nvSpPr>
          <p:cNvPr id="25" name="Text 23"/>
          <p:cNvSpPr/>
          <p:nvPr/>
        </p:nvSpPr>
        <p:spPr>
          <a:xfrm>
            <a:off x="7086600" y="1783080"/>
            <a:ext cx="4297680" cy="365760"/>
          </a:xfrm>
          <a:prstGeom prst="rect">
            <a:avLst/>
          </a:prstGeom>
          <a:noFill/>
          <a:ln/>
        </p:spPr>
        <p:txBody>
          <a:bodyPr wrap="square" lIns="0" tIns="0" rIns="0" bIns="0" rtlCol="0" anchor="ctr"/>
          <a:lstStyle/>
          <a:p>
            <a:pPr indent="0" marL="0">
              <a:buNone/>
            </a:pPr>
            <a:r>
              <a:rPr lang="en-US" sz="1500" b="1" dirty="0">
                <a:solidFill>
                  <a:srgbClr val="CADCFC"/>
                </a:solidFill>
                <a:latin typeface="Calibri" pitchFamily="34" charset="0"/>
                <a:ea typeface="Calibri" pitchFamily="34" charset="-122"/>
                <a:cs typeface="Calibri" pitchFamily="34" charset="-120"/>
              </a:rPr>
              <a:t>The unclaimed combination</a:t>
            </a:r>
            <a:endParaRPr lang="en-US" sz="1500" dirty="0"/>
          </a:p>
        </p:txBody>
      </p:sp>
      <p:sp>
        <p:nvSpPr>
          <p:cNvPr id="26" name="Text 24"/>
          <p:cNvSpPr/>
          <p:nvPr/>
        </p:nvSpPr>
        <p:spPr>
          <a:xfrm>
            <a:off x="7086600" y="2194560"/>
            <a:ext cx="4297680" cy="2377440"/>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Outcome contracts (verified closure)</a:t>
            </a:r>
            <a:endParaRPr lang="en-US" sz="1450" dirty="0"/>
          </a:p>
          <a:p>
            <a:pPr indent="0" marL="0">
              <a:buNone/>
            </a:pPr>
            <a:r>
              <a:rPr lang="en-US" sz="1450" dirty="0">
                <a:solidFill>
                  <a:srgbClr val="FFFFFF"/>
                </a:solidFill>
                <a:latin typeface="Calibri" pitchFamily="34" charset="0"/>
                <a:ea typeface="Calibri" pitchFamily="34" charset="-122"/>
                <a:cs typeface="Calibri" pitchFamily="34" charset="-120"/>
              </a:rPr>
              <a:t>+ approval-gated cross-system action</a:t>
            </a:r>
            <a:endParaRPr lang="en-US" sz="1450" dirty="0"/>
          </a:p>
          <a:p>
            <a:pPr indent="0" marL="0">
              <a:buNone/>
            </a:pPr>
            <a:r>
              <a:rPr lang="en-US" sz="1450" dirty="0">
                <a:solidFill>
                  <a:srgbClr val="FFFFFF"/>
                </a:solidFill>
                <a:latin typeface="Calibri" pitchFamily="34" charset="0"/>
                <a:ea typeface="Calibri" pitchFamily="34" charset="-122"/>
                <a:cs typeface="Calibri" pitchFamily="34" charset="-120"/>
              </a:rPr>
              <a:t>+ decaying learning memory</a:t>
            </a:r>
            <a:endParaRPr lang="en-US" sz="1450" dirty="0"/>
          </a:p>
          <a:p>
            <a:pPr indent="0" marL="0">
              <a:buNone/>
            </a:pPr>
            <a:r>
              <a:rPr lang="en-US" sz="1450" dirty="0">
                <a:solidFill>
                  <a:srgbClr val="FFFFFF"/>
                </a:solidFill>
                <a:latin typeface="Calibri" pitchFamily="34" charset="0"/>
                <a:ea typeface="Calibri" pitchFamily="34" charset="-122"/>
                <a:cs typeface="Calibri" pitchFamily="34" charset="-120"/>
              </a:rPr>
              <a:t>+ EU-sovereign deployment</a:t>
            </a:r>
            <a:endParaRPr lang="en-US" sz="1450" dirty="0"/>
          </a:p>
          <a:p>
            <a:pPr indent="0" marL="0">
              <a:buNone/>
            </a:pPr>
            <a:r>
              <a:rPr lang="en-US" sz="1450" dirty="0">
                <a:solidFill>
                  <a:srgbClr val="FFFFFF"/>
                </a:solidFill>
                <a:latin typeface="Calibri" pitchFamily="34" charset="0"/>
                <a:ea typeface="Calibri" pitchFamily="34" charset="-122"/>
                <a:cs typeface="Calibri" pitchFamily="34" charset="-120"/>
              </a:rPr>
              <a:t>+ accessible to 10–500-employee firms</a:t>
            </a:r>
            <a:endParaRPr lang="en-US" sz="1450" dirty="0"/>
          </a:p>
        </p:txBody>
      </p:sp>
      <p:sp>
        <p:nvSpPr>
          <p:cNvPr id="27" name="Shape 25"/>
          <p:cNvSpPr/>
          <p:nvPr/>
        </p:nvSpPr>
        <p:spPr>
          <a:xfrm>
            <a:off x="6858000" y="4892040"/>
            <a:ext cx="4754880" cy="1371600"/>
          </a:xfrm>
          <a:prstGeom prst="roundRect">
            <a:avLst>
              <a:gd name="adj" fmla="val 4000"/>
            </a:avLst>
          </a:prstGeom>
          <a:solidFill>
            <a:srgbClr val="F4F7FC"/>
          </a:solidFill>
          <a:ln w="12700">
            <a:solidFill>
              <a:srgbClr val="CADCFC"/>
            </a:solidFill>
            <a:prstDash val="solid"/>
          </a:ln>
        </p:spPr>
      </p:sp>
      <p:sp>
        <p:nvSpPr>
          <p:cNvPr id="28" name="Text 26"/>
          <p:cNvSpPr/>
          <p:nvPr/>
        </p:nvSpPr>
        <p:spPr>
          <a:xfrm>
            <a:off x="7059168" y="5029200"/>
            <a:ext cx="4389120" cy="1143000"/>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Gartner (2025): &gt;40% of agentic-AI projects cancelled by 2027 — for unclear business value and inadequate risk controls. Exactly the two failure modes this design answers.</a:t>
            </a:r>
            <a:endParaRPr lang="en-US" sz="1250" dirty="0"/>
          </a:p>
        </p:txBody>
      </p:sp>
      <p:sp>
        <p:nvSpPr>
          <p:cNvPr id="29" name="Text 27"/>
          <p:cNvSpPr/>
          <p:nvPr/>
        </p:nvSpPr>
        <p:spPr>
          <a:xfrm>
            <a:off x="548640" y="6172200"/>
            <a:ext cx="6035040" cy="548640"/>
          </a:xfrm>
          <a:prstGeom prst="rect">
            <a:avLst/>
          </a:prstGeom>
          <a:noFill/>
          <a:ln/>
        </p:spPr>
        <p:txBody>
          <a:bodyPr wrap="square" rtlCol="0" anchor="ctr"/>
          <a:lstStyle/>
          <a:p>
            <a:pPr indent="0" marL="0">
              <a:buNone/>
            </a:pPr>
            <a:r>
              <a:rPr lang="en-US" sz="1200" i="1" dirty="0">
                <a:solidFill>
                  <a:srgbClr val="5A6478"/>
                </a:solidFill>
                <a:latin typeface="Calibri" pitchFamily="34" charset="0"/>
                <a:ea typeface="Calibri" pitchFamily="34" charset="-122"/>
                <a:cs typeface="Calibri" pitchFamily="34" charset="-120"/>
              </a:rPr>
              <a:t>Forrester retired its CFM Wave (Q1 2026): insight is commoditised; the new axes are autonomous action and trust.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Limitations and what comes next</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Bounded claims, and the one experiment that matters most</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CADCFC"/>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1E2761"/>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t>
            </a:r>
            <a:endParaRPr lang="en-US" sz="1100" dirty="0"/>
          </a:p>
        </p:txBody>
      </p:sp>
      <p:sp>
        <p:nvSpPr>
          <p:cNvPr id="12" name="Text 10"/>
          <p:cNvSpPr/>
          <p:nvPr/>
        </p:nvSpPr>
        <p:spPr>
          <a:xfrm>
            <a:off x="548640" y="1554480"/>
            <a:ext cx="5486400" cy="365760"/>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Limitations (stated, not buried)</a:t>
            </a:r>
            <a:endParaRPr lang="en-US" sz="1700" dirty="0"/>
          </a:p>
        </p:txBody>
      </p:sp>
      <p:sp>
        <p:nvSpPr>
          <p:cNvPr id="13" name="Text 11"/>
          <p:cNvSpPr/>
          <p:nvPr/>
        </p:nvSpPr>
        <p:spPr>
          <a:xfrm>
            <a:off x="731520" y="2011680"/>
            <a:ext cx="5303520" cy="3108960"/>
          </a:xfrm>
          <a:prstGeom prst="rect">
            <a:avLst/>
          </a:prstGeom>
          <a:noFill/>
          <a:ln/>
        </p:spPr>
        <p:txBody>
          <a:bodyPr wrap="square" rtlCol="0" anchor="ctr"/>
          <a:lstStyle/>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Modest, balanced corpus — characterises the pipeline, not a population</a:t>
            </a:r>
            <a:endParaRPr lang="en-US" sz="1300" dirty="0"/>
          </a:p>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Qualitative study small-N, design-validity — no causal effect claims</a:t>
            </a:r>
            <a:endParaRPr lang="en-US" sz="1300" dirty="0"/>
          </a:p>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Researcher-as-designer-and-founder — managed by external labels, standard instruments, reproducibility</a:t>
            </a:r>
            <a:endParaRPr lang="en-US" sz="1300" dirty="0"/>
          </a:p>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Security review found 10 HIGH findings → hardened; not warranted multi-tenant</a:t>
            </a:r>
            <a:endParaRPr lang="en-US" sz="1300" dirty="0"/>
          </a:p>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Distinctive claims demonstrated + partially measured, not field-proven</a:t>
            </a:r>
            <a:endParaRPr lang="en-US" sz="1300" dirty="0"/>
          </a:p>
        </p:txBody>
      </p:sp>
      <p:sp>
        <p:nvSpPr>
          <p:cNvPr id="14" name="Text 12"/>
          <p:cNvSpPr/>
          <p:nvPr/>
        </p:nvSpPr>
        <p:spPr>
          <a:xfrm>
            <a:off x="6400800" y="1554480"/>
            <a:ext cx="5212080" cy="365760"/>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Future work</a:t>
            </a:r>
            <a:endParaRPr lang="en-US" sz="1700" dirty="0"/>
          </a:p>
        </p:txBody>
      </p:sp>
      <p:sp>
        <p:nvSpPr>
          <p:cNvPr id="15" name="Text 13"/>
          <p:cNvSpPr/>
          <p:nvPr/>
        </p:nvSpPr>
        <p:spPr>
          <a:xfrm>
            <a:off x="6583680" y="2011680"/>
            <a:ext cx="5029200" cy="3108960"/>
          </a:xfrm>
          <a:prstGeom prst="rect">
            <a:avLst/>
          </a:prstGeom>
          <a:noFill/>
          <a:ln/>
        </p:spPr>
        <p:txBody>
          <a:bodyPr wrap="square" rtlCol="0" anchor="ctr"/>
          <a:lstStyle/>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① One LIVE outcome contract on real data — scored by interrupted time series; then synthetic difference-in-differences as panels accumulate (Arkhangelsky et al., 2021)</a:t>
            </a:r>
            <a:endParaRPr lang="en-US" sz="1300" dirty="0"/>
          </a:p>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② Unify the two LLM evidence streams on one gold standard; golden set grown 60→80 bilingual (exact-tag lift now significant, p=0.001) — grow further for urgency power</a:t>
            </a:r>
            <a:endParaRPr lang="en-US" sz="1300" dirty="0"/>
          </a:p>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③ Connector parity + broader pulls</a:t>
            </a:r>
            <a:endParaRPr lang="en-US" sz="1300" dirty="0"/>
          </a:p>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④ Standing fairness monitoring of routing across segments and languages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502920"/>
            <a:ext cx="10515600" cy="731520"/>
          </a:xfrm>
          <a:prstGeom prst="rect">
            <a:avLst/>
          </a:prstGeom>
          <a:noFill/>
          <a:ln/>
        </p:spPr>
        <p:txBody>
          <a:bodyPr wrap="square"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Contributions</a:t>
            </a:r>
            <a:endParaRPr lang="en-US" sz="3600" dirty="0"/>
          </a:p>
        </p:txBody>
      </p:sp>
      <p:sp>
        <p:nvSpPr>
          <p:cNvPr id="3" name="Shape 1"/>
          <p:cNvSpPr/>
          <p:nvPr/>
        </p:nvSpPr>
        <p:spPr>
          <a:xfrm>
            <a:off x="822960" y="1554480"/>
            <a:ext cx="5212080" cy="1783080"/>
          </a:xfrm>
          <a:prstGeom prst="roundRect">
            <a:avLst>
              <a:gd name="adj" fmla="val 3077"/>
            </a:avLst>
          </a:prstGeom>
          <a:solidFill>
            <a:srgbClr val="2A3575"/>
          </a:solidFill>
          <a:ln/>
        </p:spPr>
      </p:sp>
      <p:sp>
        <p:nvSpPr>
          <p:cNvPr id="4" name="Text 2"/>
          <p:cNvSpPr/>
          <p:nvPr/>
        </p:nvSpPr>
        <p:spPr>
          <a:xfrm>
            <a:off x="1024128" y="1691640"/>
            <a:ext cx="4800600" cy="365760"/>
          </a:xfrm>
          <a:prstGeom prst="rect">
            <a:avLst/>
          </a:prstGeom>
          <a:noFill/>
          <a:ln/>
        </p:spPr>
        <p:txBody>
          <a:bodyPr wrap="square" lIns="0" tIns="0" rIns="0" bIns="0" rtlCol="0" anchor="ctr"/>
          <a:lstStyle/>
          <a:p>
            <a:pPr indent="0" marL="0">
              <a:buNone/>
            </a:pPr>
            <a:r>
              <a:rPr lang="en-US" sz="1600" b="1" dirty="0">
                <a:solidFill>
                  <a:srgbClr val="02C39A"/>
                </a:solidFill>
                <a:latin typeface="Calibri" pitchFamily="34" charset="0"/>
                <a:ea typeface="Calibri" pitchFamily="34" charset="-122"/>
                <a:cs typeface="Calibri" pitchFamily="34" charset="-120"/>
              </a:rPr>
              <a:t>A working artifact</a:t>
            </a:r>
            <a:endParaRPr lang="en-US" sz="1600" dirty="0"/>
          </a:p>
        </p:txBody>
      </p:sp>
      <p:sp>
        <p:nvSpPr>
          <p:cNvPr id="5" name="Text 3"/>
          <p:cNvSpPr/>
          <p:nvPr/>
        </p:nvSpPr>
        <p:spPr>
          <a:xfrm>
            <a:off x="1024128" y="2084832"/>
            <a:ext cx="4800600" cy="11430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the full governed loop — signal to measured outcome to reusable learning — running end to end, in production, with real external writes</a:t>
            </a:r>
            <a:endParaRPr lang="en-US" sz="1300" dirty="0"/>
          </a:p>
        </p:txBody>
      </p:sp>
      <p:sp>
        <p:nvSpPr>
          <p:cNvPr id="6" name="Shape 4"/>
          <p:cNvSpPr/>
          <p:nvPr/>
        </p:nvSpPr>
        <p:spPr>
          <a:xfrm>
            <a:off x="6309360" y="1554480"/>
            <a:ext cx="5212080" cy="1783080"/>
          </a:xfrm>
          <a:prstGeom prst="roundRect">
            <a:avLst>
              <a:gd name="adj" fmla="val 3077"/>
            </a:avLst>
          </a:prstGeom>
          <a:solidFill>
            <a:srgbClr val="2A3575"/>
          </a:solidFill>
          <a:ln/>
        </p:spPr>
      </p:sp>
      <p:sp>
        <p:nvSpPr>
          <p:cNvPr id="7" name="Text 5"/>
          <p:cNvSpPr/>
          <p:nvPr/>
        </p:nvSpPr>
        <p:spPr>
          <a:xfrm>
            <a:off x="6510528" y="1691640"/>
            <a:ext cx="4800600" cy="365760"/>
          </a:xfrm>
          <a:prstGeom prst="rect">
            <a:avLst/>
          </a:prstGeom>
          <a:noFill/>
          <a:ln/>
        </p:spPr>
        <p:txBody>
          <a:bodyPr wrap="square" lIns="0" tIns="0" rIns="0" bIns="0" rtlCol="0" anchor="ctr"/>
          <a:lstStyle/>
          <a:p>
            <a:pPr indent="0" marL="0">
              <a:buNone/>
            </a:pPr>
            <a:r>
              <a:rPr lang="en-US" sz="1600" b="1" dirty="0">
                <a:solidFill>
                  <a:srgbClr val="02C39A"/>
                </a:solidFill>
                <a:latin typeface="Calibri" pitchFamily="34" charset="0"/>
                <a:ea typeface="Calibri" pitchFamily="34" charset="-122"/>
                <a:cs typeface="Calibri" pitchFamily="34" charset="-120"/>
              </a:rPr>
              <a:t>Six design principles</a:t>
            </a:r>
            <a:endParaRPr lang="en-US" sz="1600" dirty="0"/>
          </a:p>
        </p:txBody>
      </p:sp>
      <p:sp>
        <p:nvSpPr>
          <p:cNvPr id="8" name="Text 6"/>
          <p:cNvSpPr/>
          <p:nvPr/>
        </p:nvSpPr>
        <p:spPr>
          <a:xfrm>
            <a:off x="6510528" y="2084832"/>
            <a:ext cx="4800600" cy="11430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each with its cost: closure as contract, perishable memory, set-based severity, graduated authority, bounded model, adaptation by configuration</a:t>
            </a:r>
            <a:endParaRPr lang="en-US" sz="1300" dirty="0"/>
          </a:p>
        </p:txBody>
      </p:sp>
      <p:sp>
        <p:nvSpPr>
          <p:cNvPr id="9" name="Shape 7"/>
          <p:cNvSpPr/>
          <p:nvPr/>
        </p:nvSpPr>
        <p:spPr>
          <a:xfrm>
            <a:off x="822960" y="3520440"/>
            <a:ext cx="5212080" cy="1783080"/>
          </a:xfrm>
          <a:prstGeom prst="roundRect">
            <a:avLst>
              <a:gd name="adj" fmla="val 3077"/>
            </a:avLst>
          </a:prstGeom>
          <a:solidFill>
            <a:srgbClr val="2A3575"/>
          </a:solidFill>
          <a:ln/>
        </p:spPr>
      </p:sp>
      <p:sp>
        <p:nvSpPr>
          <p:cNvPr id="10" name="Text 8"/>
          <p:cNvSpPr/>
          <p:nvPr/>
        </p:nvSpPr>
        <p:spPr>
          <a:xfrm>
            <a:off x="1024128" y="3657600"/>
            <a:ext cx="4800600" cy="365760"/>
          </a:xfrm>
          <a:prstGeom prst="rect">
            <a:avLst/>
          </a:prstGeom>
          <a:noFill/>
          <a:ln/>
        </p:spPr>
        <p:txBody>
          <a:bodyPr wrap="square" lIns="0" tIns="0" rIns="0" bIns="0" rtlCol="0" anchor="ctr"/>
          <a:lstStyle/>
          <a:p>
            <a:pPr indent="0" marL="0">
              <a:buNone/>
            </a:pPr>
            <a:r>
              <a:rPr lang="en-US" sz="1600" b="1" dirty="0">
                <a:solidFill>
                  <a:srgbClr val="02C39A"/>
                </a:solidFill>
                <a:latin typeface="Calibri" pitchFamily="34" charset="0"/>
                <a:ea typeface="Calibri" pitchFamily="34" charset="-122"/>
                <a:cs typeface="Calibri" pitchFamily="34" charset="-120"/>
              </a:rPr>
              <a:t>A real-data evaluation</a:t>
            </a:r>
            <a:endParaRPr lang="en-US" sz="1600" dirty="0"/>
          </a:p>
        </p:txBody>
      </p:sp>
      <p:sp>
        <p:nvSpPr>
          <p:cNvPr id="11" name="Text 9"/>
          <p:cNvSpPr/>
          <p:nvPr/>
        </p:nvSpPr>
        <p:spPr>
          <a:xfrm>
            <a:off x="1024128" y="4050792"/>
            <a:ext cx="4800600" cy="11430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188 multilingual signals, two independent gold standards; triage is method-dependent and the loop's precondition is satisfiable</a:t>
            </a:r>
            <a:endParaRPr lang="en-US" sz="1300" dirty="0"/>
          </a:p>
        </p:txBody>
      </p:sp>
      <p:sp>
        <p:nvSpPr>
          <p:cNvPr id="12" name="Shape 10"/>
          <p:cNvSpPr/>
          <p:nvPr/>
        </p:nvSpPr>
        <p:spPr>
          <a:xfrm>
            <a:off x="6309360" y="3520440"/>
            <a:ext cx="5212080" cy="1783080"/>
          </a:xfrm>
          <a:prstGeom prst="roundRect">
            <a:avLst>
              <a:gd name="adj" fmla="val 3077"/>
            </a:avLst>
          </a:prstGeom>
          <a:solidFill>
            <a:srgbClr val="2A3575"/>
          </a:solidFill>
          <a:ln/>
        </p:spPr>
      </p:sp>
      <p:sp>
        <p:nvSpPr>
          <p:cNvPr id="13" name="Text 11"/>
          <p:cNvSpPr/>
          <p:nvPr/>
        </p:nvSpPr>
        <p:spPr>
          <a:xfrm>
            <a:off x="6510528" y="3657600"/>
            <a:ext cx="4800600" cy="365760"/>
          </a:xfrm>
          <a:prstGeom prst="rect">
            <a:avLst/>
          </a:prstGeom>
          <a:noFill/>
          <a:ln/>
        </p:spPr>
        <p:txBody>
          <a:bodyPr wrap="square" lIns="0" tIns="0" rIns="0" bIns="0" rtlCol="0" anchor="ctr"/>
          <a:lstStyle/>
          <a:p>
            <a:pPr indent="0" marL="0">
              <a:buNone/>
            </a:pPr>
            <a:r>
              <a:rPr lang="en-US" sz="1600" b="1" dirty="0">
                <a:solidFill>
                  <a:srgbClr val="02C39A"/>
                </a:solidFill>
                <a:latin typeface="Calibri" pitchFamily="34" charset="0"/>
                <a:ea typeface="Calibri" pitchFamily="34" charset="-122"/>
                <a:cs typeface="Calibri" pitchFamily="34" charset="-120"/>
              </a:rPr>
              <a:t>Integral Responsible AI</a:t>
            </a:r>
            <a:endParaRPr lang="en-US" sz="1600" dirty="0"/>
          </a:p>
        </p:txBody>
      </p:sp>
      <p:sp>
        <p:nvSpPr>
          <p:cNvPr id="14" name="Text 12"/>
          <p:cNvSpPr/>
          <p:nvPr/>
        </p:nvSpPr>
        <p:spPr>
          <a:xfrm>
            <a:off x="6510528" y="4050792"/>
            <a:ext cx="4800600" cy="11430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oversight designed beyond Art 14, transparency via Art 50(4), auditability that found its own gaps — governance as durable design commitment</a:t>
            </a:r>
            <a:endParaRPr lang="en-US" sz="1300" dirty="0"/>
          </a:p>
        </p:txBody>
      </p:sp>
      <p:sp>
        <p:nvSpPr>
          <p:cNvPr id="15" name="Text 13"/>
          <p:cNvSpPr/>
          <p:nvPr/>
        </p:nvSpPr>
        <p:spPr>
          <a:xfrm>
            <a:off x="822960" y="5623560"/>
            <a:ext cx="10515600" cy="457200"/>
          </a:xfrm>
          <a:prstGeom prst="rect">
            <a:avLst/>
          </a:prstGeom>
          <a:noFill/>
          <a:ln/>
        </p:spPr>
        <p:txBody>
          <a:bodyPr wrap="square" rtlCol="0" anchor="ctr"/>
          <a:lstStyle/>
          <a:p>
            <a:pPr indent="0" marL="0">
              <a:buNone/>
            </a:pPr>
            <a:r>
              <a:rPr lang="en-US" sz="1600" i="1" dirty="0">
                <a:solidFill>
                  <a:srgbClr val="CADCFC"/>
                </a:solidFill>
                <a:latin typeface="Calibri" pitchFamily="34" charset="0"/>
                <a:ea typeface="Calibri" pitchFamily="34" charset="-122"/>
                <a:cs typeface="Calibri" pitchFamily="34" charset="-120"/>
              </a:rPr>
              <a:t>Closing the loop and governing the closing are not in opposition — they are two halves of one well-designed workflow.</a:t>
            </a:r>
            <a:endParaRPr lang="en-US" sz="1600" dirty="0"/>
          </a:p>
        </p:txBody>
      </p:sp>
      <p:sp>
        <p:nvSpPr>
          <p:cNvPr id="16" name="Text 14"/>
          <p:cNvSpPr/>
          <p:nvPr/>
        </p:nvSpPr>
        <p:spPr>
          <a:xfrm>
            <a:off x="822960" y="6172200"/>
            <a:ext cx="10515600" cy="45720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Thank you — questions welcome.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2026-07-17T23:51:02Z</dcterms:created>
  <dcterms:modified xsi:type="dcterms:W3CDTF">2026-07-17T23:51:02Z</dcterms:modified>
</cp:coreProperties>
</file>