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Frame in one breath: organisations collect more feedback than ever, yet fewer than a third systematically close the loop. This thesis designs, builds and evaluates a platform where the loop is not just closed but GOVERNED and MEASURED — and where what worked becomes organisational memory. One system, studied through Design Science Research. TODAY: progress review, not the defense — lead with the architecture slides and the progress-since-mid-July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Anchor the gap in Bone et al., then the Uber experiment — the strongest evidence that acting without measuring can make things worse. End on the central claim; everything after is those two primitives.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why DSR: the question is 'what works by design', not 'what is'. Note H1–H8 map under these four RQs. Flag honestly that RQ4 data collection is in progress — protocol and instruments are complete and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the diagram left to right: sources → ingestion → enrich → synthesize → rules → the approval diamond → execute → measure → learn, with governance cross-cutting. Emphasise the architectural principle: bounded model, deterministic loop. Single build: CLARA (FastAPI + LangGraph), in production — the earlier prototype is acknowledged once as the first design cycle and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New slide for this meeting. Walk top-down: UI → FastAPI (~43 REST endpoints) → the LangGraph nodes; approval is a graph interrupt, not a UI convention. Deployment reality matches the diagram: Docker on a Hetzner EU VPS behind Caddy, Vercel frontend, Supabase Postgres with RLS. The provider-agnostic model layer is the EU-sovereignty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Two views of one loop. Left: stress the two red governance nodes (approval queue, audit write) and the retrieval back-edge — the memory sits IN the control flow, not in a side store. Right: the contract is fixed before the action executes, so there is no post-hoc metric shopping.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For an architecture audience the schema is the argument: the thesis's two primitives (outcome contract, perishable learning) are tables with foreign keys, not prose. RLS puts tenant isolation in the database where an application bug cannot bypass it — honest boundary: not warranted for adversarial co-tenants; pilots run single-workspace.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each; slow down on decay (the novelty boundary vs MemoryBank — examiners may probe novelty; we cite the prior art ourselves and position precisely) and on industry profiles (adaptation without retraining, demonstrated on three real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RAI thesis heart. Two lines matter most: (1) the gate deliberately EXCEEDS Art 14 because awareness alone doesn't de-bias overseers; (2) the code review found declared-but-unenforced controls — and the governance instrumentation is what made that visible. Honesty as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One line per item, do not read the slide. Hashes for the advisor: MFA 4200672 · cookie sessions a012298 · rate limiting 9b75195, hardened + auth fail-closed 350dc37 · secrets-at-rest &amp; four-eyes eb15bcc · JWT-bound reviewer 967c7d1 · founder-owner bootstrap 1b0ab07 · uptime monitor 49013f8 · tamper evidence b065e4a · guardrail measurement e13105d · trust page 405a630 · pricing ec6bba6.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Hashes for the advisor: golden set 80→100 + churn-musing exemplar 58504f3 · two-tag DE rubric + published n=100 run 5d250fb · per-language metrics + model card 8a258f8 · German exemplars e454898 · tag canonicalization e8af0e5 (claim revised to measured reality in c43062e) · per-item persistence + entity rollup 6412810 · tags persisted on signals 9dcc282 · churn routing df8d042 · App Store hardening 816f0f2 · MCP productization 1eb6c91 · feature catalog ab14a58. Landed improvements from the catalog: #2 #3 #6 #7 #8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Stress the honesty features: real data only (synthetic excluded), star ratings as a NON-CIRCULAR sentiment gold, seed labels external to the artifact, every number written by a reproducible harness — no hand-typed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three-rung story. Be precise about gold standards: the 0.37/0.78 rows are the thesis harness (188 seed-labelled signals); the LLM numbers are the artifact's committed in-repo eval on a DIFFERENT 100-case bilingual golden set (28 authored German cases — disclosed) — convergent evidence, not the same table. If probed on exemplars: at n=60 the A/B was not significant (p≈1.0); at n=80, after adding German exemplars, the exact-tag-set lift became significant (8.75%→28.75% per item, in-run paired McNemar p=0.001) while urgency stayed underpowered (81.25%→86.25%, p=0.219); at n=100, after the churn-musing calibration exemplar, the urgency lift is significant too (83%→90%, p=0.039, third consecutive significant run) — we report the whole trajectory ourselves. Tag metrics at n=100 are not comparable to the n=80 snapshot (new adversarial items + completed two-tag DE gold — disclosed). The in-run paired A/B is the designed inference; the model is non-deterministic even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wins or loses trust. Lead with the number, land on the boundary: mechanism measured, benefit pending. Examiners reward the distinction — it's also written into the traceability matrix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Pre-empt the researcher-as-founder question here: externally-labelled gold sets, standardised instruments, reproducible harness, and this matrix. Conflict of interest is declared in the front matter and managed by method, not denial. If asked about the July external reviews (§5A.8): two independent LLM strategic reviews, 45 claims adversarially verified (27 confirmed / 13 partial / 2 refuted), 20 hardening PRs, 17/17 live production checks — and the refuted claims are themselves a finding: unsurfaced capability reads as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Category has moved TOWARD the thesis: analysts declared the insight half commoditised. Each rival owns a fragment; nobody verifiably holds the combination — and we apply the same verification standard to ourselves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number ① slowly: the single most important next artifact — a real action, a real metric, a contract, a window, a verdict. The method is already specified (ITS, then SDID).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Read the four contributions crisply, end on the one-liner, invite questions. Likely probes: novelty vs MemoryBank (answered on slide 5), founder COI (slide 10), simulated outcomes (slide 9), why not RCTs (slide 12 — ITS/SDID).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2971800"/>
            <a:ext cx="10515600" cy="82296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design-science study of a governed platform for turning customer feedback</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into measured action and reusable organisational learning</a:t>
            </a:r>
            <a:endParaRPr lang="en-US" sz="2000" dirty="0"/>
          </a:p>
        </p:txBody>
      </p:sp>
      <p:sp>
        <p:nvSpPr>
          <p:cNvPr id="4" name="Shape 2"/>
          <p:cNvSpPr/>
          <p:nvPr/>
        </p:nvSpPr>
        <p:spPr>
          <a:xfrm>
            <a:off x="868680" y="4251960"/>
            <a:ext cx="457200" cy="457200"/>
          </a:xfrm>
          <a:prstGeom prst="ellipse">
            <a:avLst/>
          </a:prstGeom>
          <a:solidFill>
            <a:srgbClr val="CADCFC"/>
          </a:solidFill>
          <a:ln/>
        </p:spPr>
      </p:sp>
      <p:sp>
        <p:nvSpPr>
          <p:cNvPr id="5" name="Text 3"/>
          <p:cNvSpPr/>
          <p:nvPr/>
        </p:nvSpPr>
        <p:spPr>
          <a:xfrm>
            <a:off x="86868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7160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Signal</a:t>
            </a:r>
            <a:endParaRPr lang="en-US" sz="1500" dirty="0"/>
          </a:p>
        </p:txBody>
      </p:sp>
      <p:sp>
        <p:nvSpPr>
          <p:cNvPr id="7" name="Text 5"/>
          <p:cNvSpPr/>
          <p:nvPr/>
        </p:nvSpPr>
        <p:spPr>
          <a:xfrm>
            <a:off x="214884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651760" y="4251960"/>
            <a:ext cx="457200" cy="457200"/>
          </a:xfrm>
          <a:prstGeom prst="ellipse">
            <a:avLst/>
          </a:prstGeom>
          <a:solidFill>
            <a:srgbClr val="CADCFC"/>
          </a:solidFill>
          <a:ln/>
        </p:spPr>
      </p:sp>
      <p:sp>
        <p:nvSpPr>
          <p:cNvPr id="9" name="Text 7"/>
          <p:cNvSpPr/>
          <p:nvPr/>
        </p:nvSpPr>
        <p:spPr>
          <a:xfrm>
            <a:off x="265176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315468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Insight</a:t>
            </a:r>
            <a:endParaRPr lang="en-US" sz="1500" dirty="0"/>
          </a:p>
        </p:txBody>
      </p:sp>
      <p:sp>
        <p:nvSpPr>
          <p:cNvPr id="11" name="Text 9"/>
          <p:cNvSpPr/>
          <p:nvPr/>
        </p:nvSpPr>
        <p:spPr>
          <a:xfrm>
            <a:off x="393192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4434840" y="4251960"/>
            <a:ext cx="457200" cy="457200"/>
          </a:xfrm>
          <a:prstGeom prst="ellipse">
            <a:avLst/>
          </a:prstGeom>
          <a:solidFill>
            <a:srgbClr val="CADCFC"/>
          </a:solidFill>
          <a:ln/>
        </p:spPr>
      </p:sp>
      <p:sp>
        <p:nvSpPr>
          <p:cNvPr id="13" name="Text 11"/>
          <p:cNvSpPr/>
          <p:nvPr/>
        </p:nvSpPr>
        <p:spPr>
          <a:xfrm>
            <a:off x="443484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493776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Action</a:t>
            </a:r>
            <a:endParaRPr lang="en-US" sz="1500" dirty="0"/>
          </a:p>
        </p:txBody>
      </p:sp>
      <p:sp>
        <p:nvSpPr>
          <p:cNvPr id="15" name="Text 13"/>
          <p:cNvSpPr/>
          <p:nvPr/>
        </p:nvSpPr>
        <p:spPr>
          <a:xfrm>
            <a:off x="571500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6217920" y="4251960"/>
            <a:ext cx="457200" cy="457200"/>
          </a:xfrm>
          <a:prstGeom prst="ellipse">
            <a:avLst/>
          </a:prstGeom>
          <a:solidFill>
            <a:srgbClr val="02C39A"/>
          </a:solidFill>
          <a:ln/>
        </p:spPr>
      </p:sp>
      <p:sp>
        <p:nvSpPr>
          <p:cNvPr id="17" name="Text 15"/>
          <p:cNvSpPr/>
          <p:nvPr/>
        </p:nvSpPr>
        <p:spPr>
          <a:xfrm>
            <a:off x="621792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672084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Learning</a:t>
            </a:r>
            <a:endParaRPr lang="en-US" sz="1500" dirty="0"/>
          </a:p>
        </p:txBody>
      </p:sp>
      <p:sp>
        <p:nvSpPr>
          <p:cNvPr id="19" name="Text 17"/>
          <p:cNvSpPr/>
          <p:nvPr/>
        </p:nvSpPr>
        <p:spPr>
          <a:xfrm>
            <a:off x="822960" y="5989320"/>
            <a:ext cx="105156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  ·  September 2026</a:t>
            </a:r>
            <a:endParaRPr lang="en-US" sz="1300" dirty="0"/>
          </a:p>
        </p:txBody>
      </p:sp>
      <p:sp>
        <p:nvSpPr>
          <p:cNvPr id="20" name="Text 18"/>
          <p:cNvSpPr/>
          <p:nvPr/>
        </p:nvSpPr>
        <p:spPr>
          <a:xfrm>
            <a:off x="822960" y="6355080"/>
            <a:ext cx="10515600" cy="320040"/>
          </a:xfrm>
          <a:prstGeom prst="rect">
            <a:avLst/>
          </a:prstGeom>
          <a:noFill/>
          <a:ln/>
        </p:spPr>
        <p:txBody>
          <a:bodyPr wrap="square" rtlCol="0" anchor="ctr"/>
          <a:lstStyle/>
          <a:p>
            <a:pPr indent="0" marL="0">
              <a:buNone/>
            </a:pPr>
            <a:r>
              <a:rPr lang="en-US" sz="1200" i="1" dirty="0">
                <a:solidFill>
                  <a:srgbClr val="02C39A"/>
                </a:solidFill>
                <a:latin typeface="Calibri" pitchFamily="34" charset="0"/>
                <a:ea typeface="Calibri" pitchFamily="34" charset="-122"/>
                <a:cs typeface="Calibri" pitchFamily="34" charset="-120"/>
              </a:rPr>
              <a:t>Progress review · 1 August 2026 — updated architecture + the July engineering log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problem: feedback is collected, not converted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feedback-to-action gap, and why acting without measuring is not enough</a:t>
            </a:r>
            <a:endParaRPr lang="en-US" sz="1400" dirty="0"/>
          </a:p>
        </p:txBody>
      </p:sp>
      <p:sp>
        <p:nvSpPr>
          <p:cNvPr id="4" name="Shape 2"/>
          <p:cNvSpPr/>
          <p:nvPr/>
        </p:nvSpPr>
        <p:spPr>
          <a:xfrm>
            <a:off x="10424160" y="411480"/>
            <a:ext cx="292608" cy="292608"/>
          </a:xfrm>
          <a:prstGeom prst="ellipse">
            <a:avLst/>
          </a:prstGeom>
          <a:solidFill>
            <a:srgbClr val="1E2761"/>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86400" cy="1417320"/>
          </a:xfrm>
          <a:prstGeom prst="roundRect">
            <a:avLst>
              <a:gd name="adj" fmla="val 3871"/>
            </a:avLst>
          </a:prstGeom>
          <a:solidFill>
            <a:srgbClr val="F4F7FC"/>
          </a:solidFill>
          <a:ln w="12700">
            <a:solidFill>
              <a:srgbClr val="CADCFC"/>
            </a:solidFill>
            <a:prstDash val="solid"/>
          </a:ln>
        </p:spPr>
      </p:sp>
      <p:sp>
        <p:nvSpPr>
          <p:cNvPr id="13" name="Text 11"/>
          <p:cNvSpPr/>
          <p:nvPr/>
        </p:nvSpPr>
        <p:spPr>
          <a:xfrm>
            <a:off x="685800" y="16459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Fewer than 30% of firms close the loop</a:t>
            </a:r>
            <a:endParaRPr lang="en-US" sz="1350" dirty="0"/>
          </a:p>
        </p:txBody>
      </p:sp>
      <p:sp>
        <p:nvSpPr>
          <p:cNvPr id="14" name="Text 12"/>
          <p:cNvSpPr/>
          <p:nvPr/>
        </p:nvSpPr>
        <p:spPr>
          <a:xfrm>
            <a:off x="685800" y="19385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Structural barriers — silos, unclear ownership, no workflow from feedback to responsible team (Bone et al., 2017). Forrester 2025: most CX teams still can't get stakeholders to act; only 27% communicate insights in time.</a:t>
            </a:r>
            <a:endParaRPr lang="en-US" sz="1150" dirty="0"/>
          </a:p>
        </p:txBody>
      </p:sp>
      <p:sp>
        <p:nvSpPr>
          <p:cNvPr id="15" name="Shape 13"/>
          <p:cNvSpPr/>
          <p:nvPr/>
        </p:nvSpPr>
        <p:spPr>
          <a:xfrm>
            <a:off x="548640" y="3154680"/>
            <a:ext cx="5486400" cy="1417320"/>
          </a:xfrm>
          <a:prstGeom prst="roundRect">
            <a:avLst>
              <a:gd name="adj" fmla="val 3871"/>
            </a:avLst>
          </a:prstGeom>
          <a:solidFill>
            <a:srgbClr val="F4F7FC"/>
          </a:solidFill>
          <a:ln w="12700">
            <a:solidFill>
              <a:srgbClr val="CADCFC"/>
            </a:solidFill>
            <a:prstDash val="solid"/>
          </a:ln>
        </p:spPr>
      </p:sp>
      <p:sp>
        <p:nvSpPr>
          <p:cNvPr id="16" name="Text 14"/>
          <p:cNvSpPr/>
          <p:nvPr/>
        </p:nvSpPr>
        <p:spPr>
          <a:xfrm>
            <a:off x="685800" y="32461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Even acting can backfire</a:t>
            </a:r>
            <a:endParaRPr lang="en-US" sz="1350" dirty="0"/>
          </a:p>
        </p:txBody>
      </p:sp>
      <p:sp>
        <p:nvSpPr>
          <p:cNvPr id="17" name="Text 15"/>
          <p:cNvSpPr/>
          <p:nvPr/>
        </p:nvSpPr>
        <p:spPr>
          <a:xfrm>
            <a:off x="685800" y="35387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Field experiment, ~1.5M Uber customers: apologies alone didn't restore spending — repeated apologies REDUCED it (Halperin et al., 2022). Action taken ≠ problem solved. Closure must be measured.</a:t>
            </a:r>
            <a:endParaRPr lang="en-US" sz="1150" dirty="0"/>
          </a:p>
        </p:txBody>
      </p:sp>
      <p:sp>
        <p:nvSpPr>
          <p:cNvPr id="18" name="Shape 16"/>
          <p:cNvSpPr/>
          <p:nvPr/>
        </p:nvSpPr>
        <p:spPr>
          <a:xfrm>
            <a:off x="548640" y="4754880"/>
            <a:ext cx="5486400" cy="1417320"/>
          </a:xfrm>
          <a:prstGeom prst="roundRect">
            <a:avLst>
              <a:gd name="adj" fmla="val 3871"/>
            </a:avLst>
          </a:prstGeom>
          <a:solidFill>
            <a:srgbClr val="F4F7FC"/>
          </a:solidFill>
          <a:ln w="12700">
            <a:solidFill>
              <a:srgbClr val="CADCFC"/>
            </a:solidFill>
            <a:prstDash val="solid"/>
          </a:ln>
        </p:spPr>
      </p:sp>
      <p:sp>
        <p:nvSpPr>
          <p:cNvPr id="19" name="Text 17"/>
          <p:cNvSpPr/>
          <p:nvPr/>
        </p:nvSpPr>
        <p:spPr>
          <a:xfrm>
            <a:off x="685800" y="48463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is learned is forgotten</a:t>
            </a:r>
            <a:endParaRPr lang="en-US" sz="1350" dirty="0"/>
          </a:p>
        </p:txBody>
      </p:sp>
      <p:sp>
        <p:nvSpPr>
          <p:cNvPr id="20" name="Text 18"/>
          <p:cNvSpPr/>
          <p:nvPr/>
        </p:nvSpPr>
        <p:spPr>
          <a:xfrm>
            <a:off x="685800" y="51389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Organisational memory depreciates (Argote 2013; Walsh &amp; Ungson 1991). Teams re-learn the same lessons; no system retains which remedies actually worked.</a:t>
            </a:r>
            <a:endParaRPr lang="en-US" sz="1150" dirty="0"/>
          </a:p>
        </p:txBody>
      </p:sp>
      <p:sp>
        <p:nvSpPr>
          <p:cNvPr id="21" name="Text 19"/>
          <p:cNvSpPr/>
          <p:nvPr/>
        </p:nvSpPr>
        <p:spPr>
          <a:xfrm>
            <a:off x="6400800" y="1600200"/>
            <a:ext cx="512064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Four deficiencies</a:t>
            </a:r>
            <a:endParaRPr lang="en-US" sz="1700" dirty="0"/>
          </a:p>
        </p:txBody>
      </p:sp>
      <p:sp>
        <p:nvSpPr>
          <p:cNvPr id="22" name="Text 20"/>
          <p:cNvSpPr/>
          <p:nvPr/>
        </p:nvSpPr>
        <p:spPr>
          <a:xfrm>
            <a:off x="6583680" y="2057400"/>
            <a:ext cx="4937760" cy="1920240"/>
          </a:xfrm>
          <a:prstGeom prst="rect">
            <a:avLst/>
          </a:prstGeom>
          <a:noFill/>
          <a:ln/>
        </p:spPr>
        <p:txBody>
          <a:bodyPr wrap="square" rtlCol="0" anchor="ctr"/>
          <a:lstStyle/>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Signal fragmentation — 13+ sources, no unified priority</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Insight–action gap — no governed path to execution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Unmeasured closure — tickets created, outcomes unknown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Lost memory — what worked isn't retained or retrieved</a:t>
            </a:r>
            <a:endParaRPr lang="en-US" sz="1400" dirty="0"/>
          </a:p>
        </p:txBody>
      </p:sp>
      <p:sp>
        <p:nvSpPr>
          <p:cNvPr id="23" name="Shape 21"/>
          <p:cNvSpPr/>
          <p:nvPr/>
        </p:nvSpPr>
        <p:spPr>
          <a:xfrm>
            <a:off x="6400800" y="4251960"/>
            <a:ext cx="5212080" cy="1920240"/>
          </a:xfrm>
          <a:prstGeom prst="roundRect">
            <a:avLst>
              <a:gd name="adj" fmla="val 2857"/>
            </a:avLst>
          </a:prstGeom>
          <a:solidFill>
            <a:srgbClr val="1E2761"/>
          </a:solidFill>
          <a:ln/>
        </p:spPr>
      </p:sp>
      <p:sp>
        <p:nvSpPr>
          <p:cNvPr id="24" name="Text 22"/>
          <p:cNvSpPr/>
          <p:nvPr/>
        </p:nvSpPr>
        <p:spPr>
          <a:xfrm>
            <a:off x="6629400" y="4389120"/>
            <a:ext cx="475488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Central claim</a:t>
            </a:r>
            <a:endParaRPr lang="en-US" sz="1300" dirty="0"/>
          </a:p>
        </p:txBody>
      </p:sp>
      <p:sp>
        <p:nvSpPr>
          <p:cNvPr id="25" name="Text 23"/>
          <p:cNvSpPr/>
          <p:nvPr/>
        </p:nvSpPr>
        <p:spPr>
          <a:xfrm>
            <a:off x="6629400" y="4709160"/>
            <a:ext cx="4754880" cy="13716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Closing the loop is a workflow-and-governance problem. The missing primitives are a measured outcome contract and a perishable learning memory — not a better dashboard.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Research questions and method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Design Science Research (Hevner 2004; Peffers 2007) — the artifact is the research output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1E2761"/>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508760"/>
          </a:xfrm>
          <a:prstGeom prst="roundRect">
            <a:avLst>
              <a:gd name="adj" fmla="val 3636"/>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RQ1 · Core</a:t>
            </a:r>
            <a:endParaRPr lang="en-US" sz="1350" dirty="0"/>
          </a:p>
        </p:txBody>
      </p:sp>
      <p:sp>
        <p:nvSpPr>
          <p:cNvPr id="14" name="Text 12"/>
          <p:cNvSpPr/>
          <p:nvPr/>
        </p:nvSpPr>
        <p:spPr>
          <a:xfrm>
            <a:off x="685800" y="198424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can an artifact make actions governed, executed and VERIFIED to have closed — with reusable learning?</a:t>
            </a:r>
            <a:endParaRPr lang="en-US" sz="1150" dirty="0"/>
          </a:p>
        </p:txBody>
      </p:sp>
      <p:sp>
        <p:nvSpPr>
          <p:cNvPr id="15" name="Shape 13"/>
          <p:cNvSpPr/>
          <p:nvPr/>
        </p:nvSpPr>
        <p:spPr>
          <a:xfrm>
            <a:off x="6172200" y="1600200"/>
            <a:ext cx="5440680" cy="1508760"/>
          </a:xfrm>
          <a:prstGeom prst="roundRect">
            <a:avLst>
              <a:gd name="adj" fmla="val 3636"/>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RQ2 · Governance</a:t>
            </a:r>
            <a:endParaRPr lang="en-US" sz="1350" dirty="0"/>
          </a:p>
        </p:txBody>
      </p:sp>
      <p:sp>
        <p:nvSpPr>
          <p:cNvPr id="17" name="Text 15"/>
          <p:cNvSpPr/>
          <p:nvPr/>
        </p:nvSpPr>
        <p:spPr>
          <a:xfrm>
            <a:off x="6309360" y="198424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What design lets autonomous action align with EU AI Act &amp; GDPR without unduly slowing practitioners?</a:t>
            </a:r>
            <a:endParaRPr lang="en-US" sz="1150" dirty="0"/>
          </a:p>
        </p:txBody>
      </p:sp>
      <p:sp>
        <p:nvSpPr>
          <p:cNvPr id="18" name="Shape 16"/>
          <p:cNvSpPr/>
          <p:nvPr/>
        </p:nvSpPr>
        <p:spPr>
          <a:xfrm>
            <a:off x="548640" y="3291840"/>
            <a:ext cx="5440680" cy="1508760"/>
          </a:xfrm>
          <a:prstGeom prst="roundRect">
            <a:avLst>
              <a:gd name="adj" fmla="val 3636"/>
            </a:avLst>
          </a:prstGeom>
          <a:solidFill>
            <a:srgbClr val="F4F7FC"/>
          </a:solidFill>
          <a:ln w="12700">
            <a:solidFill>
              <a:srgbClr val="CADCFC"/>
            </a:solidFill>
            <a:prstDash val="solid"/>
          </a:ln>
        </p:spPr>
      </p:sp>
      <p:sp>
        <p:nvSpPr>
          <p:cNvPr id="19" name="Text 17"/>
          <p:cNvSpPr/>
          <p:nvPr/>
        </p:nvSpPr>
        <p:spPr>
          <a:xfrm>
            <a:off x="685800" y="33832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 · Quantitative</a:t>
            </a:r>
            <a:endParaRPr lang="en-US" sz="1350" dirty="0"/>
          </a:p>
        </p:txBody>
      </p:sp>
      <p:sp>
        <p:nvSpPr>
          <p:cNvPr id="20" name="Text 18"/>
          <p:cNvSpPr/>
          <p:nvPr/>
        </p:nvSpPr>
        <p:spPr>
          <a:xfrm>
            <a:off x="685800" y="367588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accurately does AI enrichment/routing reproduce human labels on real feedback, across sectors &amp; languages?</a:t>
            </a:r>
            <a:endParaRPr lang="en-US" sz="1150" dirty="0"/>
          </a:p>
        </p:txBody>
      </p:sp>
      <p:sp>
        <p:nvSpPr>
          <p:cNvPr id="21" name="Shape 19"/>
          <p:cNvSpPr/>
          <p:nvPr/>
        </p:nvSpPr>
        <p:spPr>
          <a:xfrm>
            <a:off x="6172200" y="3291840"/>
            <a:ext cx="5440680" cy="1508760"/>
          </a:xfrm>
          <a:prstGeom prst="roundRect">
            <a:avLst>
              <a:gd name="adj" fmla="val 3636"/>
            </a:avLst>
          </a:prstGeom>
          <a:solidFill>
            <a:srgbClr val="F4F7FC"/>
          </a:solidFill>
          <a:ln w="12700">
            <a:solidFill>
              <a:srgbClr val="CADCFC"/>
            </a:solidFill>
            <a:prstDash val="solid"/>
          </a:ln>
        </p:spPr>
      </p:sp>
      <p:sp>
        <p:nvSpPr>
          <p:cNvPr id="22" name="Text 20"/>
          <p:cNvSpPr/>
          <p:nvPr/>
        </p:nvSpPr>
        <p:spPr>
          <a:xfrm>
            <a:off x="6309360" y="33832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RQ4 · Qualitative</a:t>
            </a:r>
            <a:endParaRPr lang="en-US" sz="1350" dirty="0"/>
          </a:p>
        </p:txBody>
      </p:sp>
      <p:sp>
        <p:nvSpPr>
          <p:cNvPr id="23" name="Text 21"/>
          <p:cNvSpPr/>
          <p:nvPr/>
        </p:nvSpPr>
        <p:spPr>
          <a:xfrm>
            <a:off x="6309360" y="367588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do practitioners judge usefulness, usability, trustworthiness? (interviews + SUS/TAM — in progress)</a:t>
            </a:r>
            <a:endParaRPr lang="en-US" sz="1150" dirty="0"/>
          </a:p>
        </p:txBody>
      </p:sp>
      <p:sp>
        <p:nvSpPr>
          <p:cNvPr id="24" name="Shape 22"/>
          <p:cNvSpPr/>
          <p:nvPr/>
        </p:nvSpPr>
        <p:spPr>
          <a:xfrm>
            <a:off x="548640" y="5120640"/>
            <a:ext cx="11064240" cy="1143000"/>
          </a:xfrm>
          <a:prstGeom prst="roundRect">
            <a:avLst>
              <a:gd name="adj" fmla="val 4800"/>
            </a:avLst>
          </a:prstGeom>
          <a:solidFill>
            <a:srgbClr val="F4F7FC"/>
          </a:solidFill>
          <a:ln w="12700">
            <a:solidFill>
              <a:srgbClr val="CADCFC"/>
            </a:solidFill>
            <a:prstDash val="solid"/>
          </a:ln>
        </p:spPr>
      </p:sp>
      <p:sp>
        <p:nvSpPr>
          <p:cNvPr id="25" name="Text 23"/>
          <p:cNvSpPr/>
          <p:nvPr/>
        </p:nvSpPr>
        <p:spPr>
          <a:xfrm>
            <a:off x="777240" y="5257800"/>
            <a:ext cx="10607040" cy="914400"/>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Method: problem-centred DSRM — problem → objectives → design &amp; build → demonstrate → evaluate → communicate. Mixed-methods evaluation: a quantitative gold-set on 188 real, multilingual signals + a practitioner study (12–15 interviews, task sessions, SUS/TAM). Design-validity claims, not statistical effects.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artifact: a governed loop, end to end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CLARA — Capture, Listen, Analyze, Respond, Adapt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1_architecture_logical.png">    </p:cNvPr>
          <p:cNvPicPr>
            <a:picLocks noChangeAspect="1"/>
          </p:cNvPicPr>
          <p:nvPr/>
        </p:nvPicPr>
        <p:blipFill>
          <a:blip r:embed="rId1"/>
          <a:stretch>
            <a:fillRect/>
          </a:stretch>
        </p:blipFill>
        <p:spPr>
          <a:xfrm>
            <a:off x="548640" y="1554480"/>
            <a:ext cx="11064240" cy="3886200"/>
          </a:xfrm>
          <a:prstGeom prst="rect">
            <a:avLst/>
          </a:prstGeom>
        </p:spPr>
      </p:pic>
      <p:sp>
        <p:nvSpPr>
          <p:cNvPr id="13" name="Text 10"/>
          <p:cNvSpPr/>
          <p:nvPr/>
        </p:nvSpPr>
        <p:spPr>
          <a:xfrm>
            <a:off x="548640" y="5623560"/>
            <a:ext cx="11064240" cy="77724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Deterministic code owns validation, conflict resolution, execution, audit. Language-model reasoning is confined to named, bounded stages. The points where the system can act are finite, named, individually auditable — that is what makes it governable.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Inside the build: CLARA system architecture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Next.js (Vercel) → FastAPI + LangGraph (Docker on a Hetzner EU VPS, behind Caddy) → Supabase Postgres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3_architecture_clara.png">    </p:cNvPr>
          <p:cNvPicPr>
            <a:picLocks noChangeAspect="1"/>
          </p:cNvPicPr>
          <p:nvPr/>
        </p:nvPicPr>
        <p:blipFill>
          <a:blip r:embed="rId1"/>
          <a:stretch>
            <a:fillRect/>
          </a:stretch>
        </p:blipFill>
        <p:spPr>
          <a:xfrm>
            <a:off x="548640" y="1417320"/>
            <a:ext cx="5687568" cy="4754880"/>
          </a:xfrm>
          <a:prstGeom prst="rect">
            <a:avLst/>
          </a:prstGeom>
        </p:spPr>
      </p:pic>
      <p:sp>
        <p:nvSpPr>
          <p:cNvPr id="13" name="Shape 10"/>
          <p:cNvSpPr/>
          <p:nvPr/>
        </p:nvSpPr>
        <p:spPr>
          <a:xfrm>
            <a:off x="6446520" y="1463040"/>
            <a:ext cx="5166360" cy="1481328"/>
          </a:xfrm>
          <a:prstGeom prst="roundRect">
            <a:avLst>
              <a:gd name="adj" fmla="val 3704"/>
            </a:avLst>
          </a:prstGeom>
          <a:solidFill>
            <a:srgbClr val="F4F7FC"/>
          </a:solidFill>
          <a:ln w="12700">
            <a:solidFill>
              <a:srgbClr val="CADCFC"/>
            </a:solidFill>
            <a:prstDash val="solid"/>
          </a:ln>
        </p:spPr>
      </p:sp>
      <p:sp>
        <p:nvSpPr>
          <p:cNvPr id="14" name="Text 11"/>
          <p:cNvSpPr/>
          <p:nvPr/>
        </p:nvSpPr>
        <p:spPr>
          <a:xfrm>
            <a:off x="6583680" y="1554480"/>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LangGraph runtime</a:t>
            </a:r>
            <a:endParaRPr lang="en-US" sz="1350" dirty="0"/>
          </a:p>
        </p:txBody>
      </p:sp>
      <p:sp>
        <p:nvSpPr>
          <p:cNvPr id="15" name="Text 12"/>
          <p:cNvSpPr/>
          <p:nvPr/>
        </p:nvSpPr>
        <p:spPr>
          <a:xfrm>
            <a:off x="6583680" y="1847088"/>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One typed graph: enrich → synthesize → evaluate-rules → interrupt (human approval) → execute → measure → learn. The interrupt IS the Art 14 gate — there is no code path to an external effect that bypasses it.</a:t>
            </a:r>
            <a:endParaRPr lang="en-US" sz="1150" dirty="0"/>
          </a:p>
        </p:txBody>
      </p:sp>
      <p:sp>
        <p:nvSpPr>
          <p:cNvPr id="16" name="Shape 13"/>
          <p:cNvSpPr/>
          <p:nvPr/>
        </p:nvSpPr>
        <p:spPr>
          <a:xfrm>
            <a:off x="6446520" y="3081528"/>
            <a:ext cx="5166360" cy="1481328"/>
          </a:xfrm>
          <a:prstGeom prst="roundRect">
            <a:avLst>
              <a:gd name="adj" fmla="val 3704"/>
            </a:avLst>
          </a:prstGeom>
          <a:solidFill>
            <a:srgbClr val="F4F7FC"/>
          </a:solidFill>
          <a:ln w="12700">
            <a:solidFill>
              <a:srgbClr val="CADCFC"/>
            </a:solidFill>
            <a:prstDash val="solid"/>
          </a:ln>
        </p:spPr>
      </p:sp>
      <p:sp>
        <p:nvSpPr>
          <p:cNvPr id="17" name="Text 14"/>
          <p:cNvSpPr/>
          <p:nvPr/>
        </p:nvSpPr>
        <p:spPr>
          <a:xfrm>
            <a:off x="6583680" y="3172968"/>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Deployment (production)</a:t>
            </a:r>
            <a:endParaRPr lang="en-US" sz="1350" dirty="0"/>
          </a:p>
        </p:txBody>
      </p:sp>
      <p:sp>
        <p:nvSpPr>
          <p:cNvPr id="18" name="Text 15"/>
          <p:cNvSpPr/>
          <p:nvPr/>
        </p:nvSpPr>
        <p:spPr>
          <a:xfrm>
            <a:off x="6583680" y="3465576"/>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API in Docker on a Hetzner EU VPS behind Caddy · frontend on Vercel · Supabase Postgres + pgvector, RLS tenant isolation · uptime: GitHub Actions re-runs the 17-check live smoke every 30 min.</a:t>
            </a:r>
            <a:endParaRPr lang="en-US" sz="1150" dirty="0"/>
          </a:p>
        </p:txBody>
      </p:sp>
      <p:sp>
        <p:nvSpPr>
          <p:cNvPr id="19" name="Shape 16"/>
          <p:cNvSpPr/>
          <p:nvPr/>
        </p:nvSpPr>
        <p:spPr>
          <a:xfrm>
            <a:off x="6446520" y="4700016"/>
            <a:ext cx="5166360" cy="1481328"/>
          </a:xfrm>
          <a:prstGeom prst="roundRect">
            <a:avLst>
              <a:gd name="adj" fmla="val 3704"/>
            </a:avLst>
          </a:prstGeom>
          <a:solidFill>
            <a:srgbClr val="F4F7FC"/>
          </a:solidFill>
          <a:ln w="12700">
            <a:solidFill>
              <a:srgbClr val="CADCFC"/>
            </a:solidFill>
            <a:prstDash val="solid"/>
          </a:ln>
        </p:spPr>
      </p:sp>
      <p:sp>
        <p:nvSpPr>
          <p:cNvPr id="20" name="Text 17"/>
          <p:cNvSpPr/>
          <p:nvPr/>
        </p:nvSpPr>
        <p:spPr>
          <a:xfrm>
            <a:off x="6583680" y="4791456"/>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Model &amp; observability</a:t>
            </a:r>
            <a:endParaRPr lang="en-US" sz="1350" dirty="0"/>
          </a:p>
        </p:txBody>
      </p:sp>
      <p:sp>
        <p:nvSpPr>
          <p:cNvPr id="21" name="Text 18"/>
          <p:cNvSpPr/>
          <p:nvPr/>
        </p:nvSpPr>
        <p:spPr>
          <a:xfrm>
            <a:off x="6583680" y="5084064"/>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layer speaking the OpenAI protocol — hosted, EU gateway, or self-hosted (Ollama/vLLM). Langfuse tracing on the LLM stages; severity stays deterministic code.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loop in motion: pipeline and approval sequence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LLM stages (blue) inside deterministic gates; governance touchpoints in red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4_pipeline_flow.png">    </p:cNvPr>
          <p:cNvPicPr>
            <a:picLocks noChangeAspect="1"/>
          </p:cNvPicPr>
          <p:nvPr/>
        </p:nvPicPr>
        <p:blipFill>
          <a:blip r:embed="rId1"/>
          <a:stretch>
            <a:fillRect/>
          </a:stretch>
        </p:blipFill>
        <p:spPr>
          <a:xfrm>
            <a:off x="640080" y="1463040"/>
            <a:ext cx="1874520" cy="4709160"/>
          </a:xfrm>
          <a:prstGeom prst="rect">
            <a:avLst/>
          </a:prstGeom>
        </p:spPr>
      </p:pic>
      <p:pic>
        <p:nvPicPr>
          <p:cNvPr id="13" name="Image 1" descr="/Users/olamakri/Documents/CLARA/thesis/diagrams/rendered/05_sequence_hitl.png">    </p:cNvPr>
          <p:cNvPicPr>
            <a:picLocks noChangeAspect="1"/>
          </p:cNvPicPr>
          <p:nvPr/>
        </p:nvPicPr>
        <p:blipFill>
          <a:blip r:embed="rId2"/>
          <a:stretch>
            <a:fillRect/>
          </a:stretch>
        </p:blipFill>
        <p:spPr>
          <a:xfrm>
            <a:off x="2788920" y="1600200"/>
            <a:ext cx="8732520" cy="3785616"/>
          </a:xfrm>
          <a:prstGeom prst="rect">
            <a:avLst/>
          </a:prstGeom>
        </p:spPr>
      </p:pic>
      <p:sp>
        <p:nvSpPr>
          <p:cNvPr id="14" name="Text 10"/>
          <p:cNvSpPr/>
          <p:nvPr/>
        </p:nvSpPr>
        <p:spPr>
          <a:xfrm>
            <a:off x="2788920" y="5486400"/>
            <a:ext cx="8732520" cy="914400"/>
          </a:xfrm>
          <a:prstGeom prst="rect">
            <a:avLst/>
          </a:prstGeom>
          <a:noFill/>
          <a:ln/>
        </p:spPr>
        <p:txBody>
          <a:bodyPr wrap="square"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Left: the pipeline as implemented — risk gate (auto_execute), approval queue, audit write, outcome measurement, decayed-confidence retrieval feeding rule matching. Right: the same lifecycle as a sequence — approval interrupt, audit record, outcome contract set BEFORE measurement, re-measure after the window, codify learning, retrieve on the next similar decision.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Data model: the loop is a schema, not a convention</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ER view (runnable DDL in diagrams/schema.sql) — contracts and learnings are first-class tables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13" name="Shape 10"/>
          <p:cNvSpPr/>
          <p:nvPr/>
        </p:nvSpPr>
        <p:spPr>
          <a:xfrm>
            <a:off x="3429000" y="1554480"/>
            <a:ext cx="8138160" cy="1371600"/>
          </a:xfrm>
          <a:prstGeom prst="roundRect">
            <a:avLst>
              <a:gd name="adj" fmla="val 4000"/>
            </a:avLst>
          </a:prstGeom>
          <a:solidFill>
            <a:srgbClr val="F4F7FC"/>
          </a:solidFill>
          <a:ln w="12700">
            <a:solidFill>
              <a:srgbClr val="CADCFC"/>
            </a:solidFill>
            <a:prstDash val="solid"/>
          </a:ln>
        </p:spPr>
      </p:sp>
      <p:sp>
        <p:nvSpPr>
          <p:cNvPr id="14" name="Text 11"/>
          <p:cNvSpPr/>
          <p:nvPr/>
        </p:nvSpPr>
        <p:spPr>
          <a:xfrm>
            <a:off x="3566160" y="164592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Closure as referential integrity</a:t>
            </a:r>
            <a:endParaRPr lang="en-US" sz="1350" dirty="0"/>
          </a:p>
        </p:txBody>
      </p:sp>
      <p:sp>
        <p:nvSpPr>
          <p:cNvPr id="15" name="Text 12"/>
          <p:cNvSpPr/>
          <p:nvPr/>
        </p:nvSpPr>
        <p:spPr>
          <a:xfrm>
            <a:off x="3566160" y="193852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actions_log binds 1:1 to outcome_contracts AT CREATION; outcome_measurements grade closure (operational → customer → outcome). "Closed" is a row with evidence, not a status flag.</a:t>
            </a:r>
            <a:endParaRPr lang="en-US" sz="1150" dirty="0"/>
          </a:p>
        </p:txBody>
      </p:sp>
      <p:sp>
        <p:nvSpPr>
          <p:cNvPr id="16" name="Shape 13"/>
          <p:cNvSpPr/>
          <p:nvPr/>
        </p:nvSpPr>
        <p:spPr>
          <a:xfrm>
            <a:off x="3429000" y="3063240"/>
            <a:ext cx="8138160" cy="1371600"/>
          </a:xfrm>
          <a:prstGeom prst="roundRect">
            <a:avLst>
              <a:gd name="adj" fmla="val 4000"/>
            </a:avLst>
          </a:prstGeom>
          <a:solidFill>
            <a:srgbClr val="F4F7FC"/>
          </a:solidFill>
          <a:ln w="12700">
            <a:solidFill>
              <a:srgbClr val="CADCFC"/>
            </a:solidFill>
            <a:prstDash val="solid"/>
          </a:ln>
        </p:spPr>
      </p:sp>
      <p:sp>
        <p:nvSpPr>
          <p:cNvPr id="17" name="Text 14"/>
          <p:cNvSpPr/>
          <p:nvPr/>
        </p:nvSpPr>
        <p:spPr>
          <a:xfrm>
            <a:off x="3566160" y="315468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Memory as data</a:t>
            </a:r>
            <a:endParaRPr lang="en-US" sz="1350" dirty="0"/>
          </a:p>
        </p:txBody>
      </p:sp>
      <p:sp>
        <p:nvSpPr>
          <p:cNvPr id="18" name="Text 15"/>
          <p:cNvSpPr/>
          <p:nvPr/>
        </p:nvSpPr>
        <p:spPr>
          <a:xfrm>
            <a:off x="3566160" y="344728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ab_learnings carry base_confidence + half_life_days — decay is computed from columns, auditable by query. Taxonomy nodes carry the same decay fields for theme drift.</a:t>
            </a:r>
            <a:endParaRPr lang="en-US" sz="1150" dirty="0"/>
          </a:p>
        </p:txBody>
      </p:sp>
      <p:sp>
        <p:nvSpPr>
          <p:cNvPr id="19" name="Shape 16"/>
          <p:cNvSpPr/>
          <p:nvPr/>
        </p:nvSpPr>
        <p:spPr>
          <a:xfrm>
            <a:off x="3429000" y="4572000"/>
            <a:ext cx="8138160" cy="1371600"/>
          </a:xfrm>
          <a:prstGeom prst="roundRect">
            <a:avLst>
              <a:gd name="adj" fmla="val 4000"/>
            </a:avLst>
          </a:prstGeom>
          <a:solidFill>
            <a:srgbClr val="F4F7FC"/>
          </a:solidFill>
          <a:ln w="12700">
            <a:solidFill>
              <a:srgbClr val="CADCFC"/>
            </a:solidFill>
            <a:prstDash val="solid"/>
          </a:ln>
        </p:spPr>
      </p:sp>
      <p:sp>
        <p:nvSpPr>
          <p:cNvPr id="20" name="Text 17"/>
          <p:cNvSpPr/>
          <p:nvPr/>
        </p:nvSpPr>
        <p:spPr>
          <a:xfrm>
            <a:off x="3566160" y="466344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Tenancy &amp; evolution</a:t>
            </a:r>
            <a:endParaRPr lang="en-US" sz="1350" dirty="0"/>
          </a:p>
        </p:txBody>
      </p:sp>
      <p:sp>
        <p:nvSpPr>
          <p:cNvPr id="21" name="Text 18"/>
          <p:cNvSpPr/>
          <p:nvPr/>
        </p:nvSpPr>
        <p:spPr>
          <a:xfrm>
            <a:off x="3566160" y="495604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table workspace-scoped, enforced by Postgres RLS below the app layer. Domain objects as jsonb payloads + promoted columns — one store contract across SQLite (dev), in-memory (tests), Postgres (prod).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Five design decisions the literature doesn't resolve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Each implemented, grounded, and stated with its cost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3593592"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Rule conflict resolution</a:t>
            </a:r>
            <a:endParaRPr lang="en-US" sz="1350" dirty="0"/>
          </a:p>
        </p:txBody>
      </p:sp>
      <p:sp>
        <p:nvSpPr>
          <p:cNvPr id="14" name="Text 12"/>
          <p:cNvSpPr/>
          <p:nvPr/>
        </p:nvSpPr>
        <p:spPr>
          <a:xfrm>
            <a:off x="685800"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Priority → specificity → action-type dedupe; superseded rules logged. Cost: config debt — entrenches a wrong rule as faithfully as a right one.</a:t>
            </a:r>
            <a:endParaRPr lang="en-US" sz="1150" dirty="0"/>
          </a:p>
        </p:txBody>
      </p:sp>
      <p:sp>
        <p:nvSpPr>
          <p:cNvPr id="15" name="Shape 13"/>
          <p:cNvSpPr/>
          <p:nvPr/>
        </p:nvSpPr>
        <p:spPr>
          <a:xfrm>
            <a:off x="4325112" y="1600200"/>
            <a:ext cx="3593592"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4462272"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Confidence decay in learnings</a:t>
            </a:r>
            <a:endParaRPr lang="en-US" sz="1350" dirty="0"/>
          </a:p>
        </p:txBody>
      </p:sp>
      <p:sp>
        <p:nvSpPr>
          <p:cNvPr id="17" name="Text 15"/>
          <p:cNvSpPr/>
          <p:nvPr/>
        </p:nvSpPr>
        <p:spPr>
          <a:xfrm>
            <a:off x="4462272"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Memory as perishable: base × 0.5^(age/half-life). Prior art bounded: MemoryBank decays chat memory; ours decays ACTION-OUTCOME evidence. Cost: the half-life is a guess.</a:t>
            </a:r>
            <a:endParaRPr lang="en-US" sz="1150" dirty="0"/>
          </a:p>
        </p:txBody>
      </p:sp>
      <p:sp>
        <p:nvSpPr>
          <p:cNvPr id="18" name="Shape 16"/>
          <p:cNvSpPr/>
          <p:nvPr/>
        </p:nvSpPr>
        <p:spPr>
          <a:xfrm>
            <a:off x="8101584" y="1600200"/>
            <a:ext cx="3593592"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8238744"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Cross-signal severity</a:t>
            </a:r>
            <a:endParaRPr lang="en-US" sz="1350" dirty="0"/>
          </a:p>
        </p:txBody>
      </p:sp>
      <p:sp>
        <p:nvSpPr>
          <p:cNvPr id="20" name="Text 18"/>
          <p:cNvSpPr/>
          <p:nvPr/>
        </p:nvSpPr>
        <p:spPr>
          <a:xfrm>
            <a:off x="8238744"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Severity from the corroborating SET (urgency, volume, sentiment), not the loudest voice. Cost: can bury the rare catastrophic single signal — needs an override.</a:t>
            </a:r>
            <a:endParaRPr lang="en-US" sz="1150" dirty="0"/>
          </a:p>
        </p:txBody>
      </p:sp>
      <p:sp>
        <p:nvSpPr>
          <p:cNvPr id="21" name="Shape 19"/>
          <p:cNvSpPr/>
          <p:nvPr/>
        </p:nvSpPr>
        <p:spPr>
          <a:xfrm>
            <a:off x="548640" y="3749040"/>
            <a:ext cx="3593592"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85800"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Past-learnings retrieval</a:t>
            </a:r>
            <a:endParaRPr lang="en-US" sz="1350" dirty="0"/>
          </a:p>
        </p:txBody>
      </p:sp>
      <p:sp>
        <p:nvSpPr>
          <p:cNvPr id="23" name="Text 21"/>
          <p:cNvSpPr/>
          <p:nvPr/>
        </p:nvSpPr>
        <p:spPr>
          <a:xfrm>
            <a:off x="685800"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Decayed-confidence retrieval into new decisions (CBR lineage). Cost: retrieval quality gates usefulness.</a:t>
            </a:r>
            <a:endParaRPr lang="en-US" sz="1150" dirty="0"/>
          </a:p>
        </p:txBody>
      </p:sp>
      <p:sp>
        <p:nvSpPr>
          <p:cNvPr id="24" name="Shape 22"/>
          <p:cNvSpPr/>
          <p:nvPr/>
        </p:nvSpPr>
        <p:spPr>
          <a:xfrm>
            <a:off x="4325112" y="3749040"/>
            <a:ext cx="3593592" cy="1965960"/>
          </a:xfrm>
          <a:prstGeom prst="roundRect">
            <a:avLst>
              <a:gd name="adj" fmla="val 2791"/>
            </a:avLst>
          </a:prstGeom>
          <a:solidFill>
            <a:srgbClr val="F4F7FC"/>
          </a:solidFill>
          <a:ln w="12700">
            <a:solidFill>
              <a:srgbClr val="CADCFC"/>
            </a:solidFill>
            <a:prstDash val="solid"/>
          </a:ln>
        </p:spPr>
      </p:sp>
      <p:sp>
        <p:nvSpPr>
          <p:cNvPr id="25" name="Text 23"/>
          <p:cNvSpPr/>
          <p:nvPr/>
        </p:nvSpPr>
        <p:spPr>
          <a:xfrm>
            <a:off x="4462272"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Per-industry profiles</a:t>
            </a:r>
            <a:endParaRPr lang="en-US" sz="1350" dirty="0"/>
          </a:p>
        </p:txBody>
      </p:sp>
      <p:sp>
        <p:nvSpPr>
          <p:cNvPr id="26" name="Text 24"/>
          <p:cNvSpPr/>
          <p:nvPr/>
        </p:nvSpPr>
        <p:spPr>
          <a:xfrm>
            <a:off x="4462272"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Adaptation by configuration, not fine-tuning: weight overlays per sector. Cost: authored priors can encode stereotypes; inspectability is the safeguard.</a:t>
            </a:r>
            <a:endParaRPr lang="en-US" sz="1150" dirty="0"/>
          </a:p>
        </p:txBody>
      </p:sp>
      <p:sp>
        <p:nvSpPr>
          <p:cNvPr id="27" name="Shape 25"/>
          <p:cNvSpPr/>
          <p:nvPr/>
        </p:nvSpPr>
        <p:spPr>
          <a:xfrm>
            <a:off x="8101584" y="3749040"/>
            <a:ext cx="3538728" cy="1965960"/>
          </a:xfrm>
          <a:prstGeom prst="roundRect">
            <a:avLst>
              <a:gd name="adj" fmla="val 2791"/>
            </a:avLst>
          </a:prstGeom>
          <a:solidFill>
            <a:srgbClr val="1E2761"/>
          </a:solidFill>
          <a:ln/>
        </p:spPr>
      </p:sp>
      <p:sp>
        <p:nvSpPr>
          <p:cNvPr id="28" name="Text 26"/>
          <p:cNvSpPr/>
          <p:nvPr/>
        </p:nvSpPr>
        <p:spPr>
          <a:xfrm>
            <a:off x="8275320" y="3886200"/>
            <a:ext cx="32004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costs?</a:t>
            </a:r>
            <a:endParaRPr lang="en-US" sz="1300" dirty="0"/>
          </a:p>
        </p:txBody>
      </p:sp>
      <p:sp>
        <p:nvSpPr>
          <p:cNvPr id="29" name="Text 27"/>
          <p:cNvSpPr/>
          <p:nvPr/>
        </p:nvSpPr>
        <p:spPr>
          <a:xfrm>
            <a:off x="8275320" y="4224528"/>
            <a:ext cx="3200400" cy="13716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design principle that buys something for nothing is a platitude. Stating the cost is what makes each decision defensible.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Responsible AI as a property of the loop</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Not a compliance module — the loop itself is the control surface</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Human approval · Art 14+</a:t>
            </a:r>
            <a:endParaRPr lang="en-US" sz="1350" dirty="0"/>
          </a:p>
        </p:txBody>
      </p:sp>
      <p:sp>
        <p:nvSpPr>
          <p:cNvPr id="14" name="Text 12"/>
          <p:cNvSpPr/>
          <p:nvPr/>
        </p:nvSpPr>
        <p:spPr>
          <a:xfrm>
            <a:off x="68580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auto_execute=false ⇒ pending approval. Designed BEYOND Art 14: friction, evidence &amp; confidence shown, per-decision attribution (meaningful human control — Siebert 2023; automation-bias critique — Laux &amp; Ruschemeier 2025).</a:t>
            </a:r>
            <a:endParaRPr lang="en-US" sz="1150" dirty="0"/>
          </a:p>
        </p:txBody>
      </p:sp>
      <p:sp>
        <p:nvSpPr>
          <p:cNvPr id="15" name="Shape 13"/>
          <p:cNvSpPr/>
          <p:nvPr/>
        </p:nvSpPr>
        <p:spPr>
          <a:xfrm>
            <a:off x="6172200" y="1600200"/>
            <a:ext cx="5440680"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trail · Art 12</a:t>
            </a:r>
            <a:endParaRPr lang="en-US" sz="1350" dirty="0"/>
          </a:p>
        </p:txBody>
      </p:sp>
      <p:sp>
        <p:nvSpPr>
          <p:cNvPr id="17" name="Text 15"/>
          <p:cNvSpPr/>
          <p:nvPr/>
        </p:nvSpPr>
        <p:spPr>
          <a:xfrm>
            <a:off x="630936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action: rule, params, executor, result. Review-then-harden finding: declared controls ≠ enforced controls until adversarially verified.</a:t>
            </a:r>
            <a:endParaRPr lang="en-US" sz="1150" dirty="0"/>
          </a:p>
        </p:txBody>
      </p:sp>
      <p:sp>
        <p:nvSpPr>
          <p:cNvPr id="18" name="Shape 16"/>
          <p:cNvSpPr/>
          <p:nvPr/>
        </p:nvSpPr>
        <p:spPr>
          <a:xfrm>
            <a:off x="548640" y="3749040"/>
            <a:ext cx="5440680"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68580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Transparency · Art 50</a:t>
            </a:r>
            <a:endParaRPr lang="en-US" sz="1350" dirty="0"/>
          </a:p>
        </p:txBody>
      </p:sp>
      <p:sp>
        <p:nvSpPr>
          <p:cNvPr id="20" name="Text 18"/>
          <p:cNvSpPr/>
          <p:nvPr/>
        </p:nvSpPr>
        <p:spPr>
          <a:xfrm>
            <a:off x="68580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AI outputs labelled with provenance. Human editorial review = the Art 50(4) exemption mechanism — the approval gate IS the compliance artifact.</a:t>
            </a:r>
            <a:endParaRPr lang="en-US" sz="1150" dirty="0"/>
          </a:p>
        </p:txBody>
      </p:sp>
      <p:sp>
        <p:nvSpPr>
          <p:cNvPr id="21" name="Shape 19"/>
          <p:cNvSpPr/>
          <p:nvPr/>
        </p:nvSpPr>
        <p:spPr>
          <a:xfrm>
            <a:off x="6172200" y="3749040"/>
            <a:ext cx="5440680"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30936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Sovereignty &amp; GDPR</a:t>
            </a:r>
            <a:endParaRPr lang="en-US" sz="1350" dirty="0"/>
          </a:p>
        </p:txBody>
      </p:sp>
      <p:sp>
        <p:nvSpPr>
          <p:cNvPr id="23" name="Text 21"/>
          <p:cNvSpPr/>
          <p:nvPr/>
        </p:nvSpPr>
        <p:spPr>
          <a:xfrm>
            <a:off x="630936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 self-hostable, EU-resident. PII masking, retention limits, workspace RLS. Sentiment on text is NOT 'emotion recognition' (Art 3(39): biometric only).</a:t>
            </a:r>
            <a:endParaRPr lang="en-US" sz="1150" dirty="0"/>
          </a:p>
        </p:txBody>
      </p:sp>
      <p:sp>
        <p:nvSpPr>
          <p:cNvPr id="24" name="Text 22"/>
          <p:cNvSpPr/>
          <p:nvPr/>
        </p:nvSpPr>
        <p:spPr>
          <a:xfrm>
            <a:off x="548640" y="5897880"/>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Measured closure has three levels: operational (ticket done) → customer (reporter notified) → outcome (metric moved). "Closed" means the third.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Progress since mid-July (1/2): security, sessions, governance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17–19 Jul hardening sprint — all merged to main; commit hashes in the notes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Security &amp; sessions</a:t>
            </a:r>
            <a:endParaRPr lang="en-US" sz="1600" dirty="0"/>
          </a:p>
        </p:txBody>
      </p:sp>
      <p:sp>
        <p:nvSpPr>
          <p:cNvPr id="13" name="Text 11"/>
          <p:cNvSpPr/>
          <p:nvPr/>
        </p:nvSpPr>
        <p:spPr>
          <a:xfrm>
            <a:off x="731520" y="1810512"/>
            <a:ext cx="530352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TOTP MFA + HttpOnly cookie sessions — login challenge on the cookie-auth routes; tokens out of localStorage; AAL2 enforcement flag ready</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Opt-in per-client rate limiting, hardened after two adversarial audits — keyed on network address behind the trusted proxy (client headers can't mint fresh buckets); memory-bounded; auth dependency now fails closed by default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Connector secrets encrypted at rest — Fernet envelope (enc:v1), loud failure if the key is absent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Founder-owner bootstrap fix — the operator can no longer be locked out of their own workspace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Scheduled uptime monitor — GitHub Actions re-runs the 17-check live smoke every 30 min; two consecutive failures open an issue, auto-closed on recovery</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Governance &amp; audit</a:t>
            </a:r>
            <a:endParaRPr lang="en-US" sz="1600" dirty="0"/>
          </a:p>
        </p:txBody>
      </p:sp>
      <p:sp>
        <p:nvSpPr>
          <p:cNvPr id="15" name="Text 13"/>
          <p:cNvSpPr/>
          <p:nvPr/>
        </p:nvSpPr>
        <p:spPr>
          <a:xfrm>
            <a:off x="6583680" y="1810512"/>
            <a:ext cx="502920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Four-eyes approvals (opt-in) — two distinct approvers, self-confirmation rejected; reviewer identity JWT-bound, never client-supplied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Evidence-pack tamper evidence — canonical sha256 stamped onto the ApprovalRecord at decision time; changed evidence is provable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Guardrail measurement — declared guardrails are now measured at every checkpoint; unmeasurable ones surface an explicit 'no data source' marker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Public trust surface — Security &amp; Trust page live; /pricing + legal pages staged behind fail-closed launch flags</a:t>
            </a:r>
            <a:endParaRPr lang="en-US" sz="1150" dirty="0"/>
          </a:p>
        </p:txBody>
      </p:sp>
      <p:sp>
        <p:nvSpPr>
          <p:cNvPr id="16" name="Shape 14"/>
          <p:cNvSpPr/>
          <p:nvPr/>
        </p:nvSpPr>
        <p:spPr>
          <a:xfrm>
            <a:off x="548640" y="5532120"/>
            <a:ext cx="11064240" cy="868680"/>
          </a:xfrm>
          <a:prstGeom prst="roundRect">
            <a:avLst>
              <a:gd name="adj" fmla="val 6316"/>
            </a:avLst>
          </a:prstGeom>
          <a:solidFill>
            <a:srgbClr val="1E2761"/>
          </a:solidFill>
          <a:ln/>
        </p:spPr>
      </p:sp>
      <p:sp>
        <p:nvSpPr>
          <p:cNvPr id="17" name="Text 15"/>
          <p:cNvSpPr/>
          <p:nvPr/>
        </p:nvSpPr>
        <p:spPr>
          <a:xfrm>
            <a:off x="777240" y="5641848"/>
            <a:ext cx="10607040"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Pattern: review-then-harden. Two independent adversarial audits of the July merges produced the rate-limiter and fail-closed fixes — declared controls ≠ enforced controls until verified.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Progress since mid-July (2/2): evaluation &amp; platform</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Eval-improve iterations measured on the committed golden set; platform work aimed at pilots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Evaluation</a:t>
            </a:r>
            <a:endParaRPr lang="en-US" sz="1600" dirty="0"/>
          </a:p>
        </p:txBody>
      </p:sp>
      <p:sp>
        <p:nvSpPr>
          <p:cNvPr id="13" name="Text 11"/>
          <p:cNvSpPr/>
          <p:nvPr/>
        </p:nvSpPr>
        <p:spPr>
          <a:xfrm>
            <a:off x="731520" y="1810512"/>
            <a:ext cx="530352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Golden set 80 → 100 bilingual (72 EN / 28 DE); DE gold completed to the two-tag rubric; the n=100 run published to the model card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Published: sentiment 97% (CI 93–100) · urgency 90% (CI 84–95) · tag F1 by meaning 82.7%; DE within ~1pp of EN on urgency (89.3 vs 90.3)</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Urgency exemplar effect now significant — 83%→90%, in-run paired McNemar p=0.039 (was p=0.219 at n=80), after a churn-musing calibration exemplar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German few-shot exemplars (leakage-free) + lexical tag canonicalization at enrichment — measured: 2/80 items touched, both toward gold, zero regressions</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Per-item eval persistence — full per-item predictions kept per run, so future model-score calibration can pool dated runs</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Platform &amp; connectors</a:t>
            </a:r>
            <a:endParaRPr lang="en-US" sz="1600" dirty="0"/>
          </a:p>
        </p:txBody>
      </p:sp>
      <p:sp>
        <p:nvSpPr>
          <p:cNvPr id="15" name="Text 13"/>
          <p:cNvSpPr/>
          <p:nvPr/>
        </p:nvSpPr>
        <p:spPr>
          <a:xfrm>
            <a:off x="6583680" y="1810512"/>
            <a:ext cx="502920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Enrichment tags persisted on signal records + per-entity top_tags and rollup — supplier/product scorecards without a CDP</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Deterministic churn save-desk routing — leaving-intent tags at high/critical urgency always carry a customer_recovery proposal, inserted by code (auditable), still through the approval gate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App Store connector hardened against live-feed quirks — per-page retries with backoff, empty-first-page retry, 404-as-end-of-feed, de/at/ch storefront defaults</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MCP server productized — 8 read-only tools under API-key auth, + model card &amp; evidence pack; write actions deliberately excluded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Feature catalog — 35 features + 12 prioritized improvements with design rationale vs alternatives (docs/features.md); six improvements already landed</a:t>
            </a:r>
            <a:endParaRPr lang="en-US" sz="1150" dirty="0"/>
          </a:p>
        </p:txBody>
      </p:sp>
      <p:sp>
        <p:nvSpPr>
          <p:cNvPr id="16" name="Shape 14"/>
          <p:cNvSpPr/>
          <p:nvPr/>
        </p:nvSpPr>
        <p:spPr>
          <a:xfrm>
            <a:off x="548640" y="5532120"/>
            <a:ext cx="11064240" cy="868680"/>
          </a:xfrm>
          <a:prstGeom prst="roundRect">
            <a:avLst>
              <a:gd name="adj" fmla="val 6316"/>
            </a:avLst>
          </a:prstGeom>
          <a:solidFill>
            <a:srgbClr val="F4F7FC"/>
          </a:solidFill>
          <a:ln w="12700">
            <a:solidFill>
              <a:srgbClr val="CADCFC"/>
            </a:solidFill>
            <a:prstDash val="solid"/>
          </a:ln>
        </p:spPr>
      </p:sp>
      <p:sp>
        <p:nvSpPr>
          <p:cNvPr id="17" name="Text 15"/>
          <p:cNvSpPr/>
          <p:nvPr/>
        </p:nvSpPr>
        <p:spPr>
          <a:xfrm>
            <a:off x="777240" y="5641848"/>
            <a:ext cx="10607040" cy="6858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Method note: every evaluation change above shipped as one measured iteration — gap → root cause → intervention → in-run paired A/B — with the negative result (p=0.219 at n=80) reported, not re-rolled.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Evaluation: two independent streams</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Objective accuracy × practitioner judgement — neither alone suffices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7_evaluation_pipeline.png">    </p:cNvPr>
          <p:cNvPicPr>
            <a:picLocks noChangeAspect="1"/>
          </p:cNvPicPr>
          <p:nvPr/>
        </p:nvPicPr>
        <p:blipFill>
          <a:blip r:embed="rId1"/>
          <a:stretch>
            <a:fillRect/>
          </a:stretch>
        </p:blipFill>
        <p:spPr>
          <a:xfrm>
            <a:off x="548640" y="1600200"/>
            <a:ext cx="9509760" cy="3703320"/>
          </a:xfrm>
          <a:prstGeom prst="rect">
            <a:avLst/>
          </a:prstGeom>
        </p:spPr>
      </p:pic>
      <p:sp>
        <p:nvSpPr>
          <p:cNvPr id="13" name="Text 10"/>
          <p:cNvSpPr/>
          <p:nvPr/>
        </p:nvSpPr>
        <p:spPr>
          <a:xfrm>
            <a:off x="548640" y="5486400"/>
            <a:ext cx="11064240" cy="7772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188 real, public, paraphrased signals · 3 sectors (fintech / food delivery / B2B industrial) · EN+DE · human seed labels, authored independently of the artifact. Plus: the artifact's own committed in-repo evaluation (100-case bilingual golden set — 72 EN / 28 DE, live LLM, published metrics) as convergent evidence.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1: triage accuracy is method-dependent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Naive methods fail on real multilingual feedback; learned models are necessary</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3108960"/>
                <a:gridCol w="1783080"/>
                <a:gridCol w="1783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acc (n=153)</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Risk macro-F1 (n=106)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Lexicon / 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TF-IDF + LogReg (5-fold CV)</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LLM path (in-repo, 100-case bilingual golden set)</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0.97 (sentiment)</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0.90 (urgency)</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794760"/>
            <a:ext cx="6675120" cy="10058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Why the floor fails: paraphrased operational complaints ("transaction history cannot be exported…") carry no sentiment words — 58 of 94 negatives misread as neutral. Substantive finding, not a strawman.</a:t>
            </a:r>
            <a:endParaRPr lang="en-US" sz="1300" dirty="0"/>
          </a:p>
        </p:txBody>
      </p:sp>
      <p:sp>
        <p:nvSpPr>
          <p:cNvPr id="14" name="Text 11"/>
          <p:cNvSpPr/>
          <p:nvPr/>
        </p:nvSpPr>
        <p:spPr>
          <a:xfrm>
            <a:off x="548640" y="4846320"/>
            <a:ext cx="6675120" cy="1234440"/>
          </a:xfrm>
          <a:prstGeom prst="rect">
            <a:avLst/>
          </a:prstGeom>
          <a:noFill/>
          <a:ln/>
        </p:spPr>
        <p:txBody>
          <a:bodyPr wrap="square" rtlCol="0" anchor="ctr"/>
          <a:lstStyle/>
          <a:p>
            <a:pPr indent="0" marL="0">
              <a:buNone/>
            </a:pPr>
            <a:r>
              <a:rPr lang="en-US" sz="1300" dirty="0">
                <a:solidFill>
                  <a:srgbClr val="1E2761"/>
                </a:solidFill>
                <a:latin typeface="Calibri" pitchFamily="34" charset="0"/>
                <a:ea typeface="Calibri" pitchFamily="34" charset="-122"/>
                <a:cs typeface="Calibri" pitchFamily="34" charset="-120"/>
              </a:rPr>
              <a:t>Published in-repo run (CLARA, GLM-5.2, 18 Jul 2026, n=100 incl. 28 DE): sentiment 97.0% (CI 93–100) · urgency 90.0% (CI 84–95) · tag F1 82.7% by meaning vs 21–28% exact-set — semantic scoring vindicated; DE within ~1pp of EN on urgency. Real-data star-proxy: ≈90% across all three sectors, zero fine-tuning.</a:t>
            </a:r>
            <a:endParaRPr lang="en-US" sz="1300" dirty="0"/>
          </a:p>
        </p:txBody>
      </p:sp>
      <p:pic>
        <p:nvPicPr>
          <p:cNvPr id="15" name="Image 0" descr="/Users/olamakri/Documents/CLARA/thesis/evaluation/results/risk_confusion.png">    </p:cNvPr>
          <p:cNvPicPr>
            <a:picLocks noChangeAspect="1"/>
          </p:cNvPicPr>
          <p:nvPr/>
        </p:nvPicPr>
        <p:blipFill>
          <a:blip r:embed="rId1"/>
          <a:stretch>
            <a:fillRect/>
          </a:stretch>
        </p:blipFill>
        <p:spPr>
          <a:xfrm>
            <a:off x="7635240" y="1645920"/>
            <a:ext cx="3931920" cy="3493008"/>
          </a:xfrm>
          <a:prstGeom prst="rect">
            <a:avLst/>
          </a:prstGeom>
        </p:spPr>
      </p:pic>
      <p:sp>
        <p:nvSpPr>
          <p:cNvPr id="16" name="Text 12"/>
          <p:cNvSpPr/>
          <p:nvPr/>
        </p:nvSpPr>
        <p:spPr>
          <a:xfrm>
            <a:off x="7635240" y="5257800"/>
            <a:ext cx="3931920" cy="731520"/>
          </a:xfrm>
          <a:prstGeom prst="rect">
            <a:avLst/>
          </a:prstGeom>
          <a:noFill/>
          <a:ln/>
        </p:spPr>
        <p:txBody>
          <a:bodyPr wrap="square"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Keyword floor collapses risk to "low" — 19 of 27 critical signals missed.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2: the memory steers, honestly bounded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perishable-learning mechanism, instrumented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21% → 71%</a:t>
            </a:r>
            <a:endParaRPr lang="en-US" sz="5400" dirty="0"/>
          </a:p>
        </p:txBody>
      </p:sp>
      <p:sp>
        <p:nvSpPr>
          <p:cNvPr id="13" name="Text 11"/>
          <p:cNvSpPr/>
          <p:nvPr/>
        </p:nvSpPr>
        <p:spPr>
          <a:xfrm>
            <a:off x="73152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share of a past remedy appearing in the new recommendation when retrieval is ON (66.7% adoption)</a:t>
            </a:r>
            <a:endParaRPr lang="en-US" sz="1250" dirty="0"/>
          </a:p>
        </p:txBody>
      </p:sp>
      <p:sp>
        <p:nvSpPr>
          <p:cNvPr id="14" name="Text 12"/>
          <p:cNvSpPr/>
          <p:nvPr/>
        </p:nvSpPr>
        <p:spPr>
          <a:xfrm>
            <a:off x="4434840" y="201168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0.503</a:t>
            </a:r>
            <a:endParaRPr lang="en-US" sz="5400" dirty="0"/>
          </a:p>
        </p:txBody>
      </p:sp>
      <p:sp>
        <p:nvSpPr>
          <p:cNvPr id="15" name="Text 13"/>
          <p:cNvSpPr/>
          <p:nvPr/>
        </p:nvSpPr>
        <p:spPr>
          <a:xfrm>
            <a:off x="443484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alignment lift vs a same-run noise floor that absorbs model jitter</a:t>
            </a:r>
            <a:endParaRPr lang="en-US" sz="1250" dirty="0"/>
          </a:p>
        </p:txBody>
      </p:sp>
      <p:sp>
        <p:nvSpPr>
          <p:cNvPr id="16" name="Text 14"/>
          <p:cNvSpPr/>
          <p:nvPr/>
        </p:nvSpPr>
        <p:spPr>
          <a:xfrm>
            <a:off x="813816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0 / 2.5%</a:t>
            </a:r>
            <a:endParaRPr lang="en-US" sz="5400" dirty="0"/>
          </a:p>
        </p:txBody>
      </p:sp>
      <p:sp>
        <p:nvSpPr>
          <p:cNvPr id="17" name="Text 15"/>
          <p:cNvSpPr/>
          <p:nvPr/>
        </p:nvSpPr>
        <p:spPr>
          <a:xfrm>
            <a:off x="813816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PII leaks across ledger / hallucination rate, 17-Jul published snapshot (hallucination check EN-scope by construction)</a:t>
            </a:r>
            <a:endParaRPr lang="en-US" sz="1250" dirty="0"/>
          </a:p>
        </p:txBody>
      </p:sp>
      <p:sp>
        <p:nvSpPr>
          <p:cNvPr id="18" name="Shape 16"/>
          <p:cNvSpPr/>
          <p:nvPr/>
        </p:nvSpPr>
        <p:spPr>
          <a:xfrm>
            <a:off x="731520" y="4206240"/>
            <a:ext cx="10698480" cy="1828800"/>
          </a:xfrm>
          <a:prstGeom prst="roundRect">
            <a:avLst>
              <a:gd name="adj" fmla="val 3000"/>
            </a:avLst>
          </a:prstGeom>
          <a:solidFill>
            <a:srgbClr val="FDF3F3"/>
          </a:solidFill>
          <a:ln w="12700">
            <a:solidFill>
              <a:srgbClr val="990011"/>
            </a:solidFill>
            <a:prstDash val="solid"/>
          </a:ln>
        </p:spPr>
      </p:sp>
      <p:sp>
        <p:nvSpPr>
          <p:cNvPr id="19" name="Text 17"/>
          <p:cNvSpPr/>
          <p:nvPr/>
        </p:nvSpPr>
        <p:spPr>
          <a:xfrm>
            <a:off x="960120" y="4343400"/>
            <a:ext cx="10241280" cy="32004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The honest boundary</a:t>
            </a:r>
            <a:endParaRPr lang="en-US" sz="1400" dirty="0"/>
          </a:p>
        </p:txBody>
      </p:sp>
      <p:sp>
        <p:nvSpPr>
          <p:cNvPr id="20" name="Text 18"/>
          <p:cNvSpPr/>
          <p:nvPr/>
        </p:nvSpPr>
        <p:spPr>
          <a:xfrm>
            <a:off x="960120" y="4681728"/>
            <a:ext cx="10241280" cy="123444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Outcome data behind these learnings is still SIMULATED. Adoption shows the loop steers recommendations; whether the steered remedy is BETTER requires a live outcome contract on real data — the single most important open step. We claim mechanism, not benefit.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What is proven, demonstrated, and pending</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traceability matrix — the thesis's honesty map (Appendix 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2560320"/>
                <a:gridCol w="4480560"/>
              </a:tblGrid>
              <a:tr h="50292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Claim</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Status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Evidence</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Triage quality (H3, RQ3)</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MEASURED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two independent gold standards (§5A + in-repo)</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DP2 memory influence</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PARTIALLY MEASURED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adoption 21→71%; outcomes simulated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DP1 outcome contracts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DEMONSTRATED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designed + instrumented; live contract pending</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Loop end-to-end in production</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DEMONSTRATED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real Jira/Slack push; interrupt fix verified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Practitioner value (RQ4)</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PENDING</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instruments ready; interviews in progress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5029200"/>
            <a:ext cx="11064240" cy="73152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A claim's status is stated once, in one place, and the chapters must agree with it. This is the discipline that keeps a design-science thesis honest when the artifact is also a company.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Where this sits (July 2026)</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 single differentiator survives — the contribution is the combination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6035040" cy="987552"/>
          </a:xfrm>
          <a:prstGeom prst="roundRect">
            <a:avLst>
              <a:gd name="adj" fmla="val 5556"/>
            </a:avLst>
          </a:prstGeom>
          <a:solidFill>
            <a:srgbClr val="F4F7FC"/>
          </a:solidFill>
          <a:ln w="12700">
            <a:solidFill>
              <a:srgbClr val="CADCFC"/>
            </a:solidFill>
            <a:prstDash val="solid"/>
          </a:ln>
        </p:spPr>
      </p:sp>
      <p:sp>
        <p:nvSpPr>
          <p:cNvPr id="13" name="Text 11"/>
          <p:cNvSpPr/>
          <p:nvPr/>
        </p:nvSpPr>
        <p:spPr>
          <a:xfrm>
            <a:off x="685800" y="1691640"/>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Amplitude</a:t>
            </a:r>
            <a:endParaRPr lang="en-US" sz="1350" dirty="0"/>
          </a:p>
        </p:txBody>
      </p:sp>
      <p:sp>
        <p:nvSpPr>
          <p:cNvPr id="14" name="Text 12"/>
          <p:cNvSpPr/>
          <p:nvPr/>
        </p:nvSpPr>
        <p:spPr>
          <a:xfrm>
            <a:off x="685800" y="1984248"/>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ties feedback to behavioural/revenue data it owns — recommends, doesn't contract closure</a:t>
            </a:r>
            <a:endParaRPr lang="en-US" sz="1150" dirty="0"/>
          </a:p>
        </p:txBody>
      </p:sp>
      <p:sp>
        <p:nvSpPr>
          <p:cNvPr id="15" name="Shape 13"/>
          <p:cNvSpPr/>
          <p:nvPr/>
        </p:nvSpPr>
        <p:spPr>
          <a:xfrm>
            <a:off x="548640" y="2715768"/>
            <a:ext cx="6035040" cy="987552"/>
          </a:xfrm>
          <a:prstGeom prst="roundRect">
            <a:avLst>
              <a:gd name="adj" fmla="val 5556"/>
            </a:avLst>
          </a:prstGeom>
          <a:solidFill>
            <a:srgbClr val="F4F7FC"/>
          </a:solidFill>
          <a:ln w="12700">
            <a:solidFill>
              <a:srgbClr val="CADCFC"/>
            </a:solidFill>
            <a:prstDash val="solid"/>
          </a:ln>
        </p:spPr>
      </p:sp>
      <p:sp>
        <p:nvSpPr>
          <p:cNvPr id="16" name="Text 14"/>
          <p:cNvSpPr/>
          <p:nvPr/>
        </p:nvSpPr>
        <p:spPr>
          <a:xfrm>
            <a:off x="685800" y="2807208"/>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Medallia + Ada</a:t>
            </a:r>
            <a:endParaRPr lang="en-US" sz="1350" dirty="0"/>
          </a:p>
        </p:txBody>
      </p:sp>
      <p:sp>
        <p:nvSpPr>
          <p:cNvPr id="17" name="Text 15"/>
          <p:cNvSpPr/>
          <p:nvPr/>
        </p:nvSpPr>
        <p:spPr>
          <a:xfrm>
            <a:off x="685800" y="3099816"/>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executes policy-aware workflows from insight — enterprise scale, published gains</a:t>
            </a:r>
            <a:endParaRPr lang="en-US" sz="1150" dirty="0"/>
          </a:p>
        </p:txBody>
      </p:sp>
      <p:sp>
        <p:nvSpPr>
          <p:cNvPr id="18" name="Shape 16"/>
          <p:cNvSpPr/>
          <p:nvPr/>
        </p:nvSpPr>
        <p:spPr>
          <a:xfrm>
            <a:off x="548640" y="3831336"/>
            <a:ext cx="6035040" cy="987552"/>
          </a:xfrm>
          <a:prstGeom prst="roundRect">
            <a:avLst>
              <a:gd name="adj" fmla="val 5556"/>
            </a:avLst>
          </a:prstGeom>
          <a:solidFill>
            <a:srgbClr val="F4F7FC"/>
          </a:solidFill>
          <a:ln w="12700">
            <a:solidFill>
              <a:srgbClr val="CADCFC"/>
            </a:solidFill>
            <a:prstDash val="solid"/>
          </a:ln>
        </p:spPr>
      </p:sp>
      <p:sp>
        <p:nvSpPr>
          <p:cNvPr id="19" name="Text 17"/>
          <p:cNvSpPr/>
          <p:nvPr/>
        </p:nvSpPr>
        <p:spPr>
          <a:xfrm>
            <a:off x="685800" y="3922776"/>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Sprinklr</a:t>
            </a:r>
            <a:endParaRPr lang="en-US" sz="1350" dirty="0"/>
          </a:p>
        </p:txBody>
      </p:sp>
      <p:sp>
        <p:nvSpPr>
          <p:cNvPr id="20" name="Text 18"/>
          <p:cNvSpPr/>
          <p:nvPr/>
        </p:nvSpPr>
        <p:spPr>
          <a:xfrm>
            <a:off x="685800" y="4215384"/>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audit trails &amp; agent evaluation — governance artefacts at enterprise level</a:t>
            </a:r>
            <a:endParaRPr lang="en-US" sz="1150" dirty="0"/>
          </a:p>
        </p:txBody>
      </p:sp>
      <p:sp>
        <p:nvSpPr>
          <p:cNvPr id="21" name="Shape 19"/>
          <p:cNvSpPr/>
          <p:nvPr/>
        </p:nvSpPr>
        <p:spPr>
          <a:xfrm>
            <a:off x="548640" y="4946904"/>
            <a:ext cx="6035040" cy="987552"/>
          </a:xfrm>
          <a:prstGeom prst="roundRect">
            <a:avLst>
              <a:gd name="adj" fmla="val 5556"/>
            </a:avLst>
          </a:prstGeom>
          <a:solidFill>
            <a:srgbClr val="F4F7FC"/>
          </a:solidFill>
          <a:ln w="12700">
            <a:solidFill>
              <a:srgbClr val="CADCFC"/>
            </a:solidFill>
            <a:prstDash val="solid"/>
          </a:ln>
        </p:spPr>
      </p:sp>
      <p:sp>
        <p:nvSpPr>
          <p:cNvPr id="22" name="Text 20"/>
          <p:cNvSpPr/>
          <p:nvPr/>
        </p:nvSpPr>
        <p:spPr>
          <a:xfrm>
            <a:off x="685800" y="5038344"/>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Dovetail / Enterpret</a:t>
            </a:r>
            <a:endParaRPr lang="en-US" sz="1350" dirty="0"/>
          </a:p>
        </p:txBody>
      </p:sp>
      <p:sp>
        <p:nvSpPr>
          <p:cNvPr id="23" name="Text 21"/>
          <p:cNvSpPr/>
          <p:nvPr/>
        </p:nvSpPr>
        <p:spPr>
          <a:xfrm>
            <a:off x="685800" y="5330952"/>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SMB agents "trigger real work" / MCP breadth — no approval gates, no outcome measurement (verified)</a:t>
            </a:r>
            <a:endParaRPr lang="en-US" sz="1150" dirty="0"/>
          </a:p>
        </p:txBody>
      </p:sp>
      <p:sp>
        <p:nvSpPr>
          <p:cNvPr id="24" name="Shape 22"/>
          <p:cNvSpPr/>
          <p:nvPr/>
        </p:nvSpPr>
        <p:spPr>
          <a:xfrm>
            <a:off x="6858000" y="1600200"/>
            <a:ext cx="4754880" cy="3108960"/>
          </a:xfrm>
          <a:prstGeom prst="roundRect">
            <a:avLst>
              <a:gd name="adj" fmla="val 1765"/>
            </a:avLst>
          </a:prstGeom>
          <a:solidFill>
            <a:srgbClr val="1E2761"/>
          </a:solidFill>
          <a:ln/>
        </p:spPr>
      </p:sp>
      <p:sp>
        <p:nvSpPr>
          <p:cNvPr id="25" name="Text 23"/>
          <p:cNvSpPr/>
          <p:nvPr/>
        </p:nvSpPr>
        <p:spPr>
          <a:xfrm>
            <a:off x="7086600" y="1783080"/>
            <a:ext cx="429768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The unclaimed combination</a:t>
            </a:r>
            <a:endParaRPr lang="en-US" sz="1500" dirty="0"/>
          </a:p>
        </p:txBody>
      </p:sp>
      <p:sp>
        <p:nvSpPr>
          <p:cNvPr id="26" name="Text 24"/>
          <p:cNvSpPr/>
          <p:nvPr/>
        </p:nvSpPr>
        <p:spPr>
          <a:xfrm>
            <a:off x="7086600" y="2194560"/>
            <a:ext cx="4297680" cy="23774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Outcome contracts (verified closure)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approval-gated cross-system action</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decaying learning memory</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EU-sovereign deployment</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accessible to 10–500-employee firms</a:t>
            </a:r>
            <a:endParaRPr lang="en-US" sz="1450" dirty="0"/>
          </a:p>
        </p:txBody>
      </p:sp>
      <p:sp>
        <p:nvSpPr>
          <p:cNvPr id="27" name="Shape 25"/>
          <p:cNvSpPr/>
          <p:nvPr/>
        </p:nvSpPr>
        <p:spPr>
          <a:xfrm>
            <a:off x="6858000" y="4892040"/>
            <a:ext cx="4754880" cy="1371600"/>
          </a:xfrm>
          <a:prstGeom prst="roundRect">
            <a:avLst>
              <a:gd name="adj" fmla="val 4000"/>
            </a:avLst>
          </a:prstGeom>
          <a:solidFill>
            <a:srgbClr val="F4F7FC"/>
          </a:solidFill>
          <a:ln w="12700">
            <a:solidFill>
              <a:srgbClr val="CADCFC"/>
            </a:solidFill>
            <a:prstDash val="solid"/>
          </a:ln>
        </p:spPr>
      </p:sp>
      <p:sp>
        <p:nvSpPr>
          <p:cNvPr id="28" name="Text 26"/>
          <p:cNvSpPr/>
          <p:nvPr/>
        </p:nvSpPr>
        <p:spPr>
          <a:xfrm>
            <a:off x="7059168" y="5029200"/>
            <a:ext cx="4389120" cy="11430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Gartner (2025): &gt;40% of agentic-AI projects cancelled by 2027 — for unclear business value and inadequate risk controls. Exactly the two failure modes this design answers.</a:t>
            </a:r>
            <a:endParaRPr lang="en-US" sz="1250" dirty="0"/>
          </a:p>
        </p:txBody>
      </p:sp>
      <p:sp>
        <p:nvSpPr>
          <p:cNvPr id="29" name="Text 27"/>
          <p:cNvSpPr/>
          <p:nvPr/>
        </p:nvSpPr>
        <p:spPr>
          <a:xfrm>
            <a:off x="548640" y="6172200"/>
            <a:ext cx="6035040" cy="548640"/>
          </a:xfrm>
          <a:prstGeom prst="rect">
            <a:avLst/>
          </a:prstGeom>
          <a:noFill/>
          <a:ln/>
        </p:spPr>
        <p:txBody>
          <a:bodyPr wrap="square"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Forrester retired its CFM Wave (Q1 2026): insight is commoditised; the new axes are autonomous action and trust.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Limitations and what comes next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claims, and the one experiment that matters most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554480"/>
            <a:ext cx="548640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 (stated, not buried)</a:t>
            </a:r>
            <a:endParaRPr lang="en-US" sz="1700" dirty="0"/>
          </a:p>
        </p:txBody>
      </p:sp>
      <p:sp>
        <p:nvSpPr>
          <p:cNvPr id="13" name="Text 11"/>
          <p:cNvSpPr/>
          <p:nvPr/>
        </p:nvSpPr>
        <p:spPr>
          <a:xfrm>
            <a:off x="731520" y="2011680"/>
            <a:ext cx="530352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Modest, balanced corpus — characterises the pipeline, not a population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Qualitative study small-N, design-validity — no causal effect claims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Researcher-as-designer-and-founder — managed by external labels, standard instruments, reproducibility</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Security review found 10 HIGH findings → hardened; not warranted multi-tenant</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Distinctive claims demonstrated + partially measured, not field-proven</a:t>
            </a:r>
            <a:endParaRPr lang="en-US" sz="1300" dirty="0"/>
          </a:p>
        </p:txBody>
      </p:sp>
      <p:sp>
        <p:nvSpPr>
          <p:cNvPr id="14" name="Text 12"/>
          <p:cNvSpPr/>
          <p:nvPr/>
        </p:nvSpPr>
        <p:spPr>
          <a:xfrm>
            <a:off x="6400800" y="1554480"/>
            <a:ext cx="521208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Future work</a:t>
            </a:r>
            <a:endParaRPr lang="en-US" sz="1700" dirty="0"/>
          </a:p>
        </p:txBody>
      </p:sp>
      <p:sp>
        <p:nvSpPr>
          <p:cNvPr id="15" name="Text 13"/>
          <p:cNvSpPr/>
          <p:nvPr/>
        </p:nvSpPr>
        <p:spPr>
          <a:xfrm>
            <a:off x="6583680" y="2011680"/>
            <a:ext cx="50292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① One LIVE outcome contract on real data — scored by interrupted time series; then synthetic difference-in-differences as panels accumulate (Arkhangelsky et al., 2021)</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② Unify the two LLM evidence streams on one gold standard; golden set grown 60→100 bilingual — exemplar lift now significant on exact-tags (p=0.001, n=80) AND urgency (83%→90%, p=0.039, n=100); next: model-score calibration + FR/ES/IT strata</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③ Connector parity + broader pulls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④ Standing fairness monitoring of routing across segments and languages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Contributions</a:t>
            </a:r>
            <a:endParaRPr lang="en-US" sz="3600" dirty="0"/>
          </a:p>
        </p:txBody>
      </p:sp>
      <p:sp>
        <p:nvSpPr>
          <p:cNvPr id="3" name="Shape 1"/>
          <p:cNvSpPr/>
          <p:nvPr/>
        </p:nvSpPr>
        <p:spPr>
          <a:xfrm>
            <a:off x="822960" y="1554480"/>
            <a:ext cx="5212080" cy="1783080"/>
          </a:xfrm>
          <a:prstGeom prst="roundRect">
            <a:avLst>
              <a:gd name="adj" fmla="val 3077"/>
            </a:avLst>
          </a:prstGeom>
          <a:solidFill>
            <a:srgbClr val="2A3575"/>
          </a:solidFill>
          <a:ln/>
        </p:spPr>
      </p:sp>
      <p:sp>
        <p:nvSpPr>
          <p:cNvPr id="4" name="Text 2"/>
          <p:cNvSpPr/>
          <p:nvPr/>
        </p:nvSpPr>
        <p:spPr>
          <a:xfrm>
            <a:off x="10241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working artifact</a:t>
            </a:r>
            <a:endParaRPr lang="en-US" sz="1600" dirty="0"/>
          </a:p>
        </p:txBody>
      </p:sp>
      <p:sp>
        <p:nvSpPr>
          <p:cNvPr id="5" name="Text 3"/>
          <p:cNvSpPr/>
          <p:nvPr/>
        </p:nvSpPr>
        <p:spPr>
          <a:xfrm>
            <a:off x="10241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full governed loop — signal to measured outcome to reusable learning — running end to end, in production, with real external writes</a:t>
            </a:r>
            <a:endParaRPr lang="en-US" sz="1300" dirty="0"/>
          </a:p>
        </p:txBody>
      </p:sp>
      <p:sp>
        <p:nvSpPr>
          <p:cNvPr id="6" name="Shape 4"/>
          <p:cNvSpPr/>
          <p:nvPr/>
        </p:nvSpPr>
        <p:spPr>
          <a:xfrm>
            <a:off x="6309360" y="1554480"/>
            <a:ext cx="5212080" cy="1783080"/>
          </a:xfrm>
          <a:prstGeom prst="roundRect">
            <a:avLst>
              <a:gd name="adj" fmla="val 3077"/>
            </a:avLst>
          </a:prstGeom>
          <a:solidFill>
            <a:srgbClr val="2A3575"/>
          </a:solidFill>
          <a:ln/>
        </p:spPr>
      </p:sp>
      <p:sp>
        <p:nvSpPr>
          <p:cNvPr id="7" name="Text 5"/>
          <p:cNvSpPr/>
          <p:nvPr/>
        </p:nvSpPr>
        <p:spPr>
          <a:xfrm>
            <a:off x="65105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Six design principles</a:t>
            </a:r>
            <a:endParaRPr lang="en-US" sz="1600" dirty="0"/>
          </a:p>
        </p:txBody>
      </p:sp>
      <p:sp>
        <p:nvSpPr>
          <p:cNvPr id="8" name="Text 6"/>
          <p:cNvSpPr/>
          <p:nvPr/>
        </p:nvSpPr>
        <p:spPr>
          <a:xfrm>
            <a:off x="65105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each with its cost: closure as contract, perishable memory, set-based severity, graduated authority, bounded model, adaptation by configuration</a:t>
            </a:r>
            <a:endParaRPr lang="en-US" sz="1300" dirty="0"/>
          </a:p>
        </p:txBody>
      </p:sp>
      <p:sp>
        <p:nvSpPr>
          <p:cNvPr id="9" name="Shape 7"/>
          <p:cNvSpPr/>
          <p:nvPr/>
        </p:nvSpPr>
        <p:spPr>
          <a:xfrm>
            <a:off x="822960" y="3520440"/>
            <a:ext cx="5212080" cy="1783080"/>
          </a:xfrm>
          <a:prstGeom prst="roundRect">
            <a:avLst>
              <a:gd name="adj" fmla="val 3077"/>
            </a:avLst>
          </a:prstGeom>
          <a:solidFill>
            <a:srgbClr val="2A3575"/>
          </a:solidFill>
          <a:ln/>
        </p:spPr>
      </p:sp>
      <p:sp>
        <p:nvSpPr>
          <p:cNvPr id="10" name="Text 8"/>
          <p:cNvSpPr/>
          <p:nvPr/>
        </p:nvSpPr>
        <p:spPr>
          <a:xfrm>
            <a:off x="10241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real-data evaluation</a:t>
            </a:r>
            <a:endParaRPr lang="en-US" sz="1600" dirty="0"/>
          </a:p>
        </p:txBody>
      </p:sp>
      <p:sp>
        <p:nvSpPr>
          <p:cNvPr id="11" name="Text 9"/>
          <p:cNvSpPr/>
          <p:nvPr/>
        </p:nvSpPr>
        <p:spPr>
          <a:xfrm>
            <a:off x="10241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188 multilingual signals, two independent gold standards; triage is method-dependent and the loop's precondition is satisfiable</a:t>
            </a:r>
            <a:endParaRPr lang="en-US" sz="1300" dirty="0"/>
          </a:p>
        </p:txBody>
      </p:sp>
      <p:sp>
        <p:nvSpPr>
          <p:cNvPr id="12" name="Shape 10"/>
          <p:cNvSpPr/>
          <p:nvPr/>
        </p:nvSpPr>
        <p:spPr>
          <a:xfrm>
            <a:off x="6309360" y="3520440"/>
            <a:ext cx="5212080" cy="1783080"/>
          </a:xfrm>
          <a:prstGeom prst="roundRect">
            <a:avLst>
              <a:gd name="adj" fmla="val 3077"/>
            </a:avLst>
          </a:prstGeom>
          <a:solidFill>
            <a:srgbClr val="2A3575"/>
          </a:solidFill>
          <a:ln/>
        </p:spPr>
      </p:sp>
      <p:sp>
        <p:nvSpPr>
          <p:cNvPr id="13" name="Text 11"/>
          <p:cNvSpPr/>
          <p:nvPr/>
        </p:nvSpPr>
        <p:spPr>
          <a:xfrm>
            <a:off x="65105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Integral Responsible AI</a:t>
            </a:r>
            <a:endParaRPr lang="en-US" sz="1600" dirty="0"/>
          </a:p>
        </p:txBody>
      </p:sp>
      <p:sp>
        <p:nvSpPr>
          <p:cNvPr id="14" name="Text 12"/>
          <p:cNvSpPr/>
          <p:nvPr/>
        </p:nvSpPr>
        <p:spPr>
          <a:xfrm>
            <a:off x="65105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oversight designed beyond Art 14, transparency via Art 50(4), auditability that found its own gaps — governance as durable design commitment</a:t>
            </a:r>
            <a:endParaRPr lang="en-US" sz="1300" dirty="0"/>
          </a:p>
        </p:txBody>
      </p:sp>
      <p:sp>
        <p:nvSpPr>
          <p:cNvPr id="15" name="Text 13"/>
          <p:cNvSpPr/>
          <p:nvPr/>
        </p:nvSpPr>
        <p:spPr>
          <a:xfrm>
            <a:off x="822960" y="5623560"/>
            <a:ext cx="105156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Closing the loop and governing the closing are not in opposition — they are two halves of one well-designed workflow.</a:t>
            </a:r>
            <a:endParaRPr lang="en-US" sz="1600" dirty="0"/>
          </a:p>
        </p:txBody>
      </p:sp>
      <p:sp>
        <p:nvSpPr>
          <p:cNvPr id="16" name="Text 14"/>
          <p:cNvSpPr/>
          <p:nvPr/>
        </p:nvSpPr>
        <p:spPr>
          <a:xfrm>
            <a:off x="822960" y="6172200"/>
            <a:ext cx="105156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2026-07-30T23:57:45Z</dcterms:created>
  <dcterms:modified xsi:type="dcterms:W3CDTF">2026-07-30T23:57:45Z</dcterms:modified>
</cp:coreProperties>
</file>