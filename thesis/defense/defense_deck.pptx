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 seconds. Thanks for the time. Frame it in one line: organisations collect more feedback than ever and rarely verify that acting on it resolved anything, and this thesis builds and evaluates a platform where the loop is governed and measured and where what worked is kept. Then say straight away that today is a progress review and that the second slide is the whole meeting, so she can steer from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90 seconds, and this slide is the meeting. One line per box, then stop on the three asks and say that the rest of the deck is the evidence behind them. If she wants to go straight into a question, let her. The results slides work as backup just as well as in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seconds. Why design science in one line: the question is what works by design, not what is. Then the change I need her view on. RQ3 became RQ3a and RQ3b after the August run, because the equity answer turned out to be the more important one and it was sitting inside RQ3 as a sub-clause. For a Responsible AI thesis that felt wrong. Say plainly that RQ4 has not started and that ask one and ask two are about unblocking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90 seconds. Walk it left to right once: sources, ingestion, enrichment, synthesis, rules, the approval diamond, execution, measurement, learning, with governance cutting across. Use the key deliberately, because the colours are the argument. Blue appears exactly twice and everything downstream of it is white. The sentence I want her to be able to check against the picture is that the model advises and never acts. The red diamond is a LangGraph interrupt node, not a UI confirmation, so there is no code path to an external effect that goes around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seconds. This is the first time the deck shows the artifact rather than a diagram of it, and the loop bar renders the thesis's five stages as software you can click. If she asks to see it live I can, but flag first that the Chapter 4 screenshots are the July 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minutes. This is the heart of the Responsible AI argument. Two lines matter most. The gate goes past Article 14 on purpose, because the legal literature says awareness measures alone do not de-bias overseers. And the audit instrumentation is what found the platform's own unenforced controls in July, which is governance working rather than governance claimed. Finish on the three levels of closure, because the results slides measure the first two and not yet the third.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minutes, and I should not read the slide. The two items she will care about are the paired tests and the truth audit, and both are on the next slide in more detail. The point of the dark box is to be honest early rather than let it surface at the end: everything I could do without permission has moved, and the one thing that needs her has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minutes, and this is the slide I would spend extra time on if she engages. The embedding story is the portable architecture lesson: cosine thresholds are not comparable across embedding models, so a provider swap that looks like a config change silently rewrites the behaviour of every semantic feature. Be honest about the residual, which is that the calibrated values live in the deployment environment and the in-code defaults are still the old ones. If she asks what is still open from the review: there is still no inter-annotator agreement number behind either gold standard, and that is the most attackable gap in the thesis.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minutes. Walk the three rungs, then go to the paired tests, which are new since she last saw this. The honest headline is that the contextual path is not measurably better than a TF-IDF model on severity at this sample size. The confusion matrix shows how the floor fails: it calls 19 of the 27 critical signals low and gets only 4 of them right, a recall of 0.15. Two caveats to have ready. The severity numbers come from Trade Republic and Henkel only, because Lieferando ships no risk label, so food delivery is absent from every n = 106 figure. And the learned model is five-fold cross-validated while the contextual path was run once at temperature 0. If she asks whether 0.86 or the 0.97 on the in-repo set is the real number: different gold standards, curated sets select for label clarity, and the thesis quotes the star-proxy figures (0.86 for the prompt, 0.83 and 0.84 for the production stage). New since August: the production stage was run on the corpus on both models, the generic prompt four times, and the production default is close to deterministic at temperature 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minutes, and for a Responsible AI thesis this is the most important results slide. Read the zero out loud and then pause. Then make the new point: the middle column was added on 20 August and it sharpens the finding, because a respectable learned model shows the same gap, so this is not an artefact of a weak baseline. Volunteer the bounds before she asks. Be precise if she pushes: the supported claim is the paired one on the same eight signals, not a cross-stratum claim that German is handled worse than English, which this corpus cannot establish. If she asks whether it generalises, the answer is no, the thesis says so, and the claim is about method choice on this corpus. One more honest caveat if she presses on the zero: across the three new datasets the same floor escalates German-source signals at 0.36 and 0.40, so the zero here is the low end of what a keyword floor does, not a fixed property of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90 seconds, and this is a Responsible AI slide rather than a feature slide. The story is that I was asked for a capability, built the two candidate detectors, measured them on 6,740 real texts and then declined to ship the capability. Land on the second number, because it is the one that surprises people: the strongest open method is worse than a coin flip in this domain, and the reason is structural rather than a tuning problem. Genuine complaints are formulaic, so they sit at the low-perplexity end where the method expects machines, and the sign of the signal actually flips between English and German. The link back to the previous slide is the 3.0x language spread: the same fairness failure that decides whose problems get escalated also decides whose problems get deleted. If she asks whether this belongs in the thesis, it is in 4.4 and 4.9 as a control and a threat, in 6.2 as a Responsible AI tension, and in Appendix D as a measured negative result, and ask six is partly about whether that is the right home.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90 seconds. Present this as exploratory replication and not as corpus growth, and say the corpus is still 188 in the same breath. The interesting half is the negative one: the severity advantage of a learned model over a keyword floor does not reproduce on any of the three new sets, which is a caution about how much weight the severity numbers can carry. The Vodafone escalation gap is the encouraging half, because it is an independent set in a different sector pointing the same way. Ask five on the last slide is about whether relabelling these to gold standard is required work before submission.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90 seconds. This slide is deliberately unflattering to the pipeline. It is the best answer I have to why the agent does not simply route it unattended. Expect the question about 40% accuracy and answer it here rather than at the defense. Yes, over 51 classes against a 15% floor, with the inventory supplied, and that is exactly the argument for human approval. If she probes the flag: journey stage only, owner routing was deliberately not implemented because there is no owner registry and an enum of invented owners would not mean anything.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90 seconds. Lead with the number and land on the boundary. The distinction between a mechanism that is measured and a benefit that is not is the one an examiner rewards, and it is written into the traceability matrix on the next slide rather than only said out loud here. Ask four is exactly this trade-off.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90 seconds. Use this to pre-empt the founder question: externally authored labels, standard instruments, a reproducible harness, a declared conflict of interest, and this table. Since 20 August participants are told before consent that the interviewer built the prototype and has a commercial interest, there is a fourth consent checkbox, and there is a standing rule of no sales content in sessions and no commercial follow-up for six months. Be honest that the manuscript's method chapter does not yet cite that policy. The two pending rows are what the asks are about.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90 seconds. Say the first item slowly, because it is the single most important next artifact. One real action, one real metric, one contract, one window, one verdict. Everything else on the right is bounded work with a known method. Stop here and move to the asks.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the second half of the meeting should go. Ask one, two and three first and write the answers down, because nothing from the last meeting was recorded and I do not want to re-ask them again in September. Four and five are quick and they shape the next two weeks. Six matters because none of the review work or the new corpora is written up anywhere in the thesis yet. On dates: the IP letter is due 31 August, the examining committee form has to be in at least a month before the defense, and the regulations want a complete draft with her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present these. They exist so that any question has a slide behind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seconds if summoned. Anchor on the Forrester series for the gap, on Bone for why solicitation itself has effects, and on the Uber experiment for why acting without measuring is not enough. The fragmentation line is about the buyer's world, not about what CLARA connects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seconds if summoned. The honesty features are the point: real data only, seed labels written before and outside the artifact, a non-circular sentiment reference, and a reproducible harness. Two gold standards exist, they disagree, and the thesis quotes the lower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90 seconds if summoned. She is an architecture director, so this is the strongest reserve slide. The claim to make is that the approval step is a graph interrupt rather than a UI convention, and the provider-agnostic model layer is what makes EU sovereignty a configuration question instead of a rewrite.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seconds if summoned. Two views of one loop. The memory sits inside the control flow rather than in a side store, and the contract is set at approval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seconds if summoned. For an architecture audience the schema is the argument. The thesis's two primitives are tables with foreign keys rather than prose.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minutes if summoned. Slow down on decay, because that is where an examiner probes novelty, and I cite the prior art myself rather than waiting to be caught. The retrieval gate is new since 8 August and it converts DP2 from memory with decay into memory with provenance.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90 seconds if summoned, and only for commercial questions. The category moved toward the thesis. Each rival owns a fragment and nobody verifiably holds the combination, and I apply the same verification standard to my own artifact, which is why the traceability slide says the outcome half is demonstrated rather than proven.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image" Target="../media/image-5-2.jp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822960" y="1645920"/>
            <a:ext cx="10972800" cy="1325880"/>
          </a:xfrm>
          <a:prstGeom prst="rect">
            <a:avLst/>
          </a:prstGeom>
          <a:noFill/>
          <a:ln/>
        </p:spPr>
        <p:txBody>
          <a:bodyPr wrap="square"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Closing the Loop, Building the Memory</a:t>
            </a:r>
            <a:endParaRPr lang="en-US" sz="4400" dirty="0"/>
          </a:p>
        </p:txBody>
      </p:sp>
      <p:sp>
        <p:nvSpPr>
          <p:cNvPr id="3" name="Text 1"/>
          <p:cNvSpPr/>
          <p:nvPr/>
        </p:nvSpPr>
        <p:spPr>
          <a:xfrm>
            <a:off x="822960" y="3017520"/>
            <a:ext cx="10789920" cy="868680"/>
          </a:xfrm>
          <a:prstGeom prst="rect">
            <a:avLst/>
          </a:prstGeom>
          <a:noFill/>
          <a:ln/>
        </p:spPr>
        <p:txBody>
          <a:bodyPr wrap="square" rtlCol="0" anchor="ctr"/>
          <a:lstStyle/>
          <a:p>
            <a:pPr indent="0" marL="0">
              <a:buNone/>
            </a:pPr>
            <a:r>
              <a:rPr lang="en-US" sz="2100" dirty="0">
                <a:solidFill>
                  <a:srgbClr val="CADCFC"/>
                </a:solidFill>
                <a:latin typeface="Calibri" pitchFamily="34" charset="0"/>
                <a:ea typeface="Calibri" pitchFamily="34" charset="-122"/>
                <a:cs typeface="Calibri" pitchFamily="34" charset="-120"/>
              </a:rPr>
              <a:t>A design science study of a governed platform that turns customer feedback into</a:t>
            </a:r>
            <a:endParaRPr lang="en-US" sz="2100" dirty="0"/>
          </a:p>
          <a:p>
            <a:pPr indent="0" marL="0">
              <a:buNone/>
            </a:pPr>
            <a:r>
              <a:rPr lang="en-US" sz="2100" dirty="0">
                <a:solidFill>
                  <a:srgbClr val="CADCFC"/>
                </a:solidFill>
                <a:latin typeface="Calibri" pitchFamily="34" charset="0"/>
                <a:ea typeface="Calibri" pitchFamily="34" charset="-122"/>
                <a:cs typeface="Calibri" pitchFamily="34" charset="-120"/>
              </a:rPr>
              <a:t>measured action and reusable organisational learning</a:t>
            </a:r>
            <a:endParaRPr lang="en-US" sz="2100" dirty="0"/>
          </a:p>
        </p:txBody>
      </p:sp>
      <p:sp>
        <p:nvSpPr>
          <p:cNvPr id="4" name="Shape 2"/>
          <p:cNvSpPr/>
          <p:nvPr/>
        </p:nvSpPr>
        <p:spPr>
          <a:xfrm>
            <a:off x="868680" y="4114800"/>
            <a:ext cx="420624" cy="420624"/>
          </a:xfrm>
          <a:prstGeom prst="ellipse">
            <a:avLst/>
          </a:prstGeom>
          <a:solidFill>
            <a:srgbClr val="CADCFC"/>
          </a:solidFill>
          <a:ln/>
        </p:spPr>
      </p:sp>
      <p:sp>
        <p:nvSpPr>
          <p:cNvPr id="5" name="Text 3"/>
          <p:cNvSpPr/>
          <p:nvPr/>
        </p:nvSpPr>
        <p:spPr>
          <a:xfrm>
            <a:off x="868680" y="4105656"/>
            <a:ext cx="420624" cy="438912"/>
          </a:xfrm>
          <a:prstGeom prst="rect">
            <a:avLst/>
          </a:prstGeom>
          <a:noFill/>
          <a:ln/>
        </p:spPr>
        <p:txBody>
          <a:bodyPr wrap="square" lIns="0" tIns="0" rIns="0" bIns="0" rtlCol="0" anchor="ctr"/>
          <a:lstStyle/>
          <a:p>
            <a:pPr algn="ctr" indent="0" marL="0">
              <a:buNone/>
            </a:pPr>
            <a:r>
              <a:rPr lang="en-US" sz="1900" b="1" dirty="0">
                <a:solidFill>
                  <a:srgbClr val="1E2761"/>
                </a:solidFill>
                <a:latin typeface="Calibri" pitchFamily="34" charset="0"/>
                <a:ea typeface="Calibri" pitchFamily="34" charset="-122"/>
                <a:cs typeface="Calibri" pitchFamily="34" charset="-120"/>
              </a:rPr>
              <a:t>1</a:t>
            </a:r>
            <a:endParaRPr lang="en-US" sz="1900" dirty="0"/>
          </a:p>
        </p:txBody>
      </p:sp>
      <p:sp>
        <p:nvSpPr>
          <p:cNvPr id="6" name="Text 4"/>
          <p:cNvSpPr/>
          <p:nvPr/>
        </p:nvSpPr>
        <p:spPr>
          <a:xfrm>
            <a:off x="1353312" y="4160520"/>
            <a:ext cx="1280160" cy="347472"/>
          </a:xfrm>
          <a:prstGeom prst="rect">
            <a:avLst/>
          </a:prstGeom>
          <a:noFill/>
          <a:ln/>
        </p:spPr>
        <p:txBody>
          <a:bodyPr wrap="square" lIns="0" tIns="0" rIns="0" bIns="0" rtlCol="0" anchor="ctr"/>
          <a:lstStyle/>
          <a:p>
            <a:pPr indent="0" marL="0">
              <a:buNone/>
            </a:pPr>
            <a:r>
              <a:rPr lang="en-US" sz="1700" dirty="0">
                <a:solidFill>
                  <a:srgbClr val="FFFFFF"/>
                </a:solidFill>
                <a:latin typeface="Calibri" pitchFamily="34" charset="0"/>
                <a:ea typeface="Calibri" pitchFamily="34" charset="-122"/>
                <a:cs typeface="Calibri" pitchFamily="34" charset="-120"/>
              </a:rPr>
              <a:t>Signal</a:t>
            </a:r>
            <a:endParaRPr lang="en-US" sz="1700" dirty="0"/>
          </a:p>
        </p:txBody>
      </p:sp>
      <p:sp>
        <p:nvSpPr>
          <p:cNvPr id="7" name="Shape 5"/>
          <p:cNvSpPr/>
          <p:nvPr/>
        </p:nvSpPr>
        <p:spPr>
          <a:xfrm>
            <a:off x="2651760" y="4114800"/>
            <a:ext cx="420624" cy="420624"/>
          </a:xfrm>
          <a:prstGeom prst="ellipse">
            <a:avLst/>
          </a:prstGeom>
          <a:solidFill>
            <a:srgbClr val="CADCFC"/>
          </a:solidFill>
          <a:ln/>
        </p:spPr>
      </p:sp>
      <p:sp>
        <p:nvSpPr>
          <p:cNvPr id="8" name="Text 6"/>
          <p:cNvSpPr/>
          <p:nvPr/>
        </p:nvSpPr>
        <p:spPr>
          <a:xfrm>
            <a:off x="2651760" y="4105656"/>
            <a:ext cx="420624" cy="438912"/>
          </a:xfrm>
          <a:prstGeom prst="rect">
            <a:avLst/>
          </a:prstGeom>
          <a:noFill/>
          <a:ln/>
        </p:spPr>
        <p:txBody>
          <a:bodyPr wrap="square" lIns="0" tIns="0" rIns="0" bIns="0" rtlCol="0" anchor="ctr"/>
          <a:lstStyle/>
          <a:p>
            <a:pPr algn="ctr" indent="0" marL="0">
              <a:buNone/>
            </a:pPr>
            <a:r>
              <a:rPr lang="en-US" sz="1900" b="1" dirty="0">
                <a:solidFill>
                  <a:srgbClr val="1E2761"/>
                </a:solidFill>
                <a:latin typeface="Calibri" pitchFamily="34" charset="0"/>
                <a:ea typeface="Calibri" pitchFamily="34" charset="-122"/>
                <a:cs typeface="Calibri" pitchFamily="34" charset="-120"/>
              </a:rPr>
              <a:t>2</a:t>
            </a:r>
            <a:endParaRPr lang="en-US" sz="1900" dirty="0"/>
          </a:p>
        </p:txBody>
      </p:sp>
      <p:sp>
        <p:nvSpPr>
          <p:cNvPr id="9" name="Text 7"/>
          <p:cNvSpPr/>
          <p:nvPr/>
        </p:nvSpPr>
        <p:spPr>
          <a:xfrm>
            <a:off x="3136392" y="4160520"/>
            <a:ext cx="1280160" cy="347472"/>
          </a:xfrm>
          <a:prstGeom prst="rect">
            <a:avLst/>
          </a:prstGeom>
          <a:noFill/>
          <a:ln/>
        </p:spPr>
        <p:txBody>
          <a:bodyPr wrap="square" lIns="0" tIns="0" rIns="0" bIns="0" rtlCol="0" anchor="ctr"/>
          <a:lstStyle/>
          <a:p>
            <a:pPr indent="0" marL="0">
              <a:buNone/>
            </a:pPr>
            <a:r>
              <a:rPr lang="en-US" sz="1700" dirty="0">
                <a:solidFill>
                  <a:srgbClr val="FFFFFF"/>
                </a:solidFill>
                <a:latin typeface="Calibri" pitchFamily="34" charset="0"/>
                <a:ea typeface="Calibri" pitchFamily="34" charset="-122"/>
                <a:cs typeface="Calibri" pitchFamily="34" charset="-120"/>
              </a:rPr>
              <a:t>Insight</a:t>
            </a:r>
            <a:endParaRPr lang="en-US" sz="1700" dirty="0"/>
          </a:p>
        </p:txBody>
      </p:sp>
      <p:sp>
        <p:nvSpPr>
          <p:cNvPr id="10" name="Shape 8"/>
          <p:cNvSpPr/>
          <p:nvPr/>
        </p:nvSpPr>
        <p:spPr>
          <a:xfrm>
            <a:off x="4434840" y="4114800"/>
            <a:ext cx="420624" cy="420624"/>
          </a:xfrm>
          <a:prstGeom prst="ellipse">
            <a:avLst/>
          </a:prstGeom>
          <a:solidFill>
            <a:srgbClr val="CADCFC"/>
          </a:solidFill>
          <a:ln/>
        </p:spPr>
      </p:sp>
      <p:sp>
        <p:nvSpPr>
          <p:cNvPr id="11" name="Text 9"/>
          <p:cNvSpPr/>
          <p:nvPr/>
        </p:nvSpPr>
        <p:spPr>
          <a:xfrm>
            <a:off x="4434840" y="4105656"/>
            <a:ext cx="420624" cy="438912"/>
          </a:xfrm>
          <a:prstGeom prst="rect">
            <a:avLst/>
          </a:prstGeom>
          <a:noFill/>
          <a:ln/>
        </p:spPr>
        <p:txBody>
          <a:bodyPr wrap="square" lIns="0" tIns="0" rIns="0" bIns="0" rtlCol="0" anchor="ctr"/>
          <a:lstStyle/>
          <a:p>
            <a:pPr algn="ctr" indent="0" marL="0">
              <a:buNone/>
            </a:pPr>
            <a:r>
              <a:rPr lang="en-US" sz="1900" b="1" dirty="0">
                <a:solidFill>
                  <a:srgbClr val="1E2761"/>
                </a:solidFill>
                <a:latin typeface="Calibri" pitchFamily="34" charset="0"/>
                <a:ea typeface="Calibri" pitchFamily="34" charset="-122"/>
                <a:cs typeface="Calibri" pitchFamily="34" charset="-120"/>
              </a:rPr>
              <a:t>3</a:t>
            </a:r>
            <a:endParaRPr lang="en-US" sz="1900" dirty="0"/>
          </a:p>
        </p:txBody>
      </p:sp>
      <p:sp>
        <p:nvSpPr>
          <p:cNvPr id="12" name="Text 10"/>
          <p:cNvSpPr/>
          <p:nvPr/>
        </p:nvSpPr>
        <p:spPr>
          <a:xfrm>
            <a:off x="4919472" y="4160520"/>
            <a:ext cx="1280160" cy="347472"/>
          </a:xfrm>
          <a:prstGeom prst="rect">
            <a:avLst/>
          </a:prstGeom>
          <a:noFill/>
          <a:ln/>
        </p:spPr>
        <p:txBody>
          <a:bodyPr wrap="square" lIns="0" tIns="0" rIns="0" bIns="0" rtlCol="0" anchor="ctr"/>
          <a:lstStyle/>
          <a:p>
            <a:pPr indent="0" marL="0">
              <a:buNone/>
            </a:pPr>
            <a:r>
              <a:rPr lang="en-US" sz="1700" dirty="0">
                <a:solidFill>
                  <a:srgbClr val="FFFFFF"/>
                </a:solidFill>
                <a:latin typeface="Calibri" pitchFamily="34" charset="0"/>
                <a:ea typeface="Calibri" pitchFamily="34" charset="-122"/>
                <a:cs typeface="Calibri" pitchFamily="34" charset="-120"/>
              </a:rPr>
              <a:t>Action</a:t>
            </a:r>
            <a:endParaRPr lang="en-US" sz="1700" dirty="0"/>
          </a:p>
        </p:txBody>
      </p:sp>
      <p:sp>
        <p:nvSpPr>
          <p:cNvPr id="13" name="Shape 11"/>
          <p:cNvSpPr/>
          <p:nvPr/>
        </p:nvSpPr>
        <p:spPr>
          <a:xfrm>
            <a:off x="6217920" y="4114800"/>
            <a:ext cx="420624" cy="420624"/>
          </a:xfrm>
          <a:prstGeom prst="ellipse">
            <a:avLst/>
          </a:prstGeom>
          <a:solidFill>
            <a:srgbClr val="02C39A"/>
          </a:solidFill>
          <a:ln/>
        </p:spPr>
      </p:sp>
      <p:sp>
        <p:nvSpPr>
          <p:cNvPr id="14" name="Text 12"/>
          <p:cNvSpPr/>
          <p:nvPr/>
        </p:nvSpPr>
        <p:spPr>
          <a:xfrm>
            <a:off x="6217920" y="4105656"/>
            <a:ext cx="420624" cy="438912"/>
          </a:xfrm>
          <a:prstGeom prst="rect">
            <a:avLst/>
          </a:prstGeom>
          <a:noFill/>
          <a:ln/>
        </p:spPr>
        <p:txBody>
          <a:bodyPr wrap="square" lIns="0" tIns="0" rIns="0" bIns="0" rtlCol="0" anchor="ctr"/>
          <a:lstStyle/>
          <a:p>
            <a:pPr algn="ctr" indent="0" marL="0">
              <a:buNone/>
            </a:pPr>
            <a:r>
              <a:rPr lang="en-US" sz="1900" b="1" dirty="0">
                <a:solidFill>
                  <a:srgbClr val="1E2761"/>
                </a:solidFill>
                <a:latin typeface="Calibri" pitchFamily="34" charset="0"/>
                <a:ea typeface="Calibri" pitchFamily="34" charset="-122"/>
                <a:cs typeface="Calibri" pitchFamily="34" charset="-120"/>
              </a:rPr>
              <a:t>4</a:t>
            </a:r>
            <a:endParaRPr lang="en-US" sz="1900" dirty="0"/>
          </a:p>
        </p:txBody>
      </p:sp>
      <p:sp>
        <p:nvSpPr>
          <p:cNvPr id="15" name="Text 13"/>
          <p:cNvSpPr/>
          <p:nvPr/>
        </p:nvSpPr>
        <p:spPr>
          <a:xfrm>
            <a:off x="6702552" y="4160520"/>
            <a:ext cx="1280160" cy="347472"/>
          </a:xfrm>
          <a:prstGeom prst="rect">
            <a:avLst/>
          </a:prstGeom>
          <a:noFill/>
          <a:ln/>
        </p:spPr>
        <p:txBody>
          <a:bodyPr wrap="square" lIns="0" tIns="0" rIns="0" bIns="0" rtlCol="0" anchor="ctr"/>
          <a:lstStyle/>
          <a:p>
            <a:pPr indent="0" marL="0">
              <a:buNone/>
            </a:pPr>
            <a:r>
              <a:rPr lang="en-US" sz="1700" dirty="0">
                <a:solidFill>
                  <a:srgbClr val="FFFFFF"/>
                </a:solidFill>
                <a:latin typeface="Calibri" pitchFamily="34" charset="0"/>
                <a:ea typeface="Calibri" pitchFamily="34" charset="-122"/>
                <a:cs typeface="Calibri" pitchFamily="34" charset="-120"/>
              </a:rPr>
              <a:t>Learning</a:t>
            </a:r>
            <a:endParaRPr lang="en-US" sz="1700" dirty="0"/>
          </a:p>
        </p:txBody>
      </p:sp>
      <p:sp>
        <p:nvSpPr>
          <p:cNvPr id="16" name="Text 14"/>
          <p:cNvSpPr/>
          <p:nvPr/>
        </p:nvSpPr>
        <p:spPr>
          <a:xfrm>
            <a:off x="822960" y="5806440"/>
            <a:ext cx="10515600" cy="320040"/>
          </a:xfrm>
          <a:prstGeom prst="rect">
            <a:avLst/>
          </a:prstGeom>
          <a:noFill/>
          <a:ln/>
        </p:spPr>
        <p:txBody>
          <a:bodyPr wrap="square" rtlCol="0" anchor="ctr"/>
          <a:lstStyle/>
          <a:p>
            <a:pPr indent="0" marL="0">
              <a:buNone/>
            </a:pPr>
            <a:r>
              <a:rPr lang="en-US" sz="1450" dirty="0">
                <a:solidFill>
                  <a:srgbClr val="CADCFC"/>
                </a:solidFill>
                <a:latin typeface="Calibri" pitchFamily="34" charset="0"/>
                <a:ea typeface="Calibri" pitchFamily="34" charset="-122"/>
                <a:cs typeface="Calibri" pitchFamily="34" charset="-120"/>
              </a:rPr>
              <a:t>Elvis Shehi  ·  MSc Responsible Artificial Intelligence  ·  OPIT  ·  Supervisor: Prof. Zorina Alliata</a:t>
            </a:r>
            <a:endParaRPr lang="en-US" sz="1450" dirty="0"/>
          </a:p>
        </p:txBody>
      </p:sp>
      <p:sp>
        <p:nvSpPr>
          <p:cNvPr id="17" name="Text 15"/>
          <p:cNvSpPr/>
          <p:nvPr/>
        </p:nvSpPr>
        <p:spPr>
          <a:xfrm>
            <a:off x="822960" y="6163056"/>
            <a:ext cx="10515600" cy="320040"/>
          </a:xfrm>
          <a:prstGeom prst="rect">
            <a:avLst/>
          </a:prstGeom>
          <a:noFill/>
          <a:ln/>
        </p:spPr>
        <p:txBody>
          <a:bodyPr wrap="square" rtlCol="0" anchor="ctr"/>
          <a:lstStyle/>
          <a:p>
            <a:pPr indent="0" marL="0">
              <a:buNone/>
            </a:pPr>
            <a:r>
              <a:rPr lang="en-US" sz="1450" b="1" dirty="0">
                <a:solidFill>
                  <a:srgbClr val="02C39A"/>
                </a:solidFill>
                <a:latin typeface="Calibri" pitchFamily="34" charset="0"/>
                <a:ea typeface="Calibri" pitchFamily="34" charset="-122"/>
                <a:cs typeface="Calibri" pitchFamily="34" charset="-120"/>
              </a:rPr>
              <a:t>Progress review, 22 August 2026</a:t>
            </a:r>
            <a:endParaRPr lang="en-US" sz="14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11430000" y="6382512"/>
            <a:ext cx="457200" cy="256032"/>
          </a:xfrm>
          <a:prstGeom prst="rect">
            <a:avLst/>
          </a:prstGeom>
          <a:noFill/>
          <a:ln/>
        </p:spPr>
        <p:txBody>
          <a:bodyPr wrap="square" lIns="0" tIns="0" rIns="0" bIns="0" rtlCol="0" anchor="ctr"/>
          <a:lstStyle/>
          <a:p>
            <a:pPr algn="r" indent="0" marL="0">
              <a:buNone/>
            </a:pPr>
            <a:r>
              <a:rPr lang="en-US" sz="1100" dirty="0">
                <a:solidFill>
                  <a:srgbClr val="5A6478"/>
                </a:solidFill>
                <a:latin typeface="Calibri" pitchFamily="34" charset="0"/>
                <a:ea typeface="Calibri" pitchFamily="34" charset="-122"/>
                <a:cs typeface="Calibri" pitchFamily="34" charset="-120"/>
              </a:rPr>
              <a:t>2</a:t>
            </a:r>
            <a:endParaRPr lang="en-US" sz="1100" dirty="0"/>
          </a:p>
        </p:txBody>
      </p:sp>
      <p:sp>
        <p:nvSpPr>
          <p:cNvPr id="3" name="Text 1"/>
          <p:cNvSpPr/>
          <p:nvPr/>
        </p:nvSpPr>
        <p:spPr>
          <a:xfrm>
            <a:off x="548640" y="292608"/>
            <a:ext cx="11064240" cy="694944"/>
          </a:xfrm>
          <a:prstGeom prst="rect">
            <a:avLst/>
          </a:prstGeom>
          <a:noFill/>
          <a:ln/>
        </p:spPr>
        <p:txBody>
          <a:bodyPr wrap="square" rtlCol="0" anchor="ctr"/>
          <a:lstStyle/>
          <a:p>
            <a:pPr indent="0" marL="0">
              <a:buNone/>
            </a:pPr>
            <a:r>
              <a:rPr lang="en-US" sz="3000" b="1" dirty="0">
                <a:solidFill>
                  <a:srgbClr val="1A1A2E"/>
                </a:solidFill>
                <a:latin typeface="Cambria" pitchFamily="34" charset="0"/>
                <a:ea typeface="Cambria" pitchFamily="34" charset="-122"/>
                <a:cs typeface="Cambria" pitchFamily="34" charset="-120"/>
              </a:rPr>
              <a:t>Executive summary</a:t>
            </a:r>
            <a:endParaRPr lang="en-US" sz="3000" dirty="0"/>
          </a:p>
        </p:txBody>
      </p:sp>
      <p:sp>
        <p:nvSpPr>
          <p:cNvPr id="4" name="Text 2"/>
          <p:cNvSpPr/>
          <p:nvPr/>
        </p:nvSpPr>
        <p:spPr>
          <a:xfrm>
            <a:off x="548640" y="914400"/>
            <a:ext cx="11064240" cy="365760"/>
          </a:xfrm>
          <a:prstGeom prst="rect">
            <a:avLst/>
          </a:prstGeom>
          <a:noFill/>
          <a:ln/>
        </p:spPr>
        <p:txBody>
          <a:bodyPr wrap="square" rtlCol="0" anchor="ctr"/>
          <a:lstStyle/>
          <a:p>
            <a:pPr indent="0" marL="0">
              <a:buNone/>
            </a:pPr>
            <a:r>
              <a:rPr lang="en-US" sz="1500" dirty="0">
                <a:solidFill>
                  <a:srgbClr val="5A6478"/>
                </a:solidFill>
                <a:latin typeface="Calibri" pitchFamily="34" charset="0"/>
                <a:ea typeface="Calibri" pitchFamily="34" charset="-122"/>
                <a:cs typeface="Calibri" pitchFamily="34" charset="-120"/>
              </a:rPr>
              <a:t>Where the thesis stands, what moved in the last two weeks, and what I need from you</a:t>
            </a:r>
            <a:endParaRPr lang="en-US" sz="1500" dirty="0"/>
          </a:p>
        </p:txBody>
      </p:sp>
      <p:sp>
        <p:nvSpPr>
          <p:cNvPr id="5" name="Shape 3"/>
          <p:cNvSpPr/>
          <p:nvPr/>
        </p:nvSpPr>
        <p:spPr>
          <a:xfrm>
            <a:off x="548640" y="1417320"/>
            <a:ext cx="5440680" cy="1371600"/>
          </a:xfrm>
          <a:prstGeom prst="roundRect">
            <a:avLst>
              <a:gd name="adj" fmla="val 4000"/>
            </a:avLst>
          </a:prstGeom>
          <a:solidFill>
            <a:srgbClr val="F4F7FC"/>
          </a:solidFill>
          <a:ln w="12700">
            <a:solidFill>
              <a:srgbClr val="CADCFC"/>
            </a:solidFill>
            <a:prstDash val="solid"/>
          </a:ln>
        </p:spPr>
      </p:sp>
      <p:sp>
        <p:nvSpPr>
          <p:cNvPr id="6" name="Text 4"/>
          <p:cNvSpPr/>
          <p:nvPr/>
        </p:nvSpPr>
        <p:spPr>
          <a:xfrm>
            <a:off x="713232" y="1508760"/>
            <a:ext cx="5111496" cy="274320"/>
          </a:xfrm>
          <a:prstGeom prst="rect">
            <a:avLst/>
          </a:prstGeom>
          <a:noFill/>
          <a:ln/>
        </p:spPr>
        <p:txBody>
          <a:bodyPr wrap="square" lIns="0" tIns="0" rIns="0" bIns="0"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Built and running</a:t>
            </a:r>
            <a:endParaRPr lang="en-US" sz="1450" dirty="0"/>
          </a:p>
        </p:txBody>
      </p:sp>
      <p:sp>
        <p:nvSpPr>
          <p:cNvPr id="7" name="Text 5"/>
          <p:cNvSpPr/>
          <p:nvPr/>
        </p:nvSpPr>
        <p:spPr>
          <a:xfrm>
            <a:off x="713232" y="1801368"/>
            <a:ext cx="5111496" cy="877824"/>
          </a:xfrm>
          <a:prstGeom prst="rect">
            <a:avLst/>
          </a:prstGeom>
          <a:noFill/>
          <a:ln/>
        </p:spPr>
        <p:txBody>
          <a:bodyPr wrap="square" lIns="0" tIns="0" rIns="0" bIns="0" rtlCol="0" anchor="ctr"/>
          <a:lstStyle/>
          <a:p>
            <a:pPr indent="0" marL="0">
              <a:buNone/>
            </a:pPr>
            <a:r>
              <a:rPr lang="en-US" sz="1200" dirty="0">
                <a:solidFill>
                  <a:srgbClr val="1A1A2E"/>
                </a:solidFill>
                <a:latin typeface="Calibri" pitchFamily="34" charset="0"/>
                <a:ea typeface="Calibri" pitchFamily="34" charset="-122"/>
                <a:cs typeface="Calibri" pitchFamily="34" charset="-120"/>
              </a:rPr>
              <a:t>The artifact runs the whole loop in production. Signal in, insight, approved action out to Jira and Slack, outcome measured against a contract, learning kept and retrieved on the next decision.</a:t>
            </a:r>
            <a:endParaRPr lang="en-US" sz="1200" dirty="0"/>
          </a:p>
        </p:txBody>
      </p:sp>
      <p:sp>
        <p:nvSpPr>
          <p:cNvPr id="8" name="Shape 6"/>
          <p:cNvSpPr/>
          <p:nvPr/>
        </p:nvSpPr>
        <p:spPr>
          <a:xfrm>
            <a:off x="6172200" y="1417320"/>
            <a:ext cx="5440680" cy="1371600"/>
          </a:xfrm>
          <a:prstGeom prst="roundRect">
            <a:avLst>
              <a:gd name="adj" fmla="val 4000"/>
            </a:avLst>
          </a:prstGeom>
          <a:solidFill>
            <a:srgbClr val="F4F7FC"/>
          </a:solidFill>
          <a:ln w="12700">
            <a:solidFill>
              <a:srgbClr val="CADCFC"/>
            </a:solidFill>
            <a:prstDash val="solid"/>
          </a:ln>
        </p:spPr>
      </p:sp>
      <p:sp>
        <p:nvSpPr>
          <p:cNvPr id="9" name="Text 7"/>
          <p:cNvSpPr/>
          <p:nvPr/>
        </p:nvSpPr>
        <p:spPr>
          <a:xfrm>
            <a:off x="6336792" y="1508760"/>
            <a:ext cx="5111496" cy="274320"/>
          </a:xfrm>
          <a:prstGeom prst="rect">
            <a:avLst/>
          </a:prstGeom>
          <a:noFill/>
          <a:ln/>
        </p:spPr>
        <p:txBody>
          <a:bodyPr wrap="square" lIns="0" tIns="0" rIns="0" bIns="0"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Measured</a:t>
            </a:r>
            <a:endParaRPr lang="en-US" sz="1450" dirty="0"/>
          </a:p>
        </p:txBody>
      </p:sp>
      <p:sp>
        <p:nvSpPr>
          <p:cNvPr id="10" name="Text 8"/>
          <p:cNvSpPr/>
          <p:nvPr/>
        </p:nvSpPr>
        <p:spPr>
          <a:xfrm>
            <a:off x="6336792" y="1801368"/>
            <a:ext cx="5111496" cy="877824"/>
          </a:xfrm>
          <a:prstGeom prst="rect">
            <a:avLst/>
          </a:prstGeom>
          <a:noFill/>
          <a:ln/>
        </p:spPr>
        <p:txBody>
          <a:bodyPr wrap="square" lIns="0" tIns="0" rIns="0" bIns="0" rtlCol="0" anchor="ctr"/>
          <a:lstStyle/>
          <a:p>
            <a:pPr indent="0" marL="0">
              <a:buNone/>
            </a:pPr>
            <a:r>
              <a:rPr lang="en-US" sz="1200" dirty="0">
                <a:solidFill>
                  <a:srgbClr val="1A1A2E"/>
                </a:solidFill>
                <a:latin typeface="Calibri" pitchFamily="34" charset="0"/>
                <a:ea typeface="Calibri" pitchFamily="34" charset="-122"/>
                <a:cs typeface="Calibri" pitchFamily="34" charset="-120"/>
              </a:rPr>
              <a:t>The quantitative evaluation is complete on 188 real seed-labelled signals. Three predictors now sit on one gold standard, with paired significance tests between all three.</a:t>
            </a:r>
            <a:endParaRPr lang="en-US" sz="1200" dirty="0"/>
          </a:p>
        </p:txBody>
      </p:sp>
      <p:sp>
        <p:nvSpPr>
          <p:cNvPr id="11" name="Shape 9"/>
          <p:cNvSpPr/>
          <p:nvPr/>
        </p:nvSpPr>
        <p:spPr>
          <a:xfrm>
            <a:off x="548640" y="2926080"/>
            <a:ext cx="5440680" cy="1371600"/>
          </a:xfrm>
          <a:prstGeom prst="roundRect">
            <a:avLst>
              <a:gd name="adj" fmla="val 4000"/>
            </a:avLst>
          </a:prstGeom>
          <a:solidFill>
            <a:srgbClr val="F4F7FC"/>
          </a:solidFill>
          <a:ln w="12700">
            <a:solidFill>
              <a:srgbClr val="CADCFC"/>
            </a:solidFill>
            <a:prstDash val="solid"/>
          </a:ln>
        </p:spPr>
      </p:sp>
      <p:sp>
        <p:nvSpPr>
          <p:cNvPr id="12" name="Text 10"/>
          <p:cNvSpPr/>
          <p:nvPr/>
        </p:nvSpPr>
        <p:spPr>
          <a:xfrm>
            <a:off x="713232" y="3017520"/>
            <a:ext cx="5111496" cy="274320"/>
          </a:xfrm>
          <a:prstGeom prst="rect">
            <a:avLst/>
          </a:prstGeom>
          <a:noFill/>
          <a:ln/>
        </p:spPr>
        <p:txBody>
          <a:bodyPr wrap="square" lIns="0" tIns="0" rIns="0" bIns="0"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The result that matters</a:t>
            </a:r>
            <a:endParaRPr lang="en-US" sz="1450" dirty="0"/>
          </a:p>
        </p:txBody>
      </p:sp>
      <p:sp>
        <p:nvSpPr>
          <p:cNvPr id="13" name="Text 11"/>
          <p:cNvSpPr/>
          <p:nvPr/>
        </p:nvSpPr>
        <p:spPr>
          <a:xfrm>
            <a:off x="713232" y="3310128"/>
            <a:ext cx="5111496" cy="877824"/>
          </a:xfrm>
          <a:prstGeom prst="rect">
            <a:avLst/>
          </a:prstGeom>
          <a:noFill/>
          <a:ln/>
        </p:spPr>
        <p:txBody>
          <a:bodyPr wrap="square" lIns="0" tIns="0" rIns="0" bIns="0" rtlCol="0" anchor="ctr"/>
          <a:lstStyle/>
          <a:p>
            <a:pPr indent="0" marL="0">
              <a:buNone/>
            </a:pPr>
            <a:r>
              <a:rPr lang="en-US" sz="1200" dirty="0">
                <a:solidFill>
                  <a:srgbClr val="1A1A2E"/>
                </a:solidFill>
                <a:latin typeface="Calibri" pitchFamily="34" charset="0"/>
                <a:ea typeface="Calibri" pitchFamily="34" charset="-122"/>
                <a:cs typeface="Calibri" pitchFamily="34" charset="-120"/>
              </a:rPr>
              <a:t>Triage accuracy depends on the method, and the method decides whose problems reach a human. Only the contextual path escalates German-source and English-source signals at close to the same rate.</a:t>
            </a:r>
            <a:endParaRPr lang="en-US" sz="1200" dirty="0"/>
          </a:p>
        </p:txBody>
      </p:sp>
      <p:sp>
        <p:nvSpPr>
          <p:cNvPr id="14" name="Shape 12"/>
          <p:cNvSpPr/>
          <p:nvPr/>
        </p:nvSpPr>
        <p:spPr>
          <a:xfrm>
            <a:off x="6172200" y="2926080"/>
            <a:ext cx="5440680" cy="1371600"/>
          </a:xfrm>
          <a:prstGeom prst="roundRect">
            <a:avLst>
              <a:gd name="adj" fmla="val 4000"/>
            </a:avLst>
          </a:prstGeom>
          <a:solidFill>
            <a:srgbClr val="F4F7FC"/>
          </a:solidFill>
          <a:ln w="12700">
            <a:solidFill>
              <a:srgbClr val="CADCFC"/>
            </a:solidFill>
            <a:prstDash val="solid"/>
          </a:ln>
        </p:spPr>
      </p:sp>
      <p:sp>
        <p:nvSpPr>
          <p:cNvPr id="15" name="Text 13"/>
          <p:cNvSpPr/>
          <p:nvPr/>
        </p:nvSpPr>
        <p:spPr>
          <a:xfrm>
            <a:off x="6336792" y="3017520"/>
            <a:ext cx="5111496" cy="274320"/>
          </a:xfrm>
          <a:prstGeom prst="rect">
            <a:avLst/>
          </a:prstGeom>
          <a:noFill/>
          <a:ln/>
        </p:spPr>
        <p:txBody>
          <a:bodyPr wrap="square" lIns="0" tIns="0" rIns="0" bIns="0" rtlCol="0" anchor="ctr"/>
          <a:lstStyle/>
          <a:p>
            <a:pPr indent="0" marL="0">
              <a:buNone/>
            </a:pPr>
            <a:r>
              <a:rPr lang="en-US" sz="1450" b="1" dirty="0">
                <a:solidFill>
                  <a:srgbClr val="990011"/>
                </a:solidFill>
                <a:latin typeface="Calibri" pitchFamily="34" charset="0"/>
                <a:ea typeface="Calibri" pitchFamily="34" charset="-122"/>
                <a:cs typeface="Calibri" pitchFamily="34" charset="-120"/>
              </a:rPr>
              <a:t>What has not moved</a:t>
            </a:r>
            <a:endParaRPr lang="en-US" sz="1450" dirty="0"/>
          </a:p>
        </p:txBody>
      </p:sp>
      <p:sp>
        <p:nvSpPr>
          <p:cNvPr id="16" name="Text 14"/>
          <p:cNvSpPr/>
          <p:nvPr/>
        </p:nvSpPr>
        <p:spPr>
          <a:xfrm>
            <a:off x="6336792" y="3310128"/>
            <a:ext cx="5111496" cy="877824"/>
          </a:xfrm>
          <a:prstGeom prst="rect">
            <a:avLst/>
          </a:prstGeom>
          <a:noFill/>
          <a:ln/>
        </p:spPr>
        <p:txBody>
          <a:bodyPr wrap="square" lIns="0" tIns="0" rIns="0" bIns="0" rtlCol="0" anchor="ctr"/>
          <a:lstStyle/>
          <a:p>
            <a:pPr indent="0" marL="0">
              <a:buNone/>
            </a:pPr>
            <a:r>
              <a:rPr lang="en-US" sz="1200" dirty="0">
                <a:solidFill>
                  <a:srgbClr val="1A1A2E"/>
                </a:solidFill>
                <a:latin typeface="Calibri" pitchFamily="34" charset="0"/>
                <a:ea typeface="Calibri" pitchFamily="34" charset="-122"/>
                <a:cs typeface="Calibri" pitchFamily="34" charset="-120"/>
              </a:rPr>
              <a:t>The practitioner study is still at zero interviews, and the outcome data behind the learning loop is still simulated. Both sit on the critical path to submission.</a:t>
            </a:r>
            <a:endParaRPr lang="en-US" sz="1200" dirty="0"/>
          </a:p>
        </p:txBody>
      </p:sp>
      <p:sp>
        <p:nvSpPr>
          <p:cNvPr id="17" name="Shape 15"/>
          <p:cNvSpPr/>
          <p:nvPr/>
        </p:nvSpPr>
        <p:spPr>
          <a:xfrm>
            <a:off x="548640" y="4526280"/>
            <a:ext cx="11064240" cy="1645920"/>
          </a:xfrm>
          <a:prstGeom prst="roundRect">
            <a:avLst>
              <a:gd name="adj" fmla="val 3333"/>
            </a:avLst>
          </a:prstGeom>
          <a:solidFill>
            <a:srgbClr val="1E2761"/>
          </a:solidFill>
          <a:ln/>
        </p:spPr>
      </p:sp>
      <p:sp>
        <p:nvSpPr>
          <p:cNvPr id="18" name="Text 16"/>
          <p:cNvSpPr/>
          <p:nvPr/>
        </p:nvSpPr>
        <p:spPr>
          <a:xfrm>
            <a:off x="749808" y="4636008"/>
            <a:ext cx="10661904" cy="274320"/>
          </a:xfrm>
          <a:prstGeom prst="rect">
            <a:avLst/>
          </a:prstGeom>
          <a:noFill/>
          <a:ln/>
        </p:spPr>
        <p:txBody>
          <a:bodyPr wrap="square" lIns="0" tIns="0" rIns="0" bIns="0" rtlCol="0" anchor="ctr"/>
          <a:lstStyle/>
          <a:p>
            <a:pPr indent="0" marL="0">
              <a:buNone/>
            </a:pPr>
            <a:r>
              <a:rPr lang="en-US" sz="1400" b="1" dirty="0">
                <a:solidFill>
                  <a:srgbClr val="CADCFC"/>
                </a:solidFill>
                <a:latin typeface="Calibri" pitchFamily="34" charset="0"/>
                <a:ea typeface="Calibri" pitchFamily="34" charset="-122"/>
                <a:cs typeface="Calibri" pitchFamily="34" charset="-120"/>
              </a:rPr>
              <a:t>What I need from you today</a:t>
            </a:r>
            <a:endParaRPr lang="en-US" sz="1400" dirty="0"/>
          </a:p>
        </p:txBody>
      </p:sp>
      <p:sp>
        <p:nvSpPr>
          <p:cNvPr id="19" name="Text 17"/>
          <p:cNvSpPr/>
          <p:nvPr/>
        </p:nvSpPr>
        <p:spPr>
          <a:xfrm>
            <a:off x="749808" y="4946904"/>
            <a:ext cx="10661904" cy="1115568"/>
          </a:xfrm>
          <a:prstGeom prst="rect">
            <a:avLst/>
          </a:prstGeom>
          <a:noFill/>
          <a:ln/>
        </p:spPr>
        <p:txBody>
          <a:bodyPr wrap="square" lIns="0" tIns="0" rIns="0" bIns="0" rtlCol="0" anchor="ctr"/>
          <a:lstStyle/>
          <a:p>
            <a:pPr indent="0" marL="0">
              <a:buNone/>
            </a:pPr>
            <a:r>
              <a:rPr lang="en-US" sz="1450" dirty="0">
                <a:solidFill>
                  <a:srgbClr val="FFFFFF"/>
                </a:solidFill>
                <a:latin typeface="Calibri" pitchFamily="34" charset="0"/>
                <a:ea typeface="Calibri" pitchFamily="34" charset="-122"/>
                <a:cs typeface="Calibri" pitchFamily="34" charset="-120"/>
              </a:rPr>
              <a:t>1. The ethics step. The consent form still says to check with you, and the manuscript already says the study runs under confirmed OPIT expectations. One of those has to change.</a:t>
            </a:r>
            <a:endParaRPr lang="en-US" sz="1450" dirty="0"/>
          </a:p>
          <a:p>
            <a:pPr indent="0" marL="0">
              <a:buNone/>
            </a:pPr>
            <a:r>
              <a:rPr lang="en-US" sz="1450" dirty="0">
                <a:solidFill>
                  <a:srgbClr val="FFFFFF"/>
                </a:solidFill>
                <a:latin typeface="Calibri" pitchFamily="34" charset="0"/>
                <a:ea typeface="Calibri" pitchFamily="34" charset="-122"/>
                <a:cs typeface="Calibri" pitchFamily="34" charset="-120"/>
              </a:rPr>
              <a:t>2. Help reaching practitioners, so that twelve to fifteen sessions in September is realistic.</a:t>
            </a:r>
            <a:endParaRPr lang="en-US" sz="1450" dirty="0"/>
          </a:p>
          <a:p>
            <a:pPr indent="0" marL="0">
              <a:buNone/>
            </a:pPr>
            <a:r>
              <a:rPr lang="en-US" sz="1450" dirty="0">
                <a:solidFill>
                  <a:srgbClr val="FFFFFF"/>
                </a:solidFill>
                <a:latin typeface="Calibri" pitchFamily="34" charset="0"/>
                <a:ea typeface="Calibri" pitchFamily="34" charset="-122"/>
                <a:cs typeface="Calibri" pitchFamily="34" charset="-120"/>
              </a:rPr>
              <a:t>3. Scope. Of the evidence still outstanding, which do you consider required for submission and which is honest future work.</a:t>
            </a:r>
            <a:endParaRPr lang="en-US" sz="14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11430000" y="6382512"/>
            <a:ext cx="457200" cy="256032"/>
          </a:xfrm>
          <a:prstGeom prst="rect">
            <a:avLst/>
          </a:prstGeom>
          <a:noFill/>
          <a:ln/>
        </p:spPr>
        <p:txBody>
          <a:bodyPr wrap="square" lIns="0" tIns="0" rIns="0" bIns="0" rtlCol="0" anchor="ctr"/>
          <a:lstStyle/>
          <a:p>
            <a:pPr algn="r" indent="0" marL="0">
              <a:buNone/>
            </a:pPr>
            <a:r>
              <a:rPr lang="en-US" sz="1100" dirty="0">
                <a:solidFill>
                  <a:srgbClr val="5A6478"/>
                </a:solidFill>
                <a:latin typeface="Calibri" pitchFamily="34" charset="0"/>
                <a:ea typeface="Calibri" pitchFamily="34" charset="-122"/>
                <a:cs typeface="Calibri" pitchFamily="34" charset="-120"/>
              </a:rPr>
              <a:t>3</a:t>
            </a:r>
            <a:endParaRPr lang="en-US" sz="1100" dirty="0"/>
          </a:p>
        </p:txBody>
      </p:sp>
      <p:sp>
        <p:nvSpPr>
          <p:cNvPr id="3" name="Text 1"/>
          <p:cNvSpPr/>
          <p:nvPr/>
        </p:nvSpPr>
        <p:spPr>
          <a:xfrm>
            <a:off x="548640" y="292608"/>
            <a:ext cx="11064240" cy="694944"/>
          </a:xfrm>
          <a:prstGeom prst="rect">
            <a:avLst/>
          </a:prstGeom>
          <a:noFill/>
          <a:ln/>
        </p:spPr>
        <p:txBody>
          <a:bodyPr wrap="square" rtlCol="0" anchor="ctr"/>
          <a:lstStyle/>
          <a:p>
            <a:pPr indent="0" marL="0">
              <a:buNone/>
            </a:pPr>
            <a:r>
              <a:rPr lang="en-US" sz="3000" b="1" dirty="0">
                <a:solidFill>
                  <a:srgbClr val="1A1A2E"/>
                </a:solidFill>
                <a:latin typeface="Cambria" pitchFamily="34" charset="0"/>
                <a:ea typeface="Cambria" pitchFamily="34" charset="-122"/>
                <a:cs typeface="Cambria" pitchFamily="34" charset="-120"/>
              </a:rPr>
              <a:t>Research questions and method</a:t>
            </a:r>
            <a:endParaRPr lang="en-US" sz="3000" dirty="0"/>
          </a:p>
        </p:txBody>
      </p:sp>
      <p:sp>
        <p:nvSpPr>
          <p:cNvPr id="4" name="Text 2"/>
          <p:cNvSpPr/>
          <p:nvPr/>
        </p:nvSpPr>
        <p:spPr>
          <a:xfrm>
            <a:off x="548640" y="914400"/>
            <a:ext cx="11064240" cy="365760"/>
          </a:xfrm>
          <a:prstGeom prst="rect">
            <a:avLst/>
          </a:prstGeom>
          <a:noFill/>
          <a:ln/>
        </p:spPr>
        <p:txBody>
          <a:bodyPr wrap="square" rtlCol="0" anchor="ctr"/>
          <a:lstStyle/>
          <a:p>
            <a:pPr indent="0" marL="0">
              <a:buNone/>
            </a:pPr>
            <a:r>
              <a:rPr lang="en-US" sz="1500" dirty="0">
                <a:solidFill>
                  <a:srgbClr val="5A6478"/>
                </a:solidFill>
                <a:latin typeface="Calibri" pitchFamily="34" charset="0"/>
                <a:ea typeface="Calibri" pitchFamily="34" charset="-122"/>
                <a:cs typeface="Calibri" pitchFamily="34" charset="-120"/>
              </a:rPr>
              <a:t>Design science research, so the artifact is the research output (Hevner, 2004; Peffers et al., 2007)</a:t>
            </a:r>
            <a:endParaRPr lang="en-US" sz="1500" dirty="0"/>
          </a:p>
        </p:txBody>
      </p:sp>
      <p:sp>
        <p:nvSpPr>
          <p:cNvPr id="5" name="Shape 3"/>
          <p:cNvSpPr/>
          <p:nvPr/>
        </p:nvSpPr>
        <p:spPr>
          <a:xfrm>
            <a:off x="548640" y="1417320"/>
            <a:ext cx="5440680" cy="1170432"/>
          </a:xfrm>
          <a:prstGeom prst="roundRect">
            <a:avLst>
              <a:gd name="adj" fmla="val 4688"/>
            </a:avLst>
          </a:prstGeom>
          <a:solidFill>
            <a:srgbClr val="F4F7FC"/>
          </a:solidFill>
          <a:ln w="12700">
            <a:solidFill>
              <a:srgbClr val="CADCFC"/>
            </a:solidFill>
            <a:prstDash val="solid"/>
          </a:ln>
        </p:spPr>
      </p:sp>
      <p:sp>
        <p:nvSpPr>
          <p:cNvPr id="6" name="Text 4"/>
          <p:cNvSpPr/>
          <p:nvPr/>
        </p:nvSpPr>
        <p:spPr>
          <a:xfrm>
            <a:off x="713232" y="1508760"/>
            <a:ext cx="5111496" cy="274320"/>
          </a:xfrm>
          <a:prstGeom prst="rect">
            <a:avLst/>
          </a:prstGeom>
          <a:noFill/>
          <a:ln/>
        </p:spPr>
        <p:txBody>
          <a:bodyPr wrap="square" lIns="0" tIns="0" rIns="0" bIns="0"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RQ1. Core</a:t>
            </a:r>
            <a:endParaRPr lang="en-US" sz="1450" dirty="0"/>
          </a:p>
        </p:txBody>
      </p:sp>
      <p:sp>
        <p:nvSpPr>
          <p:cNvPr id="7" name="Text 5"/>
          <p:cNvSpPr/>
          <p:nvPr/>
        </p:nvSpPr>
        <p:spPr>
          <a:xfrm>
            <a:off x="713232" y="1801368"/>
            <a:ext cx="5111496" cy="676656"/>
          </a:xfrm>
          <a:prstGeom prst="rect">
            <a:avLst/>
          </a:prstGeom>
          <a:noFill/>
          <a:ln/>
        </p:spPr>
        <p:txBody>
          <a:bodyPr wrap="square" lIns="0" tIns="0" rIns="0" bIns="0" rtlCol="0" anchor="ctr"/>
          <a:lstStyle/>
          <a:p>
            <a:pPr indent="0" marL="0">
              <a:buNone/>
            </a:pPr>
            <a:r>
              <a:rPr lang="en-US" sz="1300" dirty="0">
                <a:solidFill>
                  <a:srgbClr val="1A1A2E"/>
                </a:solidFill>
                <a:latin typeface="Calibri" pitchFamily="34" charset="0"/>
                <a:ea typeface="Calibri" pitchFamily="34" charset="-122"/>
                <a:cs typeface="Calibri" pitchFamily="34" charset="-120"/>
              </a:rPr>
              <a:t>How can an artifact make actions governed, executed and verified to have closed, and turn what worked into learning that is reused?</a:t>
            </a:r>
            <a:endParaRPr lang="en-US" sz="1300" dirty="0"/>
          </a:p>
        </p:txBody>
      </p:sp>
      <p:sp>
        <p:nvSpPr>
          <p:cNvPr id="8" name="Shape 6"/>
          <p:cNvSpPr/>
          <p:nvPr/>
        </p:nvSpPr>
        <p:spPr>
          <a:xfrm>
            <a:off x="6172200" y="1417320"/>
            <a:ext cx="5440680" cy="1170432"/>
          </a:xfrm>
          <a:prstGeom prst="roundRect">
            <a:avLst>
              <a:gd name="adj" fmla="val 4688"/>
            </a:avLst>
          </a:prstGeom>
          <a:solidFill>
            <a:srgbClr val="F4F7FC"/>
          </a:solidFill>
          <a:ln w="12700">
            <a:solidFill>
              <a:srgbClr val="CADCFC"/>
            </a:solidFill>
            <a:prstDash val="solid"/>
          </a:ln>
        </p:spPr>
      </p:sp>
      <p:sp>
        <p:nvSpPr>
          <p:cNvPr id="9" name="Text 7"/>
          <p:cNvSpPr/>
          <p:nvPr/>
        </p:nvSpPr>
        <p:spPr>
          <a:xfrm>
            <a:off x="6336792" y="1508760"/>
            <a:ext cx="5111496" cy="274320"/>
          </a:xfrm>
          <a:prstGeom prst="rect">
            <a:avLst/>
          </a:prstGeom>
          <a:noFill/>
          <a:ln/>
        </p:spPr>
        <p:txBody>
          <a:bodyPr wrap="square" lIns="0" tIns="0" rIns="0" bIns="0"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RQ2. Governance</a:t>
            </a:r>
            <a:endParaRPr lang="en-US" sz="1450" dirty="0"/>
          </a:p>
        </p:txBody>
      </p:sp>
      <p:sp>
        <p:nvSpPr>
          <p:cNvPr id="10" name="Text 8"/>
          <p:cNvSpPr/>
          <p:nvPr/>
        </p:nvSpPr>
        <p:spPr>
          <a:xfrm>
            <a:off x="6336792" y="1801368"/>
            <a:ext cx="5111496" cy="676656"/>
          </a:xfrm>
          <a:prstGeom prst="rect">
            <a:avLst/>
          </a:prstGeom>
          <a:noFill/>
          <a:ln/>
        </p:spPr>
        <p:txBody>
          <a:bodyPr wrap="square" lIns="0" tIns="0" rIns="0" bIns="0" rtlCol="0" anchor="ctr"/>
          <a:lstStyle/>
          <a:p>
            <a:pPr indent="0" marL="0">
              <a:buNone/>
            </a:pPr>
            <a:r>
              <a:rPr lang="en-US" sz="1300" dirty="0">
                <a:solidFill>
                  <a:srgbClr val="1A1A2E"/>
                </a:solidFill>
                <a:latin typeface="Calibri" pitchFamily="34" charset="0"/>
                <a:ea typeface="Calibri" pitchFamily="34" charset="-122"/>
                <a:cs typeface="Calibri" pitchFamily="34" charset="-120"/>
              </a:rPr>
              <a:t>What design lets automated action meet the EU AI Act and GDPR without slowing practitioners more than the risk warrants?</a:t>
            </a:r>
            <a:endParaRPr lang="en-US" sz="1300" dirty="0"/>
          </a:p>
        </p:txBody>
      </p:sp>
      <p:sp>
        <p:nvSpPr>
          <p:cNvPr id="11" name="Shape 9"/>
          <p:cNvSpPr/>
          <p:nvPr/>
        </p:nvSpPr>
        <p:spPr>
          <a:xfrm>
            <a:off x="548640" y="2715768"/>
            <a:ext cx="5440680" cy="1170432"/>
          </a:xfrm>
          <a:prstGeom prst="roundRect">
            <a:avLst>
              <a:gd name="adj" fmla="val 4688"/>
            </a:avLst>
          </a:prstGeom>
          <a:solidFill>
            <a:srgbClr val="F4F7FC"/>
          </a:solidFill>
          <a:ln w="12700">
            <a:solidFill>
              <a:srgbClr val="CADCFC"/>
            </a:solidFill>
            <a:prstDash val="solid"/>
          </a:ln>
        </p:spPr>
      </p:sp>
      <p:sp>
        <p:nvSpPr>
          <p:cNvPr id="12" name="Text 10"/>
          <p:cNvSpPr/>
          <p:nvPr/>
        </p:nvSpPr>
        <p:spPr>
          <a:xfrm>
            <a:off x="713232" y="2807208"/>
            <a:ext cx="5111496" cy="274320"/>
          </a:xfrm>
          <a:prstGeom prst="rect">
            <a:avLst/>
          </a:prstGeom>
          <a:noFill/>
          <a:ln/>
        </p:spPr>
        <p:txBody>
          <a:bodyPr wrap="square" lIns="0" tIns="0" rIns="0" bIns="0"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RQ3a. Accuracy</a:t>
            </a:r>
            <a:endParaRPr lang="en-US" sz="1450" dirty="0"/>
          </a:p>
        </p:txBody>
      </p:sp>
      <p:sp>
        <p:nvSpPr>
          <p:cNvPr id="13" name="Text 11"/>
          <p:cNvSpPr/>
          <p:nvPr/>
        </p:nvSpPr>
        <p:spPr>
          <a:xfrm>
            <a:off x="713232" y="3099816"/>
            <a:ext cx="5111496" cy="676656"/>
          </a:xfrm>
          <a:prstGeom prst="rect">
            <a:avLst/>
          </a:prstGeom>
          <a:noFill/>
          <a:ln/>
        </p:spPr>
        <p:txBody>
          <a:bodyPr wrap="square" lIns="0" tIns="0" rIns="0" bIns="0" rtlCol="0" anchor="ctr"/>
          <a:lstStyle/>
          <a:p>
            <a:pPr indent="0" marL="0">
              <a:buNone/>
            </a:pPr>
            <a:r>
              <a:rPr lang="en-US" sz="1300" dirty="0">
                <a:solidFill>
                  <a:srgbClr val="1A1A2E"/>
                </a:solidFill>
                <a:latin typeface="Calibri" pitchFamily="34" charset="0"/>
                <a:ea typeface="Calibri" pitchFamily="34" charset="-122"/>
                <a:cs typeface="Calibri" pitchFamily="34" charset="-120"/>
              </a:rPr>
              <a:t>How accurately does AI enrichment and routing reproduce reference labels on real feedback, across sectors? Answered: three predictors on one gold standard.</a:t>
            </a:r>
            <a:endParaRPr lang="en-US" sz="1300" dirty="0"/>
          </a:p>
        </p:txBody>
      </p:sp>
      <p:sp>
        <p:nvSpPr>
          <p:cNvPr id="14" name="Shape 12"/>
          <p:cNvSpPr/>
          <p:nvPr/>
        </p:nvSpPr>
        <p:spPr>
          <a:xfrm>
            <a:off x="6172200" y="2715768"/>
            <a:ext cx="5440680" cy="1170432"/>
          </a:xfrm>
          <a:prstGeom prst="roundRect">
            <a:avLst>
              <a:gd name="adj" fmla="val 4688"/>
            </a:avLst>
          </a:prstGeom>
          <a:solidFill>
            <a:srgbClr val="F4F7FC"/>
          </a:solidFill>
          <a:ln w="12700">
            <a:solidFill>
              <a:srgbClr val="CADCFC"/>
            </a:solidFill>
            <a:prstDash val="solid"/>
          </a:ln>
        </p:spPr>
      </p:sp>
      <p:sp>
        <p:nvSpPr>
          <p:cNvPr id="15" name="Text 13"/>
          <p:cNvSpPr/>
          <p:nvPr/>
        </p:nvSpPr>
        <p:spPr>
          <a:xfrm>
            <a:off x="6336792" y="2807208"/>
            <a:ext cx="5111496" cy="274320"/>
          </a:xfrm>
          <a:prstGeom prst="rect">
            <a:avLst/>
          </a:prstGeom>
          <a:noFill/>
          <a:ln/>
        </p:spPr>
        <p:txBody>
          <a:bodyPr wrap="square" lIns="0" tIns="0" rIns="0" bIns="0"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RQ3b. Equity</a:t>
            </a:r>
            <a:endParaRPr lang="en-US" sz="1450" dirty="0"/>
          </a:p>
        </p:txBody>
      </p:sp>
      <p:sp>
        <p:nvSpPr>
          <p:cNvPr id="16" name="Text 14"/>
          <p:cNvSpPr/>
          <p:nvPr/>
        </p:nvSpPr>
        <p:spPr>
          <a:xfrm>
            <a:off x="6336792" y="3099816"/>
            <a:ext cx="5111496" cy="676656"/>
          </a:xfrm>
          <a:prstGeom prst="rect">
            <a:avLst/>
          </a:prstGeom>
          <a:noFill/>
          <a:ln/>
        </p:spPr>
        <p:txBody>
          <a:bodyPr wrap="square" lIns="0" tIns="0" rIns="0" bIns="0" rtlCol="0" anchor="ctr"/>
          <a:lstStyle/>
          <a:p>
            <a:pPr indent="0" marL="0">
              <a:buNone/>
            </a:pPr>
            <a:r>
              <a:rPr lang="en-US" sz="1300" dirty="0">
                <a:solidFill>
                  <a:srgbClr val="1A1A2E"/>
                </a:solidFill>
                <a:latin typeface="Calibri" pitchFamily="34" charset="0"/>
                <a:ea typeface="Calibri" pitchFamily="34" charset="-122"/>
                <a:cs typeface="Calibri" pitchFamily="34" charset="-120"/>
              </a:rPr>
              <a:t>Is triage reliability equal across language strata, defined here by the source review's language? Answered, and tightly bounded.</a:t>
            </a:r>
            <a:endParaRPr lang="en-US" sz="1300" dirty="0"/>
          </a:p>
        </p:txBody>
      </p:sp>
      <p:sp>
        <p:nvSpPr>
          <p:cNvPr id="17" name="Shape 15"/>
          <p:cNvSpPr/>
          <p:nvPr/>
        </p:nvSpPr>
        <p:spPr>
          <a:xfrm>
            <a:off x="548640" y="4041648"/>
            <a:ext cx="11064240" cy="960120"/>
          </a:xfrm>
          <a:prstGeom prst="roundRect">
            <a:avLst>
              <a:gd name="adj" fmla="val 5714"/>
            </a:avLst>
          </a:prstGeom>
          <a:solidFill>
            <a:srgbClr val="F4F7FC"/>
          </a:solidFill>
          <a:ln w="12700">
            <a:solidFill>
              <a:srgbClr val="CADCFC"/>
            </a:solidFill>
            <a:prstDash val="solid"/>
          </a:ln>
        </p:spPr>
      </p:sp>
      <p:sp>
        <p:nvSpPr>
          <p:cNvPr id="18" name="Text 16"/>
          <p:cNvSpPr/>
          <p:nvPr/>
        </p:nvSpPr>
        <p:spPr>
          <a:xfrm>
            <a:off x="713232" y="4133088"/>
            <a:ext cx="10735056" cy="274320"/>
          </a:xfrm>
          <a:prstGeom prst="rect">
            <a:avLst/>
          </a:prstGeom>
          <a:noFill/>
          <a:ln/>
        </p:spPr>
        <p:txBody>
          <a:bodyPr wrap="square" lIns="0" tIns="0" rIns="0" bIns="0" rtlCol="0" anchor="ctr"/>
          <a:lstStyle/>
          <a:p>
            <a:pPr indent="0" marL="0">
              <a:buNone/>
            </a:pPr>
            <a:r>
              <a:rPr lang="en-US" sz="1450" b="1" dirty="0">
                <a:solidFill>
                  <a:srgbClr val="990011"/>
                </a:solidFill>
                <a:latin typeface="Calibri" pitchFamily="34" charset="0"/>
                <a:ea typeface="Calibri" pitchFamily="34" charset="-122"/>
                <a:cs typeface="Calibri" pitchFamily="34" charset="-120"/>
              </a:rPr>
              <a:t>RQ4. Practitioner value</a:t>
            </a:r>
            <a:endParaRPr lang="en-US" sz="1450" dirty="0"/>
          </a:p>
        </p:txBody>
      </p:sp>
      <p:sp>
        <p:nvSpPr>
          <p:cNvPr id="19" name="Text 17"/>
          <p:cNvSpPr/>
          <p:nvPr/>
        </p:nvSpPr>
        <p:spPr>
          <a:xfrm>
            <a:off x="713232" y="4425696"/>
            <a:ext cx="10735056" cy="466344"/>
          </a:xfrm>
          <a:prstGeom prst="rect">
            <a:avLst/>
          </a:prstGeom>
          <a:noFill/>
          <a:ln/>
        </p:spPr>
        <p:txBody>
          <a:bodyPr wrap="square" lIns="0" tIns="0" rIns="0" bIns="0" rtlCol="0" anchor="ctr"/>
          <a:lstStyle/>
          <a:p>
            <a:pPr indent="0" marL="0">
              <a:buNone/>
            </a:pPr>
            <a:r>
              <a:rPr lang="en-US" sz="1300" dirty="0">
                <a:solidFill>
                  <a:srgbClr val="1A1A2E"/>
                </a:solidFill>
                <a:latin typeface="Calibri" pitchFamily="34" charset="0"/>
                <a:ea typeface="Calibri" pitchFamily="34" charset="-122"/>
                <a:cs typeface="Calibri" pitchFamily="34" charset="-120"/>
              </a:rPr>
              <a:t>How do practitioners judge usefulness, usability and trust? Twelve to fifteen interviews and task sessions with SUS and TAM, plus an anonymous survey for breadth. Not started, and it is the critical path.</a:t>
            </a:r>
            <a:endParaRPr lang="en-US" sz="1300" dirty="0"/>
          </a:p>
        </p:txBody>
      </p:sp>
      <p:sp>
        <p:nvSpPr>
          <p:cNvPr id="20" name="Shape 18"/>
          <p:cNvSpPr/>
          <p:nvPr/>
        </p:nvSpPr>
        <p:spPr>
          <a:xfrm>
            <a:off x="548640" y="5166360"/>
            <a:ext cx="11064240" cy="1051560"/>
          </a:xfrm>
          <a:prstGeom prst="roundRect">
            <a:avLst>
              <a:gd name="adj" fmla="val 5217"/>
            </a:avLst>
          </a:prstGeom>
          <a:solidFill>
            <a:srgbClr val="F4F7FC"/>
          </a:solidFill>
          <a:ln w="12700">
            <a:solidFill>
              <a:srgbClr val="CADCFC"/>
            </a:solidFill>
            <a:prstDash val="solid"/>
          </a:ln>
        </p:spPr>
      </p:sp>
      <p:sp>
        <p:nvSpPr>
          <p:cNvPr id="21" name="Text 19"/>
          <p:cNvSpPr/>
          <p:nvPr/>
        </p:nvSpPr>
        <p:spPr>
          <a:xfrm>
            <a:off x="777240" y="5285232"/>
            <a:ext cx="10607040" cy="868680"/>
          </a:xfrm>
          <a:prstGeom prst="rect">
            <a:avLst/>
          </a:prstGeom>
          <a:noFill/>
          <a:ln/>
        </p:spPr>
        <p:txBody>
          <a:bodyPr wrap="square" lIns="0" tIns="0" rIns="0" bIns="0" rtlCol="0" anchor="ctr"/>
          <a:lstStyle/>
          <a:p>
            <a:pPr indent="0" marL="0">
              <a:buNone/>
            </a:pPr>
            <a:r>
              <a:rPr lang="en-US" sz="1400" dirty="0">
                <a:solidFill>
                  <a:srgbClr val="1A1A2E"/>
                </a:solidFill>
                <a:latin typeface="Calibri" pitchFamily="34" charset="0"/>
                <a:ea typeface="Calibri" pitchFamily="34" charset="-122"/>
                <a:cs typeface="Calibri" pitchFamily="34" charset="-120"/>
              </a:rPr>
              <a:t>Method: problem-centred DSRM. Problem, objectives, design and build, demonstrate, evaluate, communicate. The quantitative stream scores 188 real customer signals from English-language and German-language sources, held as English paraphrases. The qualitative stream is the practitioner study. The claims are about design validity, not about statistical effect sizes.</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11430000" y="6382512"/>
            <a:ext cx="457200" cy="256032"/>
          </a:xfrm>
          <a:prstGeom prst="rect">
            <a:avLst/>
          </a:prstGeom>
          <a:noFill/>
          <a:ln/>
        </p:spPr>
        <p:txBody>
          <a:bodyPr wrap="square" lIns="0" tIns="0" rIns="0" bIns="0" rtlCol="0" anchor="ctr"/>
          <a:lstStyle/>
          <a:p>
            <a:pPr algn="r" indent="0" marL="0">
              <a:buNone/>
            </a:pPr>
            <a:r>
              <a:rPr lang="en-US" sz="1100" dirty="0">
                <a:solidFill>
                  <a:srgbClr val="5A6478"/>
                </a:solidFill>
                <a:latin typeface="Calibri" pitchFamily="34" charset="0"/>
                <a:ea typeface="Calibri" pitchFamily="34" charset="-122"/>
                <a:cs typeface="Calibri" pitchFamily="34" charset="-120"/>
              </a:rPr>
              <a:t>4</a:t>
            </a:r>
            <a:endParaRPr lang="en-US" sz="1100" dirty="0"/>
          </a:p>
        </p:txBody>
      </p:sp>
      <p:sp>
        <p:nvSpPr>
          <p:cNvPr id="3" name="Text 1"/>
          <p:cNvSpPr/>
          <p:nvPr/>
        </p:nvSpPr>
        <p:spPr>
          <a:xfrm>
            <a:off x="548640" y="292608"/>
            <a:ext cx="11064240" cy="694944"/>
          </a:xfrm>
          <a:prstGeom prst="rect">
            <a:avLst/>
          </a:prstGeom>
          <a:noFill/>
          <a:ln/>
        </p:spPr>
        <p:txBody>
          <a:bodyPr wrap="square" rtlCol="0" anchor="ctr"/>
          <a:lstStyle/>
          <a:p>
            <a:pPr indent="0" marL="0">
              <a:buNone/>
            </a:pPr>
            <a:r>
              <a:rPr lang="en-US" sz="3000" b="1" dirty="0">
                <a:solidFill>
                  <a:srgbClr val="1A1A2E"/>
                </a:solidFill>
                <a:latin typeface="Cambria" pitchFamily="34" charset="0"/>
                <a:ea typeface="Cambria" pitchFamily="34" charset="-122"/>
                <a:cs typeface="Cambria" pitchFamily="34" charset="-120"/>
              </a:rPr>
              <a:t>The artifact: one governed loop, end to end</a:t>
            </a:r>
            <a:endParaRPr lang="en-US" sz="3000" dirty="0"/>
          </a:p>
        </p:txBody>
      </p:sp>
      <p:sp>
        <p:nvSpPr>
          <p:cNvPr id="4" name="Text 2"/>
          <p:cNvSpPr/>
          <p:nvPr/>
        </p:nvSpPr>
        <p:spPr>
          <a:xfrm>
            <a:off x="548640" y="914400"/>
            <a:ext cx="11064240" cy="365760"/>
          </a:xfrm>
          <a:prstGeom prst="rect">
            <a:avLst/>
          </a:prstGeom>
          <a:noFill/>
          <a:ln/>
        </p:spPr>
        <p:txBody>
          <a:bodyPr wrap="square" rtlCol="0" anchor="ctr"/>
          <a:lstStyle/>
          <a:p>
            <a:pPr indent="0" marL="0">
              <a:buNone/>
            </a:pPr>
            <a:r>
              <a:rPr lang="en-US" sz="1500" dirty="0">
                <a:solidFill>
                  <a:srgbClr val="5A6478"/>
                </a:solidFill>
                <a:latin typeface="Calibri" pitchFamily="34" charset="0"/>
                <a:ea typeface="Calibri" pitchFamily="34" charset="-122"/>
                <a:cs typeface="Calibri" pitchFamily="34" charset="-120"/>
              </a:rPr>
              <a:t>CLARA. The model advises at two named stages. Everything that acts on the outside world is ordinary code.</a:t>
            </a:r>
            <a:endParaRPr lang="en-US" sz="1500" dirty="0"/>
          </a:p>
        </p:txBody>
      </p:sp>
      <p:pic>
        <p:nvPicPr>
          <p:cNvPr id="5" name="Image 0" descr="/home/user/CLARA/thesis/defense/01_architecture_colour.png">    </p:cNvPr>
          <p:cNvPicPr>
            <a:picLocks noChangeAspect="1"/>
          </p:cNvPicPr>
          <p:nvPr/>
        </p:nvPicPr>
        <p:blipFill>
          <a:blip r:embed="rId1"/>
          <a:stretch>
            <a:fillRect/>
          </a:stretch>
        </p:blipFill>
        <p:spPr>
          <a:xfrm>
            <a:off x="548640" y="1371600"/>
            <a:ext cx="11064240" cy="3849624"/>
          </a:xfrm>
          <a:prstGeom prst="rect">
            <a:avLst/>
          </a:prstGeom>
        </p:spPr>
      </p:pic>
      <p:sp>
        <p:nvSpPr>
          <p:cNvPr id="6" name="Shape 3"/>
          <p:cNvSpPr/>
          <p:nvPr/>
        </p:nvSpPr>
        <p:spPr>
          <a:xfrm>
            <a:off x="685800" y="5385816"/>
            <a:ext cx="182880" cy="182880"/>
          </a:xfrm>
          <a:prstGeom prst="roundRect">
            <a:avLst>
              <a:gd name="adj" fmla="val 15000"/>
            </a:avLst>
          </a:prstGeom>
          <a:solidFill>
            <a:srgbClr val="E2ECFD"/>
          </a:solidFill>
          <a:ln w="15875">
            <a:solidFill>
              <a:srgbClr val="3B6EA5"/>
            </a:solidFill>
            <a:prstDash val="solid"/>
          </a:ln>
        </p:spPr>
      </p:sp>
      <p:sp>
        <p:nvSpPr>
          <p:cNvPr id="7" name="Text 4"/>
          <p:cNvSpPr/>
          <p:nvPr/>
        </p:nvSpPr>
        <p:spPr>
          <a:xfrm>
            <a:off x="941832" y="5349240"/>
            <a:ext cx="2510942" cy="274320"/>
          </a:xfrm>
          <a:prstGeom prst="rect">
            <a:avLst/>
          </a:prstGeom>
          <a:noFill/>
          <a:ln/>
        </p:spPr>
        <p:txBody>
          <a:bodyPr wrap="square" lIns="0" tIns="0" rIns="0" bIns="0" rtlCol="0" anchor="ctr"/>
          <a:lstStyle/>
          <a:p>
            <a:pPr indent="0" marL="0">
              <a:buNone/>
            </a:pPr>
            <a:r>
              <a:rPr lang="en-US" sz="1250" dirty="0">
                <a:solidFill>
                  <a:srgbClr val="1A1A2E"/>
                </a:solidFill>
                <a:latin typeface="Calibri" pitchFamily="34" charset="0"/>
                <a:ea typeface="Calibri" pitchFamily="34" charset="-122"/>
                <a:cs typeface="Calibri" pitchFamily="34" charset="-120"/>
              </a:rPr>
              <a:t>Model reasoning, only here</a:t>
            </a:r>
            <a:endParaRPr lang="en-US" sz="1250" dirty="0"/>
          </a:p>
        </p:txBody>
      </p:sp>
      <p:sp>
        <p:nvSpPr>
          <p:cNvPr id="8" name="Shape 5"/>
          <p:cNvSpPr/>
          <p:nvPr/>
        </p:nvSpPr>
        <p:spPr>
          <a:xfrm>
            <a:off x="3535070" y="5385816"/>
            <a:ext cx="182880" cy="182880"/>
          </a:xfrm>
          <a:prstGeom prst="roundRect">
            <a:avLst>
              <a:gd name="adj" fmla="val 15000"/>
            </a:avLst>
          </a:prstGeom>
          <a:solidFill>
            <a:srgbClr val="FFFFFF"/>
          </a:solidFill>
          <a:ln w="15875">
            <a:solidFill>
              <a:srgbClr val="5A6478"/>
            </a:solidFill>
            <a:prstDash val="solid"/>
          </a:ln>
        </p:spPr>
      </p:sp>
      <p:sp>
        <p:nvSpPr>
          <p:cNvPr id="9" name="Text 6"/>
          <p:cNvSpPr/>
          <p:nvPr/>
        </p:nvSpPr>
        <p:spPr>
          <a:xfrm>
            <a:off x="3791102" y="5349240"/>
            <a:ext cx="1808683" cy="274320"/>
          </a:xfrm>
          <a:prstGeom prst="rect">
            <a:avLst/>
          </a:prstGeom>
          <a:noFill/>
          <a:ln/>
        </p:spPr>
        <p:txBody>
          <a:bodyPr wrap="square" lIns="0" tIns="0" rIns="0" bIns="0" rtlCol="0" anchor="ctr"/>
          <a:lstStyle/>
          <a:p>
            <a:pPr indent="0" marL="0">
              <a:buNone/>
            </a:pPr>
            <a:r>
              <a:rPr lang="en-US" sz="1250" dirty="0">
                <a:solidFill>
                  <a:srgbClr val="1A1A2E"/>
                </a:solidFill>
                <a:latin typeface="Calibri" pitchFamily="34" charset="0"/>
                <a:ea typeface="Calibri" pitchFamily="34" charset="-122"/>
                <a:cs typeface="Calibri" pitchFamily="34" charset="-120"/>
              </a:rPr>
              <a:t>Deterministic code</a:t>
            </a:r>
            <a:endParaRPr lang="en-US" sz="1250" dirty="0"/>
          </a:p>
        </p:txBody>
      </p:sp>
      <p:sp>
        <p:nvSpPr>
          <p:cNvPr id="10" name="Shape 7"/>
          <p:cNvSpPr/>
          <p:nvPr/>
        </p:nvSpPr>
        <p:spPr>
          <a:xfrm>
            <a:off x="5682082" y="5385816"/>
            <a:ext cx="182880" cy="182880"/>
          </a:xfrm>
          <a:prstGeom prst="roundRect">
            <a:avLst>
              <a:gd name="adj" fmla="val 15000"/>
            </a:avLst>
          </a:prstGeom>
          <a:solidFill>
            <a:srgbClr val="FDE2E2"/>
          </a:solidFill>
          <a:ln w="15875">
            <a:solidFill>
              <a:srgbClr val="C0392B"/>
            </a:solidFill>
            <a:prstDash val="solid"/>
          </a:ln>
        </p:spPr>
      </p:sp>
      <p:sp>
        <p:nvSpPr>
          <p:cNvPr id="11" name="Text 8"/>
          <p:cNvSpPr/>
          <p:nvPr/>
        </p:nvSpPr>
        <p:spPr>
          <a:xfrm>
            <a:off x="5938114" y="5349240"/>
            <a:ext cx="2335378" cy="274320"/>
          </a:xfrm>
          <a:prstGeom prst="rect">
            <a:avLst/>
          </a:prstGeom>
          <a:noFill/>
          <a:ln/>
        </p:spPr>
        <p:txBody>
          <a:bodyPr wrap="square" lIns="0" tIns="0" rIns="0" bIns="0" rtlCol="0" anchor="ctr"/>
          <a:lstStyle/>
          <a:p>
            <a:pPr indent="0" marL="0">
              <a:buNone/>
            </a:pPr>
            <a:r>
              <a:rPr lang="en-US" sz="1250" dirty="0">
                <a:solidFill>
                  <a:srgbClr val="1A1A2E"/>
                </a:solidFill>
                <a:latin typeface="Calibri" pitchFamily="34" charset="0"/>
                <a:ea typeface="Calibri" pitchFamily="34" charset="-122"/>
                <a:cs typeface="Calibri" pitchFamily="34" charset="-120"/>
              </a:rPr>
              <a:t>Governance control point</a:t>
            </a:r>
            <a:endParaRPr lang="en-US" sz="1250" dirty="0"/>
          </a:p>
        </p:txBody>
      </p:sp>
      <p:sp>
        <p:nvSpPr>
          <p:cNvPr id="12" name="Shape 9"/>
          <p:cNvSpPr/>
          <p:nvPr/>
        </p:nvSpPr>
        <p:spPr>
          <a:xfrm>
            <a:off x="8355787" y="5385816"/>
            <a:ext cx="182880" cy="182880"/>
          </a:xfrm>
          <a:prstGeom prst="roundRect">
            <a:avLst>
              <a:gd name="adj" fmla="val 15000"/>
            </a:avLst>
          </a:prstGeom>
          <a:solidFill>
            <a:srgbClr val="EEF0F4"/>
          </a:solidFill>
          <a:ln w="15875">
            <a:solidFill>
              <a:srgbClr val="98A0AE"/>
            </a:solidFill>
            <a:prstDash val="solid"/>
          </a:ln>
        </p:spPr>
      </p:sp>
      <p:sp>
        <p:nvSpPr>
          <p:cNvPr id="13" name="Text 10"/>
          <p:cNvSpPr/>
          <p:nvPr/>
        </p:nvSpPr>
        <p:spPr>
          <a:xfrm>
            <a:off x="8611819" y="5349240"/>
            <a:ext cx="2510942" cy="274320"/>
          </a:xfrm>
          <a:prstGeom prst="rect">
            <a:avLst/>
          </a:prstGeom>
          <a:noFill/>
          <a:ln/>
        </p:spPr>
        <p:txBody>
          <a:bodyPr wrap="square" lIns="0" tIns="0" rIns="0" bIns="0" rtlCol="0" anchor="ctr"/>
          <a:lstStyle/>
          <a:p>
            <a:pPr indent="0" marL="0">
              <a:buNone/>
            </a:pPr>
            <a:r>
              <a:rPr lang="en-US" sz="1250" dirty="0">
                <a:solidFill>
                  <a:srgbClr val="1A1A2E"/>
                </a:solidFill>
                <a:latin typeface="Calibri" pitchFamily="34" charset="0"/>
                <a:ea typeface="Calibri" pitchFamily="34" charset="-122"/>
                <a:cs typeface="Calibri" pitchFamily="34" charset="-120"/>
              </a:rPr>
              <a:t>Integrated external system</a:t>
            </a:r>
            <a:endParaRPr lang="en-US" sz="1250" dirty="0"/>
          </a:p>
        </p:txBody>
      </p:sp>
      <p:sp>
        <p:nvSpPr>
          <p:cNvPr id="14" name="Text 11"/>
          <p:cNvSpPr/>
          <p:nvPr/>
        </p:nvSpPr>
        <p:spPr>
          <a:xfrm>
            <a:off x="548640" y="5687568"/>
            <a:ext cx="11064240" cy="694944"/>
          </a:xfrm>
          <a:prstGeom prst="rect">
            <a:avLst/>
          </a:prstGeom>
          <a:noFill/>
          <a:ln/>
        </p:spPr>
        <p:txBody>
          <a:bodyPr wrap="square" rtlCol="0" anchor="ctr"/>
          <a:lstStyle/>
          <a:p>
            <a:pPr indent="0" marL="0">
              <a:buNone/>
            </a:pPr>
            <a:r>
              <a:rPr lang="en-US" sz="1350" dirty="0">
                <a:solidFill>
                  <a:srgbClr val="5A6478"/>
                </a:solidFill>
                <a:latin typeface="Calibri" pitchFamily="34" charset="0"/>
                <a:ea typeface="Calibri" pitchFamily="34" charset="-122"/>
                <a:cs typeface="Calibri" pitchFamily="34" charset="-120"/>
              </a:rPr>
              <a:t>Two stages are model-driven. Everything that validates, resolves conflicts, executes and audits is testable code, so every point where the system can act is one you can name, test and audit. Execution targets shown are the design-level set; what ships today writes to Jira and Slack, and Zendesk is ingest only.</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11430000" y="6382512"/>
            <a:ext cx="457200" cy="256032"/>
          </a:xfrm>
          <a:prstGeom prst="rect">
            <a:avLst/>
          </a:prstGeom>
          <a:noFill/>
          <a:ln/>
        </p:spPr>
        <p:txBody>
          <a:bodyPr wrap="square" lIns="0" tIns="0" rIns="0" bIns="0" rtlCol="0" anchor="ctr"/>
          <a:lstStyle/>
          <a:p>
            <a:pPr algn="r" indent="0" marL="0">
              <a:buNone/>
            </a:pPr>
            <a:r>
              <a:rPr lang="en-US" sz="1100" dirty="0">
                <a:solidFill>
                  <a:srgbClr val="5A6478"/>
                </a:solidFill>
                <a:latin typeface="Calibri" pitchFamily="34" charset="0"/>
                <a:ea typeface="Calibri" pitchFamily="34" charset="-122"/>
                <a:cs typeface="Calibri" pitchFamily="34" charset="-120"/>
              </a:rPr>
              <a:t>5</a:t>
            </a:r>
            <a:endParaRPr lang="en-US" sz="1100" dirty="0"/>
          </a:p>
        </p:txBody>
      </p:sp>
      <p:sp>
        <p:nvSpPr>
          <p:cNvPr id="3" name="Text 1"/>
          <p:cNvSpPr/>
          <p:nvPr/>
        </p:nvSpPr>
        <p:spPr>
          <a:xfrm>
            <a:off x="548640" y="292608"/>
            <a:ext cx="11064240" cy="694944"/>
          </a:xfrm>
          <a:prstGeom prst="rect">
            <a:avLst/>
          </a:prstGeom>
          <a:noFill/>
          <a:ln/>
        </p:spPr>
        <p:txBody>
          <a:bodyPr wrap="square" rtlCol="0" anchor="ctr"/>
          <a:lstStyle/>
          <a:p>
            <a:pPr indent="0" marL="0">
              <a:buNone/>
            </a:pPr>
            <a:r>
              <a:rPr lang="en-US" sz="3000" b="1" dirty="0">
                <a:solidFill>
                  <a:srgbClr val="1A1A2E"/>
                </a:solidFill>
                <a:latin typeface="Cambria" pitchFamily="34" charset="0"/>
                <a:ea typeface="Cambria" pitchFamily="34" charset="-122"/>
                <a:cs typeface="Cambria" pitchFamily="34" charset="-120"/>
              </a:rPr>
              <a:t>The same loop, as the running product</a:t>
            </a:r>
            <a:endParaRPr lang="en-US" sz="3000" dirty="0"/>
          </a:p>
        </p:txBody>
      </p:sp>
      <p:sp>
        <p:nvSpPr>
          <p:cNvPr id="4" name="Text 2"/>
          <p:cNvSpPr/>
          <p:nvPr/>
        </p:nvSpPr>
        <p:spPr>
          <a:xfrm>
            <a:off x="548640" y="914400"/>
            <a:ext cx="11064240" cy="365760"/>
          </a:xfrm>
          <a:prstGeom prst="rect">
            <a:avLst/>
          </a:prstGeom>
          <a:noFill/>
          <a:ln/>
        </p:spPr>
        <p:txBody>
          <a:bodyPr wrap="square" rtlCol="0" anchor="ctr"/>
          <a:lstStyle/>
          <a:p>
            <a:pPr indent="0" marL="0">
              <a:buNone/>
            </a:pPr>
            <a:r>
              <a:rPr lang="en-US" sz="1500" dirty="0">
                <a:solidFill>
                  <a:srgbClr val="5A6478"/>
                </a:solidFill>
                <a:latin typeface="Calibri" pitchFamily="34" charset="0"/>
                <a:ea typeface="Calibri" pitchFamily="34" charset="-122"/>
                <a:cs typeface="Calibri" pitchFamily="34" charset="-120"/>
              </a:rPr>
              <a:t>Rebuilt on 13 August around one question: what needs a decision today</a:t>
            </a:r>
            <a:endParaRPr lang="en-US" sz="1500" dirty="0"/>
          </a:p>
        </p:txBody>
      </p:sp>
      <p:pic>
        <p:nvPicPr>
          <p:cNvPr id="5" name="Image 0" descr="/home/user/CLARA/apps/web/public/images/product-loop-bar.jpg">    </p:cNvPr>
          <p:cNvPicPr>
            <a:picLocks noChangeAspect="1"/>
          </p:cNvPicPr>
          <p:nvPr/>
        </p:nvPicPr>
        <p:blipFill>
          <a:blip r:embed="rId1"/>
          <a:stretch>
            <a:fillRect/>
          </a:stretch>
        </p:blipFill>
        <p:spPr>
          <a:xfrm>
            <a:off x="548640" y="1417320"/>
            <a:ext cx="5440680" cy="2816352"/>
          </a:xfrm>
          <a:prstGeom prst="rect">
            <a:avLst/>
          </a:prstGeom>
        </p:spPr>
      </p:pic>
      <p:pic>
        <p:nvPicPr>
          <p:cNvPr id="6" name="Image 1" descr="/home/user/CLARA/apps/web/public/images/product-decision-queue.jpg">    </p:cNvPr>
          <p:cNvPicPr>
            <a:picLocks noChangeAspect="1"/>
          </p:cNvPicPr>
          <p:nvPr/>
        </p:nvPicPr>
        <p:blipFill>
          <a:blip r:embed="rId2"/>
          <a:stretch>
            <a:fillRect/>
          </a:stretch>
        </p:blipFill>
        <p:spPr>
          <a:xfrm>
            <a:off x="6172200" y="1417320"/>
            <a:ext cx="5440680" cy="2816352"/>
          </a:xfrm>
          <a:prstGeom prst="rect">
            <a:avLst/>
          </a:prstGeom>
        </p:spPr>
      </p:pic>
      <p:sp>
        <p:nvSpPr>
          <p:cNvPr id="7" name="Text 3"/>
          <p:cNvSpPr/>
          <p:nvPr/>
        </p:nvSpPr>
        <p:spPr>
          <a:xfrm>
            <a:off x="548640" y="4279392"/>
            <a:ext cx="5440680" cy="475488"/>
          </a:xfrm>
          <a:prstGeom prst="rect">
            <a:avLst/>
          </a:prstGeom>
          <a:noFill/>
          <a:ln/>
        </p:spPr>
        <p:txBody>
          <a:bodyPr wrap="square" rtlCol="0" anchor="ctr"/>
          <a:lstStyle/>
          <a:p>
            <a:pPr indent="0" marL="0">
              <a:buNone/>
            </a:pPr>
            <a:r>
              <a:rPr lang="en-US" sz="1300" dirty="0">
                <a:solidFill>
                  <a:srgbClr val="5A6478"/>
                </a:solidFill>
                <a:latin typeface="Calibri" pitchFamily="34" charset="0"/>
                <a:ea typeface="Calibri" pitchFamily="34" charset="-122"/>
                <a:cs typeface="Calibri" pitchFamily="34" charset="-120"/>
              </a:rPr>
              <a:t>The loop bar. Signals, problems, decisions, actions, outcomes, each one clickable.</a:t>
            </a:r>
            <a:endParaRPr lang="en-US" sz="1300" dirty="0"/>
          </a:p>
        </p:txBody>
      </p:sp>
      <p:sp>
        <p:nvSpPr>
          <p:cNvPr id="8" name="Text 4"/>
          <p:cNvSpPr/>
          <p:nvPr/>
        </p:nvSpPr>
        <p:spPr>
          <a:xfrm>
            <a:off x="6172200" y="4279392"/>
            <a:ext cx="5440680" cy="475488"/>
          </a:xfrm>
          <a:prstGeom prst="rect">
            <a:avLst/>
          </a:prstGeom>
          <a:noFill/>
          <a:ln/>
        </p:spPr>
        <p:txBody>
          <a:bodyPr wrap="square" rtlCol="0" anchor="ctr"/>
          <a:lstStyle/>
          <a:p>
            <a:pPr indent="0" marL="0">
              <a:buNone/>
            </a:pPr>
            <a:r>
              <a:rPr lang="en-US" sz="1300" dirty="0">
                <a:solidFill>
                  <a:srgbClr val="5A6478"/>
                </a:solidFill>
                <a:latin typeface="Calibri" pitchFamily="34" charset="0"/>
                <a:ea typeface="Calibri" pitchFamily="34" charset="-122"/>
                <a:cs typeface="Calibri" pitchFamily="34" charset="-120"/>
              </a:rPr>
              <a:t>The decision queue. What is waiting on a human, with the evidence behind it.</a:t>
            </a:r>
            <a:endParaRPr lang="en-US" sz="1300" dirty="0"/>
          </a:p>
        </p:txBody>
      </p:sp>
      <p:sp>
        <p:nvSpPr>
          <p:cNvPr id="9" name="Shape 5"/>
          <p:cNvSpPr/>
          <p:nvPr/>
        </p:nvSpPr>
        <p:spPr>
          <a:xfrm>
            <a:off x="548640" y="4800600"/>
            <a:ext cx="11064240" cy="1371600"/>
          </a:xfrm>
          <a:prstGeom prst="roundRect">
            <a:avLst>
              <a:gd name="adj" fmla="val 4000"/>
            </a:avLst>
          </a:prstGeom>
          <a:solidFill>
            <a:srgbClr val="F4F7FC"/>
          </a:solidFill>
          <a:ln w="12700">
            <a:solidFill>
              <a:srgbClr val="CADCFC"/>
            </a:solidFill>
            <a:prstDash val="solid"/>
          </a:ln>
        </p:spPr>
      </p:sp>
      <p:sp>
        <p:nvSpPr>
          <p:cNvPr id="10" name="Text 6"/>
          <p:cNvSpPr/>
          <p:nvPr/>
        </p:nvSpPr>
        <p:spPr>
          <a:xfrm>
            <a:off x="713232" y="4892040"/>
            <a:ext cx="10735056" cy="274320"/>
          </a:xfrm>
          <a:prstGeom prst="rect">
            <a:avLst/>
          </a:prstGeom>
          <a:noFill/>
          <a:ln/>
        </p:spPr>
        <p:txBody>
          <a:bodyPr wrap="square" lIns="0" tIns="0" rIns="0" bIns="0"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The design argument, one layer up from the thesis</a:t>
            </a:r>
            <a:endParaRPr lang="en-US" sz="1450" dirty="0"/>
          </a:p>
        </p:txBody>
      </p:sp>
      <p:sp>
        <p:nvSpPr>
          <p:cNvPr id="11" name="Text 7"/>
          <p:cNvSpPr/>
          <p:nvPr/>
        </p:nvSpPr>
        <p:spPr>
          <a:xfrm>
            <a:off x="713232" y="5184648"/>
            <a:ext cx="10735056" cy="877824"/>
          </a:xfrm>
          <a:prstGeom prst="rect">
            <a:avLst/>
          </a:prstGeom>
          <a:noFill/>
          <a:ln/>
        </p:spPr>
        <p:txBody>
          <a:bodyPr wrap="square" lIns="0" tIns="0" rIns="0" bIns="0" rtlCol="0" anchor="ctr"/>
          <a:lstStyle/>
          <a:p>
            <a:pPr indent="0" marL="0">
              <a:buNone/>
            </a:pPr>
            <a:r>
              <a:rPr lang="en-US" sz="1350" dirty="0">
                <a:solidFill>
                  <a:srgbClr val="1A1A2E"/>
                </a:solidFill>
                <a:latin typeface="Calibri" pitchFamily="34" charset="0"/>
                <a:ea typeface="Calibri" pitchFamily="34" charset="-122"/>
                <a:cs typeface="Calibri" pitchFamily="34" charset="-120"/>
              </a:rPr>
              <a:t>Every count on this page comes from one shared status function, so the numbers reconcile by construction rather than by discipline. That is the same commitment the thesis makes about closure: an outcome contract is a foreign key at creation, not a status flag someone remembers to set. The Chapter 4 diagrams were re-rendered in September from the deployed build; the screenshots are from the 16 July build, before this redesign landed on 13 August.</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11430000" y="6382512"/>
            <a:ext cx="457200" cy="256032"/>
          </a:xfrm>
          <a:prstGeom prst="rect">
            <a:avLst/>
          </a:prstGeom>
          <a:noFill/>
          <a:ln/>
        </p:spPr>
        <p:txBody>
          <a:bodyPr wrap="square" lIns="0" tIns="0" rIns="0" bIns="0" rtlCol="0" anchor="ctr"/>
          <a:lstStyle/>
          <a:p>
            <a:pPr algn="r" indent="0" marL="0">
              <a:buNone/>
            </a:pPr>
            <a:r>
              <a:rPr lang="en-US" sz="1100" dirty="0">
                <a:solidFill>
                  <a:srgbClr val="5A6478"/>
                </a:solidFill>
                <a:latin typeface="Calibri" pitchFamily="34" charset="0"/>
                <a:ea typeface="Calibri" pitchFamily="34" charset="-122"/>
                <a:cs typeface="Calibri" pitchFamily="34" charset="-120"/>
              </a:rPr>
              <a:t>6</a:t>
            </a:r>
            <a:endParaRPr lang="en-US" sz="1100" dirty="0"/>
          </a:p>
        </p:txBody>
      </p:sp>
      <p:sp>
        <p:nvSpPr>
          <p:cNvPr id="3" name="Text 1"/>
          <p:cNvSpPr/>
          <p:nvPr/>
        </p:nvSpPr>
        <p:spPr>
          <a:xfrm>
            <a:off x="548640" y="292608"/>
            <a:ext cx="11064240" cy="694944"/>
          </a:xfrm>
          <a:prstGeom prst="rect">
            <a:avLst/>
          </a:prstGeom>
          <a:noFill/>
          <a:ln/>
        </p:spPr>
        <p:txBody>
          <a:bodyPr wrap="square" rtlCol="0" anchor="ctr"/>
          <a:lstStyle/>
          <a:p>
            <a:pPr indent="0" marL="0">
              <a:buNone/>
            </a:pPr>
            <a:r>
              <a:rPr lang="en-US" sz="3000" b="1" dirty="0">
                <a:solidFill>
                  <a:srgbClr val="1A1A2E"/>
                </a:solidFill>
                <a:latin typeface="Cambria" pitchFamily="34" charset="0"/>
                <a:ea typeface="Cambria" pitchFamily="34" charset="-122"/>
                <a:cs typeface="Cambria" pitchFamily="34" charset="-120"/>
              </a:rPr>
              <a:t>Responsible AI as a property of the loop</a:t>
            </a:r>
            <a:endParaRPr lang="en-US" sz="3000" dirty="0"/>
          </a:p>
        </p:txBody>
      </p:sp>
      <p:sp>
        <p:nvSpPr>
          <p:cNvPr id="4" name="Text 2"/>
          <p:cNvSpPr/>
          <p:nvPr/>
        </p:nvSpPr>
        <p:spPr>
          <a:xfrm>
            <a:off x="548640" y="914400"/>
            <a:ext cx="11064240" cy="365760"/>
          </a:xfrm>
          <a:prstGeom prst="rect">
            <a:avLst/>
          </a:prstGeom>
          <a:noFill/>
          <a:ln/>
        </p:spPr>
        <p:txBody>
          <a:bodyPr wrap="square" rtlCol="0" anchor="ctr"/>
          <a:lstStyle/>
          <a:p>
            <a:pPr indent="0" marL="0">
              <a:buNone/>
            </a:pPr>
            <a:r>
              <a:rPr lang="en-US" sz="1500" dirty="0">
                <a:solidFill>
                  <a:srgbClr val="5A6478"/>
                </a:solidFill>
                <a:latin typeface="Calibri" pitchFamily="34" charset="0"/>
                <a:ea typeface="Calibri" pitchFamily="34" charset="-122"/>
                <a:cs typeface="Calibri" pitchFamily="34" charset="-120"/>
              </a:rPr>
              <a:t>The loop itself is the control surface, so governance is not a separate module</a:t>
            </a:r>
            <a:endParaRPr lang="en-US" sz="1500" dirty="0"/>
          </a:p>
        </p:txBody>
      </p:sp>
      <p:sp>
        <p:nvSpPr>
          <p:cNvPr id="5" name="Shape 3"/>
          <p:cNvSpPr/>
          <p:nvPr/>
        </p:nvSpPr>
        <p:spPr>
          <a:xfrm>
            <a:off x="548640" y="1417320"/>
            <a:ext cx="5440680" cy="1901952"/>
          </a:xfrm>
          <a:prstGeom prst="roundRect">
            <a:avLst>
              <a:gd name="adj" fmla="val 2885"/>
            </a:avLst>
          </a:prstGeom>
          <a:solidFill>
            <a:srgbClr val="F4F7FC"/>
          </a:solidFill>
          <a:ln w="12700">
            <a:solidFill>
              <a:srgbClr val="CADCFC"/>
            </a:solidFill>
            <a:prstDash val="solid"/>
          </a:ln>
        </p:spPr>
      </p:sp>
      <p:sp>
        <p:nvSpPr>
          <p:cNvPr id="6" name="Text 4"/>
          <p:cNvSpPr/>
          <p:nvPr/>
        </p:nvSpPr>
        <p:spPr>
          <a:xfrm>
            <a:off x="713232" y="1508760"/>
            <a:ext cx="5111496" cy="274320"/>
          </a:xfrm>
          <a:prstGeom prst="rect">
            <a:avLst/>
          </a:prstGeom>
          <a:noFill/>
          <a:ln/>
        </p:spPr>
        <p:txBody>
          <a:bodyPr wrap="square" lIns="0" tIns="0" rIns="0" bIns="0"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Human approval, Article 14 and past it</a:t>
            </a:r>
            <a:endParaRPr lang="en-US" sz="1450" dirty="0"/>
          </a:p>
        </p:txBody>
      </p:sp>
      <p:sp>
        <p:nvSpPr>
          <p:cNvPr id="7" name="Text 5"/>
          <p:cNvSpPr/>
          <p:nvPr/>
        </p:nvSpPr>
        <p:spPr>
          <a:xfrm>
            <a:off x="713232" y="1801368"/>
            <a:ext cx="5111496" cy="1408176"/>
          </a:xfrm>
          <a:prstGeom prst="rect">
            <a:avLst/>
          </a:prstGeom>
          <a:noFill/>
          <a:ln/>
        </p:spPr>
        <p:txBody>
          <a:bodyPr wrap="square" lIns="0" tIns="0" rIns="0" bIns="0" rtlCol="0" anchor="ctr"/>
          <a:lstStyle/>
          <a:p>
            <a:pPr indent="0" marL="0">
              <a:buNone/>
            </a:pPr>
            <a:r>
              <a:rPr lang="en-US" sz="1300" dirty="0">
                <a:solidFill>
                  <a:srgbClr val="1A1A2E"/>
                </a:solidFill>
                <a:latin typeface="Calibri" pitchFamily="34" charset="0"/>
                <a:ea typeface="Calibri" pitchFamily="34" charset="-122"/>
                <a:cs typeface="Calibri" pitchFamily="34" charset="-120"/>
              </a:rPr>
              <a:t>Every consequential action is a draft until a person approves it: the graph's approval node is a LangGraph interrupt, and no code path reaches an external effect without a recorded approval. Authority is graduated by consequence class, from draft to single approval to four-eyes. Designed past the Article requirement, because awareness alone does not de-bias an overseer (Laux and Ruschemeier, 2025; Siebert et al., 2023).</a:t>
            </a:r>
            <a:endParaRPr lang="en-US" sz="1300" dirty="0"/>
          </a:p>
        </p:txBody>
      </p:sp>
      <p:sp>
        <p:nvSpPr>
          <p:cNvPr id="8" name="Shape 6"/>
          <p:cNvSpPr/>
          <p:nvPr/>
        </p:nvSpPr>
        <p:spPr>
          <a:xfrm>
            <a:off x="6172200" y="1417320"/>
            <a:ext cx="5440680" cy="1901952"/>
          </a:xfrm>
          <a:prstGeom prst="roundRect">
            <a:avLst>
              <a:gd name="adj" fmla="val 2885"/>
            </a:avLst>
          </a:prstGeom>
          <a:solidFill>
            <a:srgbClr val="F4F7FC"/>
          </a:solidFill>
          <a:ln w="12700">
            <a:solidFill>
              <a:srgbClr val="CADCFC"/>
            </a:solidFill>
            <a:prstDash val="solid"/>
          </a:ln>
        </p:spPr>
      </p:sp>
      <p:sp>
        <p:nvSpPr>
          <p:cNvPr id="9" name="Text 7"/>
          <p:cNvSpPr/>
          <p:nvPr/>
        </p:nvSpPr>
        <p:spPr>
          <a:xfrm>
            <a:off x="6336792" y="1508760"/>
            <a:ext cx="5111496" cy="274320"/>
          </a:xfrm>
          <a:prstGeom prst="rect">
            <a:avLst/>
          </a:prstGeom>
          <a:noFill/>
          <a:ln/>
        </p:spPr>
        <p:txBody>
          <a:bodyPr wrap="square" lIns="0" tIns="0" rIns="0" bIns="0"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Audit trail, Article 12</a:t>
            </a:r>
            <a:endParaRPr lang="en-US" sz="1450" dirty="0"/>
          </a:p>
        </p:txBody>
      </p:sp>
      <p:sp>
        <p:nvSpPr>
          <p:cNvPr id="10" name="Text 8"/>
          <p:cNvSpPr/>
          <p:nvPr/>
        </p:nvSpPr>
        <p:spPr>
          <a:xfrm>
            <a:off x="6336792" y="1801368"/>
            <a:ext cx="5111496" cy="1408176"/>
          </a:xfrm>
          <a:prstGeom prst="rect">
            <a:avLst/>
          </a:prstGeom>
          <a:noFill/>
          <a:ln/>
        </p:spPr>
        <p:txBody>
          <a:bodyPr wrap="square" lIns="0" tIns="0" rIns="0" bIns="0" rtlCol="0" anchor="ctr"/>
          <a:lstStyle/>
          <a:p>
            <a:pPr indent="0" marL="0">
              <a:buNone/>
            </a:pPr>
            <a:r>
              <a:rPr lang="en-US" sz="1300" dirty="0">
                <a:solidFill>
                  <a:srgbClr val="1A1A2E"/>
                </a:solidFill>
                <a:latin typeface="Calibri" pitchFamily="34" charset="0"/>
                <a:ea typeface="Calibri" pitchFamily="34" charset="-122"/>
                <a:cs typeface="Calibri" pitchFamily="34" charset="-120"/>
              </a:rPr>
              <a:t>Every action records the rule, the parameters, the executor and the result. The evidence pack is hashed at decision time, so evidence that changed afterwards is provable rather than arguable. Four-eyes approval is available for consequential actions.</a:t>
            </a:r>
            <a:endParaRPr lang="en-US" sz="1300" dirty="0"/>
          </a:p>
        </p:txBody>
      </p:sp>
      <p:sp>
        <p:nvSpPr>
          <p:cNvPr id="11" name="Shape 9"/>
          <p:cNvSpPr/>
          <p:nvPr/>
        </p:nvSpPr>
        <p:spPr>
          <a:xfrm>
            <a:off x="548640" y="3502152"/>
            <a:ext cx="5440680" cy="1901952"/>
          </a:xfrm>
          <a:prstGeom prst="roundRect">
            <a:avLst>
              <a:gd name="adj" fmla="val 2885"/>
            </a:avLst>
          </a:prstGeom>
          <a:solidFill>
            <a:srgbClr val="F4F7FC"/>
          </a:solidFill>
          <a:ln w="12700">
            <a:solidFill>
              <a:srgbClr val="CADCFC"/>
            </a:solidFill>
            <a:prstDash val="solid"/>
          </a:ln>
        </p:spPr>
      </p:sp>
      <p:sp>
        <p:nvSpPr>
          <p:cNvPr id="12" name="Text 10"/>
          <p:cNvSpPr/>
          <p:nvPr/>
        </p:nvSpPr>
        <p:spPr>
          <a:xfrm>
            <a:off x="713232" y="3593592"/>
            <a:ext cx="5111496" cy="274320"/>
          </a:xfrm>
          <a:prstGeom prst="rect">
            <a:avLst/>
          </a:prstGeom>
          <a:noFill/>
          <a:ln/>
        </p:spPr>
        <p:txBody>
          <a:bodyPr wrap="square" lIns="0" tIns="0" rIns="0" bIns="0"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Transparency, Article 50</a:t>
            </a:r>
            <a:endParaRPr lang="en-US" sz="1450" dirty="0"/>
          </a:p>
        </p:txBody>
      </p:sp>
      <p:sp>
        <p:nvSpPr>
          <p:cNvPr id="13" name="Text 11"/>
          <p:cNvSpPr/>
          <p:nvPr/>
        </p:nvSpPr>
        <p:spPr>
          <a:xfrm>
            <a:off x="713232" y="3886200"/>
            <a:ext cx="5111496" cy="1408176"/>
          </a:xfrm>
          <a:prstGeom prst="rect">
            <a:avLst/>
          </a:prstGeom>
          <a:noFill/>
          <a:ln/>
        </p:spPr>
        <p:txBody>
          <a:bodyPr wrap="square" lIns="0" tIns="0" rIns="0" bIns="0" rtlCol="0" anchor="ctr"/>
          <a:lstStyle/>
          <a:p>
            <a:pPr indent="0" marL="0">
              <a:buNone/>
            </a:pPr>
            <a:r>
              <a:rPr lang="en-US" sz="1300" dirty="0">
                <a:solidFill>
                  <a:srgbClr val="1A1A2E"/>
                </a:solidFill>
                <a:latin typeface="Calibri" pitchFamily="34" charset="0"/>
                <a:ea typeface="Calibri" pitchFamily="34" charset="-122"/>
                <a:cs typeface="Calibri" pitchFamily="34" charset="-120"/>
              </a:rPr>
              <a:t>AI output carries its provenance, and human editorial review is the exemption mechanism, which makes the approval gate itself the compliance artefact. The 2026 Digital Omnibus moved the Annex III high-risk duties to December 2027 and left Article 50 on its August 2026 schedule.</a:t>
            </a:r>
            <a:endParaRPr lang="en-US" sz="1300" dirty="0"/>
          </a:p>
        </p:txBody>
      </p:sp>
      <p:sp>
        <p:nvSpPr>
          <p:cNvPr id="14" name="Shape 12"/>
          <p:cNvSpPr/>
          <p:nvPr/>
        </p:nvSpPr>
        <p:spPr>
          <a:xfrm>
            <a:off x="6172200" y="3502152"/>
            <a:ext cx="5440680" cy="1901952"/>
          </a:xfrm>
          <a:prstGeom prst="roundRect">
            <a:avLst>
              <a:gd name="adj" fmla="val 2885"/>
            </a:avLst>
          </a:prstGeom>
          <a:solidFill>
            <a:srgbClr val="F4F7FC"/>
          </a:solidFill>
          <a:ln w="12700">
            <a:solidFill>
              <a:srgbClr val="CADCFC"/>
            </a:solidFill>
            <a:prstDash val="solid"/>
          </a:ln>
        </p:spPr>
      </p:sp>
      <p:sp>
        <p:nvSpPr>
          <p:cNvPr id="15" name="Text 13"/>
          <p:cNvSpPr/>
          <p:nvPr/>
        </p:nvSpPr>
        <p:spPr>
          <a:xfrm>
            <a:off x="6336792" y="3593592"/>
            <a:ext cx="5111496" cy="274320"/>
          </a:xfrm>
          <a:prstGeom prst="rect">
            <a:avLst/>
          </a:prstGeom>
          <a:noFill/>
          <a:ln/>
        </p:spPr>
        <p:txBody>
          <a:bodyPr wrap="square" lIns="0" tIns="0" rIns="0" bIns="0"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Sovereignty and GDPR</a:t>
            </a:r>
            <a:endParaRPr lang="en-US" sz="1450" dirty="0"/>
          </a:p>
        </p:txBody>
      </p:sp>
      <p:sp>
        <p:nvSpPr>
          <p:cNvPr id="16" name="Text 14"/>
          <p:cNvSpPr/>
          <p:nvPr/>
        </p:nvSpPr>
        <p:spPr>
          <a:xfrm>
            <a:off x="6336792" y="3886200"/>
            <a:ext cx="5111496" cy="1408176"/>
          </a:xfrm>
          <a:prstGeom prst="rect">
            <a:avLst/>
          </a:prstGeom>
          <a:noFill/>
          <a:ln/>
        </p:spPr>
        <p:txBody>
          <a:bodyPr wrap="square" lIns="0" tIns="0" rIns="0" bIns="0" rtlCol="0" anchor="ctr"/>
          <a:lstStyle/>
          <a:p>
            <a:pPr indent="0" marL="0">
              <a:buNone/>
            </a:pPr>
            <a:r>
              <a:rPr lang="en-US" sz="1300" dirty="0">
                <a:solidFill>
                  <a:srgbClr val="1A1A2E"/>
                </a:solidFill>
                <a:latin typeface="Calibri" pitchFamily="34" charset="0"/>
                <a:ea typeface="Calibri" pitchFamily="34" charset="-122"/>
                <a:cs typeface="Calibri" pitchFamily="34" charset="-120"/>
              </a:rPr>
              <a:t>The model layer is provider agnostic, so it runs hosted, behind an EU gateway, or self-hosted. Direct identifiers are redacted before any text reaches a model; retention limits and workspace isolation are enforced in Postgres below the application. Sentiment on text is not emotion recognition under Article 3(39), which is biometric.</a:t>
            </a:r>
            <a:endParaRPr lang="en-US" sz="1300" dirty="0"/>
          </a:p>
        </p:txBody>
      </p:sp>
      <p:sp>
        <p:nvSpPr>
          <p:cNvPr id="17" name="Text 15"/>
          <p:cNvSpPr/>
          <p:nvPr/>
        </p:nvSpPr>
        <p:spPr>
          <a:xfrm>
            <a:off x="548640" y="5715000"/>
            <a:ext cx="11064240" cy="411480"/>
          </a:xfrm>
          <a:prstGeom prst="rect">
            <a:avLst/>
          </a:prstGeom>
          <a:noFill/>
          <a:ln/>
        </p:spPr>
        <p:txBody>
          <a:bodyPr wrap="square"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Closure has three levels. The ticket is done, the reporter is told, the metric moved. Closed means the third.</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11430000" y="6382512"/>
            <a:ext cx="457200" cy="256032"/>
          </a:xfrm>
          <a:prstGeom prst="rect">
            <a:avLst/>
          </a:prstGeom>
          <a:noFill/>
          <a:ln/>
        </p:spPr>
        <p:txBody>
          <a:bodyPr wrap="square" lIns="0" tIns="0" rIns="0" bIns="0" rtlCol="0" anchor="ctr"/>
          <a:lstStyle/>
          <a:p>
            <a:pPr algn="r" indent="0" marL="0">
              <a:buNone/>
            </a:pPr>
            <a:r>
              <a:rPr lang="en-US" sz="1100" dirty="0">
                <a:solidFill>
                  <a:srgbClr val="5A6478"/>
                </a:solidFill>
                <a:latin typeface="Calibri" pitchFamily="34" charset="0"/>
                <a:ea typeface="Calibri" pitchFamily="34" charset="-122"/>
                <a:cs typeface="Calibri" pitchFamily="34" charset="-120"/>
              </a:rPr>
              <a:t>7</a:t>
            </a:r>
            <a:endParaRPr lang="en-US" sz="1100" dirty="0"/>
          </a:p>
        </p:txBody>
      </p:sp>
      <p:sp>
        <p:nvSpPr>
          <p:cNvPr id="3" name="Text 1"/>
          <p:cNvSpPr/>
          <p:nvPr/>
        </p:nvSpPr>
        <p:spPr>
          <a:xfrm>
            <a:off x="548640" y="292608"/>
            <a:ext cx="11064240" cy="694944"/>
          </a:xfrm>
          <a:prstGeom prst="rect">
            <a:avLst/>
          </a:prstGeom>
          <a:noFill/>
          <a:ln/>
        </p:spPr>
        <p:txBody>
          <a:bodyPr wrap="square" rtlCol="0" anchor="ctr"/>
          <a:lstStyle/>
          <a:p>
            <a:pPr indent="0" marL="0">
              <a:buNone/>
            </a:pPr>
            <a:r>
              <a:rPr lang="en-US" sz="3000" b="1" dirty="0">
                <a:solidFill>
                  <a:srgbClr val="1A1A2E"/>
                </a:solidFill>
                <a:latin typeface="Cambria" pitchFamily="34" charset="0"/>
                <a:ea typeface="Cambria" pitchFamily="34" charset="-122"/>
                <a:cs typeface="Cambria" pitchFamily="34" charset="-120"/>
              </a:rPr>
              <a:t>What changed since we last spoke</a:t>
            </a:r>
            <a:endParaRPr lang="en-US" sz="3000" dirty="0"/>
          </a:p>
        </p:txBody>
      </p:sp>
      <p:sp>
        <p:nvSpPr>
          <p:cNvPr id="4" name="Text 2"/>
          <p:cNvSpPr/>
          <p:nvPr/>
        </p:nvSpPr>
        <p:spPr>
          <a:xfrm>
            <a:off x="548640" y="914400"/>
            <a:ext cx="11064240" cy="365760"/>
          </a:xfrm>
          <a:prstGeom prst="rect">
            <a:avLst/>
          </a:prstGeom>
          <a:noFill/>
          <a:ln/>
        </p:spPr>
        <p:txBody>
          <a:bodyPr wrap="square" rtlCol="0" anchor="ctr"/>
          <a:lstStyle/>
          <a:p>
            <a:pPr indent="0" marL="0">
              <a:buNone/>
            </a:pPr>
            <a:r>
              <a:rPr lang="en-US" sz="1500" dirty="0">
                <a:solidFill>
                  <a:srgbClr val="5A6478"/>
                </a:solidFill>
                <a:latin typeface="Calibri" pitchFamily="34" charset="0"/>
                <a:ea typeface="Calibri" pitchFamily="34" charset="-122"/>
                <a:cs typeface="Calibri" pitchFamily="34" charset="-120"/>
              </a:rPr>
              <a:t>Two weeks of method work, a methodology review, and three new datasets</a:t>
            </a:r>
            <a:endParaRPr lang="en-US" sz="1500" dirty="0"/>
          </a:p>
        </p:txBody>
      </p:sp>
      <p:sp>
        <p:nvSpPr>
          <p:cNvPr id="5" name="Text 3"/>
          <p:cNvSpPr/>
          <p:nvPr/>
        </p:nvSpPr>
        <p:spPr>
          <a:xfrm>
            <a:off x="548640" y="1371600"/>
            <a:ext cx="5486400" cy="310896"/>
          </a:xfrm>
          <a:prstGeom prst="rect">
            <a:avLst/>
          </a:prstGeom>
          <a:noFill/>
          <a:ln/>
        </p:spPr>
        <p:txBody>
          <a:bodyPr wrap="square" rtlCol="0" anchor="ctr"/>
          <a:lstStyle/>
          <a:p>
            <a:pPr indent="0" marL="0">
              <a:buNone/>
            </a:pPr>
            <a:r>
              <a:rPr lang="en-US" sz="1700" b="1" dirty="0">
                <a:solidFill>
                  <a:srgbClr val="1E2761"/>
                </a:solidFill>
                <a:latin typeface="Cambria" pitchFamily="34" charset="0"/>
                <a:ea typeface="Cambria" pitchFamily="34" charset="-122"/>
                <a:cs typeface="Cambria" pitchFamily="34" charset="-120"/>
              </a:rPr>
              <a:t>Evaluation and method</a:t>
            </a:r>
            <a:endParaRPr lang="en-US" sz="1700" dirty="0"/>
          </a:p>
        </p:txBody>
      </p:sp>
      <p:sp>
        <p:nvSpPr>
          <p:cNvPr id="6" name="Text 4"/>
          <p:cNvSpPr/>
          <p:nvPr/>
        </p:nvSpPr>
        <p:spPr>
          <a:xfrm>
            <a:off x="731520" y="1783080"/>
            <a:ext cx="5303520" cy="3200400"/>
          </a:xfrm>
          <a:prstGeom prst="rect">
            <a:avLst/>
          </a:prstGeom>
          <a:noFill/>
          <a:ln/>
        </p:spPr>
        <p:txBody>
          <a:bodyPr wrap="square" rtlCol="0" anchor="ctr"/>
          <a:lstStyle/>
          <a:p>
            <a:pPr marL="342900" indent="-342900">
              <a:spcAft>
                <a:spcPts val="700"/>
              </a:spcAft>
              <a:buSzPct val="100000"/>
              <a:buChar char="•"/>
            </a:pPr>
            <a:r>
              <a:rPr lang="en-US" sz="1350" dirty="0">
                <a:solidFill>
                  <a:srgbClr val="1A1A2E"/>
                </a:solidFill>
                <a:latin typeface="Calibri" pitchFamily="34" charset="0"/>
                <a:ea typeface="Calibri" pitchFamily="34" charset="-122"/>
                <a:cs typeface="Calibri" pitchFamily="34" charset="-120"/>
              </a:rPr>
              <a:t>Paired McNemar tests between all three predictors on identical items. The contextual path leads the learned model on sentiment (p = 0.029) and does not separate from it on severity (p = 0.644).</a:t>
            </a:r>
            <a:endParaRPr lang="en-US" sz="1350" dirty="0"/>
          </a:p>
          <a:p>
            <a:pPr marL="342900" indent="-342900">
              <a:spcAft>
                <a:spcPts val="700"/>
              </a:spcAft>
              <a:buSzPct val="100000"/>
              <a:buChar char="•"/>
            </a:pPr>
            <a:r>
              <a:rPr lang="en-US" sz="1350" dirty="0">
                <a:solidFill>
                  <a:srgbClr val="1A1A2E"/>
                </a:solidFill>
                <a:latin typeface="Calibri" pitchFamily="34" charset="0"/>
                <a:ea typeface="Calibri" pitchFamily="34" charset="-122"/>
                <a:cs typeface="Calibri" pitchFamily="34" charset="-120"/>
              </a:rPr>
              <a:t>The learned model joined the escalation equity table and carries a 32.6 point gap of its own, so that finding is no longer about a weak baseline.</a:t>
            </a:r>
            <a:endParaRPr lang="en-US" sz="1350" dirty="0"/>
          </a:p>
          <a:p>
            <a:pPr marL="342900" indent="-342900">
              <a:spcAft>
                <a:spcPts val="700"/>
              </a:spcAft>
              <a:buSzPct val="100000"/>
              <a:buChar char="•"/>
            </a:pPr>
            <a:r>
              <a:rPr lang="en-US" sz="1350" dirty="0">
                <a:solidFill>
                  <a:srgbClr val="1A1A2E"/>
                </a:solidFill>
                <a:latin typeface="Calibri" pitchFamily="34" charset="0"/>
                <a:ea typeface="Calibri" pitchFamily="34" charset="-122"/>
                <a:cs typeface="Calibri" pitchFamily="34" charset="-120"/>
              </a:rPr>
              <a:t>Three more datasets collected and run on 21 August, held outside the frozen 188-signal corpus: Vodafone Germany, Delivery Hero across eight EU markets, German consumer banks.</a:t>
            </a:r>
            <a:endParaRPr lang="en-US" sz="1350" dirty="0"/>
          </a:p>
          <a:p>
            <a:pPr marL="342900" indent="-342900">
              <a:spcAft>
                <a:spcPts val="700"/>
              </a:spcAft>
              <a:buSzPct val="100000"/>
              <a:buChar char="•"/>
            </a:pPr>
            <a:r>
              <a:rPr lang="en-US" sz="1350" dirty="0">
                <a:solidFill>
                  <a:srgbClr val="1A1A2E"/>
                </a:solidFill>
                <a:latin typeface="Calibri" pitchFamily="34" charset="0"/>
                <a:ea typeface="Calibri" pitchFamily="34" charset="-122"/>
                <a:cs typeface="Calibri" pitchFamily="34" charset="-120"/>
              </a:rPr>
              <a:t>An AI-verbatim detector measured on 6,740 real texts and then refused, because it flags 15% of genuine reviews and 3x more in some languages than others.</a:t>
            </a:r>
            <a:endParaRPr lang="en-US" sz="1350" dirty="0"/>
          </a:p>
        </p:txBody>
      </p:sp>
      <p:sp>
        <p:nvSpPr>
          <p:cNvPr id="7" name="Text 5"/>
          <p:cNvSpPr/>
          <p:nvPr/>
        </p:nvSpPr>
        <p:spPr>
          <a:xfrm>
            <a:off x="6309360" y="1371600"/>
            <a:ext cx="5303520" cy="310896"/>
          </a:xfrm>
          <a:prstGeom prst="rect">
            <a:avLst/>
          </a:prstGeom>
          <a:noFill/>
          <a:ln/>
        </p:spPr>
        <p:txBody>
          <a:bodyPr wrap="square" rtlCol="0" anchor="ctr"/>
          <a:lstStyle/>
          <a:p>
            <a:pPr indent="0" marL="0">
              <a:buNone/>
            </a:pPr>
            <a:r>
              <a:rPr lang="en-US" sz="1700" b="1" dirty="0">
                <a:solidFill>
                  <a:srgbClr val="1E2761"/>
                </a:solidFill>
                <a:latin typeface="Cambria" pitchFamily="34" charset="0"/>
                <a:ea typeface="Cambria" pitchFamily="34" charset="-122"/>
                <a:cs typeface="Cambria" pitchFamily="34" charset="-120"/>
              </a:rPr>
              <a:t>Manuscript and platform</a:t>
            </a:r>
            <a:endParaRPr lang="en-US" sz="1700" dirty="0"/>
          </a:p>
        </p:txBody>
      </p:sp>
      <p:sp>
        <p:nvSpPr>
          <p:cNvPr id="8" name="Text 6"/>
          <p:cNvSpPr/>
          <p:nvPr/>
        </p:nvSpPr>
        <p:spPr>
          <a:xfrm>
            <a:off x="6492240" y="1783080"/>
            <a:ext cx="5120640" cy="3291840"/>
          </a:xfrm>
          <a:prstGeom prst="rect">
            <a:avLst/>
          </a:prstGeom>
          <a:noFill/>
          <a:ln/>
        </p:spPr>
        <p:txBody>
          <a:bodyPr wrap="square" rtlCol="0" anchor="ctr"/>
          <a:lstStyle/>
          <a:p>
            <a:pPr marL="342900" indent="-342900">
              <a:spcAft>
                <a:spcPts val="700"/>
              </a:spcAft>
              <a:buSzPct val="100000"/>
              <a:buChar char="•"/>
            </a:pPr>
            <a:r>
              <a:rPr lang="en-US" sz="1350" dirty="0">
                <a:solidFill>
                  <a:srgbClr val="1A1A2E"/>
                </a:solidFill>
                <a:latin typeface="Calibri" pitchFamily="34" charset="0"/>
                <a:ea typeface="Calibri" pitchFamily="34" charset="-122"/>
                <a:cs typeface="Calibri" pitchFamily="34" charset="-120"/>
              </a:rPr>
              <a:t>A truth audit of the manuscript against the codebase. Three claims did not survive and were corrected in the thesis.</a:t>
            </a:r>
            <a:endParaRPr lang="en-US" sz="1350" dirty="0"/>
          </a:p>
          <a:p>
            <a:pPr marL="342900" indent="-342900">
              <a:spcAft>
                <a:spcPts val="700"/>
              </a:spcAft>
              <a:buSzPct val="100000"/>
              <a:buChar char="•"/>
            </a:pPr>
            <a:r>
              <a:rPr lang="en-US" sz="1350" dirty="0">
                <a:solidFill>
                  <a:srgbClr val="1A1A2E"/>
                </a:solidFill>
                <a:latin typeface="Calibri" pitchFamily="34" charset="0"/>
                <a:ea typeface="Calibri" pitchFamily="34" charset="-122"/>
                <a:cs typeface="Calibri" pitchFamily="34" charset="-120"/>
              </a:rPr>
              <a:t>A full line edit for plain voice. Every em dash is gone from the compiled document, and no claim or number changed.</a:t>
            </a:r>
            <a:endParaRPr lang="en-US" sz="1350" dirty="0"/>
          </a:p>
          <a:p>
            <a:pPr marL="342900" indent="-342900">
              <a:spcAft>
                <a:spcPts val="700"/>
              </a:spcAft>
              <a:buSzPct val="100000"/>
              <a:buChar char="•"/>
            </a:pPr>
            <a:r>
              <a:rPr lang="en-US" sz="1350" dirty="0">
                <a:solidFill>
                  <a:srgbClr val="1A1A2E"/>
                </a:solidFill>
                <a:latin typeface="Calibri" pitchFamily="34" charset="0"/>
                <a:ea typeface="Calibri" pitchFamily="34" charset="-122"/>
                <a:cs typeface="Calibri" pitchFamily="34" charset="-120"/>
              </a:rPr>
              <a:t>A conflict of interest disclosure that participants read before consent, plus a standing separation between the research and any commercial follow-up.</a:t>
            </a:r>
            <a:endParaRPr lang="en-US" sz="1350" dirty="0"/>
          </a:p>
          <a:p>
            <a:pPr marL="342900" indent="-342900">
              <a:spcAft>
                <a:spcPts val="700"/>
              </a:spcAft>
              <a:buSzPct val="100000"/>
              <a:buChar char="•"/>
            </a:pPr>
            <a:r>
              <a:rPr lang="en-US" sz="1350" dirty="0">
                <a:solidFill>
                  <a:srgbClr val="1A1A2E"/>
                </a:solidFill>
                <a:latin typeface="Calibri" pitchFamily="34" charset="0"/>
                <a:ea typeface="Calibri" pitchFamily="34" charset="-122"/>
                <a:cs typeface="Calibri" pitchFamily="34" charset="-120"/>
              </a:rPr>
              <a:t>Dashboard rebuilt around the decision queue on 13 August, public site replatformed on 14 August, and the public claims audited against shipped capability on 21 August.</a:t>
            </a:r>
            <a:endParaRPr lang="en-US" sz="1350" dirty="0"/>
          </a:p>
        </p:txBody>
      </p:sp>
      <p:sp>
        <p:nvSpPr>
          <p:cNvPr id="9" name="Shape 7"/>
          <p:cNvSpPr/>
          <p:nvPr/>
        </p:nvSpPr>
        <p:spPr>
          <a:xfrm>
            <a:off x="548640" y="5074920"/>
            <a:ext cx="11064240" cy="1097280"/>
          </a:xfrm>
          <a:prstGeom prst="roundRect">
            <a:avLst>
              <a:gd name="adj" fmla="val 5000"/>
            </a:avLst>
          </a:prstGeom>
          <a:solidFill>
            <a:srgbClr val="1E2761"/>
          </a:solidFill>
          <a:ln/>
        </p:spPr>
      </p:sp>
      <p:sp>
        <p:nvSpPr>
          <p:cNvPr id="10" name="Text 8"/>
          <p:cNvSpPr/>
          <p:nvPr/>
        </p:nvSpPr>
        <p:spPr>
          <a:xfrm>
            <a:off x="749808" y="5239512"/>
            <a:ext cx="10661904" cy="822960"/>
          </a:xfrm>
          <a:prstGeom prst="rect">
            <a:avLst/>
          </a:prstGeom>
          <a:noFill/>
          <a:ln/>
        </p:spPr>
        <p:txBody>
          <a:bodyPr wrap="square" lIns="0" tIns="0" rIns="0" bIns="0" rtlCol="0" anchor="ctr"/>
          <a:lstStyle/>
          <a:p>
            <a:pPr indent="0" marL="0">
              <a:buNone/>
            </a:pPr>
            <a:r>
              <a:rPr lang="en-US" sz="1550" dirty="0">
                <a:solidFill>
                  <a:srgbClr val="FFFFFF"/>
                </a:solidFill>
                <a:latin typeface="Calibri" pitchFamily="34" charset="0"/>
                <a:ea typeface="Calibri" pitchFamily="34" charset="-122"/>
                <a:cs typeface="Calibri" pitchFamily="34" charset="-120"/>
              </a:rPr>
              <a:t>One thing did not move. RQ4 is still at zero interviews, zero survey responses and no ethics sign-off, and that is what I most need from this meeting.</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11430000" y="6382512"/>
            <a:ext cx="457200" cy="256032"/>
          </a:xfrm>
          <a:prstGeom prst="rect">
            <a:avLst/>
          </a:prstGeom>
          <a:noFill/>
          <a:ln/>
        </p:spPr>
        <p:txBody>
          <a:bodyPr wrap="square" lIns="0" tIns="0" rIns="0" bIns="0" rtlCol="0" anchor="ctr"/>
          <a:lstStyle/>
          <a:p>
            <a:pPr algn="r" indent="0" marL="0">
              <a:buNone/>
            </a:pPr>
            <a:r>
              <a:rPr lang="en-US" sz="1100" dirty="0">
                <a:solidFill>
                  <a:srgbClr val="5A6478"/>
                </a:solidFill>
                <a:latin typeface="Calibri" pitchFamily="34" charset="0"/>
                <a:ea typeface="Calibri" pitchFamily="34" charset="-122"/>
                <a:cs typeface="Calibri" pitchFamily="34" charset="-120"/>
              </a:rPr>
              <a:t>8</a:t>
            </a:r>
            <a:endParaRPr lang="en-US" sz="1100" dirty="0"/>
          </a:p>
        </p:txBody>
      </p:sp>
      <p:sp>
        <p:nvSpPr>
          <p:cNvPr id="3" name="Text 1"/>
          <p:cNvSpPr/>
          <p:nvPr/>
        </p:nvSpPr>
        <p:spPr>
          <a:xfrm>
            <a:off x="548640" y="292608"/>
            <a:ext cx="11064240" cy="694944"/>
          </a:xfrm>
          <a:prstGeom prst="rect">
            <a:avLst/>
          </a:prstGeom>
          <a:noFill/>
          <a:ln/>
        </p:spPr>
        <p:txBody>
          <a:bodyPr wrap="square" rtlCol="0" anchor="ctr"/>
          <a:lstStyle/>
          <a:p>
            <a:pPr indent="0" marL="0">
              <a:buNone/>
            </a:pPr>
            <a:r>
              <a:rPr lang="en-US" sz="3000" b="1" dirty="0">
                <a:solidFill>
                  <a:srgbClr val="1A1A2E"/>
                </a:solidFill>
                <a:latin typeface="Cambria" pitchFamily="34" charset="0"/>
                <a:ea typeface="Cambria" pitchFamily="34" charset="-122"/>
                <a:cs typeface="Cambria" pitchFamily="34" charset="-120"/>
              </a:rPr>
              <a:t>Two reviews, and what they cost</a:t>
            </a:r>
            <a:endParaRPr lang="en-US" sz="3000" dirty="0"/>
          </a:p>
        </p:txBody>
      </p:sp>
      <p:sp>
        <p:nvSpPr>
          <p:cNvPr id="4" name="Text 2"/>
          <p:cNvSpPr/>
          <p:nvPr/>
        </p:nvSpPr>
        <p:spPr>
          <a:xfrm>
            <a:off x="548640" y="914400"/>
            <a:ext cx="11064240" cy="365760"/>
          </a:xfrm>
          <a:prstGeom prst="rect">
            <a:avLst/>
          </a:prstGeom>
          <a:noFill/>
          <a:ln/>
        </p:spPr>
        <p:txBody>
          <a:bodyPr wrap="square" rtlCol="0" anchor="ctr"/>
          <a:lstStyle/>
          <a:p>
            <a:pPr indent="0" marL="0">
              <a:buNone/>
            </a:pPr>
            <a:r>
              <a:rPr lang="en-US" sz="1500" dirty="0">
                <a:solidFill>
                  <a:srgbClr val="5A6478"/>
                </a:solidFill>
                <a:latin typeface="Calibri" pitchFamily="34" charset="0"/>
                <a:ea typeface="Calibri" pitchFamily="34" charset="-122"/>
                <a:cs typeface="Calibri" pitchFamily="34" charset="-120"/>
              </a:rPr>
              <a:t>One of the method by an outside reviewer, one of my own claims by me</a:t>
            </a:r>
            <a:endParaRPr lang="en-US" sz="1500" dirty="0"/>
          </a:p>
        </p:txBody>
      </p:sp>
      <p:sp>
        <p:nvSpPr>
          <p:cNvPr id="5" name="Text 3"/>
          <p:cNvSpPr/>
          <p:nvPr/>
        </p:nvSpPr>
        <p:spPr>
          <a:xfrm>
            <a:off x="548640" y="1371600"/>
            <a:ext cx="5486400" cy="310896"/>
          </a:xfrm>
          <a:prstGeom prst="rect">
            <a:avLst/>
          </a:prstGeom>
          <a:noFill/>
          <a:ln/>
        </p:spPr>
        <p:txBody>
          <a:bodyPr wrap="square" rtlCol="0" anchor="ctr"/>
          <a:lstStyle/>
          <a:p>
            <a:pPr indent="0" marL="0">
              <a:buNone/>
            </a:pPr>
            <a:r>
              <a:rPr lang="en-US" sz="1700" b="1" dirty="0">
                <a:solidFill>
                  <a:srgbClr val="1E2761"/>
                </a:solidFill>
                <a:latin typeface="Cambria" pitchFamily="34" charset="0"/>
                <a:ea typeface="Cambria" pitchFamily="34" charset="-122"/>
                <a:cs typeface="Cambria" pitchFamily="34" charset="-120"/>
              </a:rPr>
              <a:t>Methodology review, 8 August</a:t>
            </a:r>
            <a:endParaRPr lang="en-US" sz="1700" dirty="0"/>
          </a:p>
        </p:txBody>
      </p:sp>
      <p:sp>
        <p:nvSpPr>
          <p:cNvPr id="6" name="Shape 4"/>
          <p:cNvSpPr/>
          <p:nvPr/>
        </p:nvSpPr>
        <p:spPr>
          <a:xfrm>
            <a:off x="548640" y="1755648"/>
            <a:ext cx="5440680" cy="2011680"/>
          </a:xfrm>
          <a:prstGeom prst="roundRect">
            <a:avLst>
              <a:gd name="adj" fmla="val 2727"/>
            </a:avLst>
          </a:prstGeom>
          <a:solidFill>
            <a:srgbClr val="F4F7FC"/>
          </a:solidFill>
          <a:ln w="12700">
            <a:solidFill>
              <a:srgbClr val="CADCFC"/>
            </a:solidFill>
            <a:prstDash val="solid"/>
          </a:ln>
        </p:spPr>
      </p:sp>
      <p:sp>
        <p:nvSpPr>
          <p:cNvPr id="7" name="Text 5"/>
          <p:cNvSpPr/>
          <p:nvPr/>
        </p:nvSpPr>
        <p:spPr>
          <a:xfrm>
            <a:off x="713232" y="1847088"/>
            <a:ext cx="5111496" cy="274320"/>
          </a:xfrm>
          <a:prstGeom prst="rect">
            <a:avLst/>
          </a:prstGeom>
          <a:noFill/>
          <a:ln/>
        </p:spPr>
        <p:txBody>
          <a:bodyPr wrap="square" lIns="0" tIns="0" rIns="0" bIns="0"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The finding that mattered most</a:t>
            </a:r>
            <a:endParaRPr lang="en-US" sz="1450" dirty="0"/>
          </a:p>
        </p:txBody>
      </p:sp>
      <p:sp>
        <p:nvSpPr>
          <p:cNvPr id="8" name="Text 6"/>
          <p:cNvSpPr/>
          <p:nvPr/>
        </p:nvSpPr>
        <p:spPr>
          <a:xfrm>
            <a:off x="713232" y="2139696"/>
            <a:ext cx="5111496" cy="1517904"/>
          </a:xfrm>
          <a:prstGeom prst="rect">
            <a:avLst/>
          </a:prstGeom>
          <a:noFill/>
          <a:ln/>
        </p:spPr>
        <p:txBody>
          <a:bodyPr wrap="square" lIns="0" tIns="0" rIns="0" bIns="0" rtlCol="0" anchor="ctr"/>
          <a:lstStyle/>
          <a:p>
            <a:pPr indent="0" marL="0">
              <a:buNone/>
            </a:pPr>
            <a:r>
              <a:rPr lang="en-US" sz="1300" dirty="0">
                <a:solidFill>
                  <a:srgbClr val="1A1A2E"/>
                </a:solidFill>
                <a:latin typeface="Calibri" pitchFamily="34" charset="0"/>
                <a:ea typeface="Calibri" pitchFamily="34" charset="-122"/>
                <a:cs typeface="Calibri" pitchFamily="34" charset="-120"/>
              </a:rPr>
              <a:t>An embedding provider swap on 6 August silently invalidated every cosine similarity threshold in the system. Under the new model, wrong-category pairs sit between 0.73 and 0.88, so the inherited 0.55 mapping floor admitted everything and the 0.30 refusal floor could never refuse on similarity. Nothing had failed, and nothing had warned.</a:t>
            </a:r>
            <a:endParaRPr lang="en-US" sz="1300" dirty="0"/>
          </a:p>
        </p:txBody>
      </p:sp>
      <p:sp>
        <p:nvSpPr>
          <p:cNvPr id="9" name="Shape 7"/>
          <p:cNvSpPr/>
          <p:nvPr/>
        </p:nvSpPr>
        <p:spPr>
          <a:xfrm>
            <a:off x="548640" y="3858768"/>
            <a:ext cx="5440680" cy="1828800"/>
          </a:xfrm>
          <a:prstGeom prst="roundRect">
            <a:avLst>
              <a:gd name="adj" fmla="val 3000"/>
            </a:avLst>
          </a:prstGeom>
          <a:solidFill>
            <a:srgbClr val="F4F7FC"/>
          </a:solidFill>
          <a:ln w="12700">
            <a:solidFill>
              <a:srgbClr val="CADCFC"/>
            </a:solidFill>
            <a:prstDash val="solid"/>
          </a:ln>
        </p:spPr>
      </p:sp>
      <p:sp>
        <p:nvSpPr>
          <p:cNvPr id="10" name="Text 8"/>
          <p:cNvSpPr/>
          <p:nvPr/>
        </p:nvSpPr>
        <p:spPr>
          <a:xfrm>
            <a:off x="713232" y="3950208"/>
            <a:ext cx="5111496" cy="274320"/>
          </a:xfrm>
          <a:prstGeom prst="rect">
            <a:avLst/>
          </a:prstGeom>
          <a:noFill/>
          <a:ln/>
        </p:spPr>
        <p:txBody>
          <a:bodyPr wrap="square" lIns="0" tIns="0" rIns="0" bIns="0"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What shipped, stated honestly</a:t>
            </a:r>
            <a:endParaRPr lang="en-US" sz="1450" dirty="0"/>
          </a:p>
        </p:txBody>
      </p:sp>
      <p:sp>
        <p:nvSpPr>
          <p:cNvPr id="11" name="Text 9"/>
          <p:cNvSpPr/>
          <p:nvPr/>
        </p:nvSpPr>
        <p:spPr>
          <a:xfrm>
            <a:off x="713232" y="4242816"/>
            <a:ext cx="5111496" cy="1335024"/>
          </a:xfrm>
          <a:prstGeom prst="rect">
            <a:avLst/>
          </a:prstGeom>
          <a:noFill/>
          <a:ln/>
        </p:spPr>
        <p:txBody>
          <a:bodyPr wrap="square" lIns="0" tIns="0" rIns="0" bIns="0" rtlCol="0" anchor="ctr"/>
          <a:lstStyle/>
          <a:p>
            <a:pPr indent="0" marL="0">
              <a:buNone/>
            </a:pPr>
            <a:r>
              <a:rPr lang="en-US" sz="1300" dirty="0">
                <a:solidFill>
                  <a:srgbClr val="1A1A2E"/>
                </a:solidFill>
                <a:latin typeface="Calibri" pitchFamily="34" charset="0"/>
                <a:ea typeface="Calibri" pitchFamily="34" charset="-122"/>
                <a:cs typeface="Calibri" pitchFamily="34" charset="-120"/>
              </a:rPr>
              <a:t>11 findings, 10 recommendations, all ten implemented and merged. Two produced measured numbers, five shipped mechanism that only unit tests cover, and two are still open. Thresholds are now derived from a stated quantile rule and stored per embedder with the model name beside them.</a:t>
            </a:r>
            <a:endParaRPr lang="en-US" sz="1300" dirty="0"/>
          </a:p>
        </p:txBody>
      </p:sp>
      <p:sp>
        <p:nvSpPr>
          <p:cNvPr id="12" name="Text 10"/>
          <p:cNvSpPr/>
          <p:nvPr/>
        </p:nvSpPr>
        <p:spPr>
          <a:xfrm>
            <a:off x="6172200" y="1371600"/>
            <a:ext cx="5440680" cy="310896"/>
          </a:xfrm>
          <a:prstGeom prst="rect">
            <a:avLst/>
          </a:prstGeom>
          <a:noFill/>
          <a:ln/>
        </p:spPr>
        <p:txBody>
          <a:bodyPr wrap="square" rtlCol="0" anchor="ctr"/>
          <a:lstStyle/>
          <a:p>
            <a:pPr indent="0" marL="0">
              <a:buNone/>
            </a:pPr>
            <a:r>
              <a:rPr lang="en-US" sz="1700" b="1" dirty="0">
                <a:solidFill>
                  <a:srgbClr val="1E2761"/>
                </a:solidFill>
                <a:latin typeface="Cambria" pitchFamily="34" charset="0"/>
                <a:ea typeface="Cambria" pitchFamily="34" charset="-122"/>
                <a:cs typeface="Cambria" pitchFamily="34" charset="-120"/>
              </a:rPr>
              <a:t>Truth audit of my own manuscript, 20 August</a:t>
            </a:r>
            <a:endParaRPr lang="en-US" sz="1700" dirty="0"/>
          </a:p>
        </p:txBody>
      </p:sp>
      <p:sp>
        <p:nvSpPr>
          <p:cNvPr id="13" name="Shape 11"/>
          <p:cNvSpPr/>
          <p:nvPr/>
        </p:nvSpPr>
        <p:spPr>
          <a:xfrm>
            <a:off x="6172200" y="1755648"/>
            <a:ext cx="5440680" cy="2011680"/>
          </a:xfrm>
          <a:prstGeom prst="roundRect">
            <a:avLst>
              <a:gd name="adj" fmla="val 2727"/>
            </a:avLst>
          </a:prstGeom>
          <a:solidFill>
            <a:srgbClr val="F4F7FC"/>
          </a:solidFill>
          <a:ln w="12700">
            <a:solidFill>
              <a:srgbClr val="CADCFC"/>
            </a:solidFill>
            <a:prstDash val="solid"/>
          </a:ln>
        </p:spPr>
      </p:sp>
      <p:sp>
        <p:nvSpPr>
          <p:cNvPr id="14" name="Text 12"/>
          <p:cNvSpPr/>
          <p:nvPr/>
        </p:nvSpPr>
        <p:spPr>
          <a:xfrm>
            <a:off x="6336792" y="1847088"/>
            <a:ext cx="5111496" cy="274320"/>
          </a:xfrm>
          <a:prstGeom prst="rect">
            <a:avLst/>
          </a:prstGeom>
          <a:noFill/>
          <a:ln/>
        </p:spPr>
        <p:txBody>
          <a:bodyPr wrap="square" lIns="0" tIns="0" rIns="0" bIns="0"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Three claims did not survive</a:t>
            </a:r>
            <a:endParaRPr lang="en-US" sz="1450" dirty="0"/>
          </a:p>
        </p:txBody>
      </p:sp>
      <p:sp>
        <p:nvSpPr>
          <p:cNvPr id="15" name="Text 13"/>
          <p:cNvSpPr/>
          <p:nvPr/>
        </p:nvSpPr>
        <p:spPr>
          <a:xfrm>
            <a:off x="6336792" y="2139696"/>
            <a:ext cx="5111496" cy="1517904"/>
          </a:xfrm>
          <a:prstGeom prst="rect">
            <a:avLst/>
          </a:prstGeom>
          <a:noFill/>
          <a:ln/>
        </p:spPr>
        <p:txBody>
          <a:bodyPr wrap="square" lIns="0" tIns="0" rIns="0" bIns="0" rtlCol="0" anchor="ctr"/>
          <a:lstStyle/>
          <a:p>
            <a:pPr indent="0" marL="0">
              <a:buNone/>
            </a:pPr>
            <a:r>
              <a:rPr lang="en-US" sz="1150" dirty="0">
                <a:solidFill>
                  <a:srgbClr val="1A1A2E"/>
                </a:solidFill>
                <a:latin typeface="Calibri" pitchFamily="34" charset="0"/>
                <a:ea typeface="Calibri" pitchFamily="34" charset="-122"/>
                <a:cs typeface="Calibri" pitchFamily="34" charset="-120"/>
              </a:rPr>
              <a:t>The evaluation run ledger was described as a committed record. It is excluded from version control, so it is not inspectable, and the thesis now discloses that as a reproducibility boundary.</a:t>
            </a:r>
            <a:endParaRPr lang="en-US" sz="1150" dirty="0"/>
          </a:p>
          <a:p>
            <a:pPr indent="0" marL="0">
              <a:buNone/>
            </a:pPr>
            <a:endParaRPr lang="en-US" sz="1150" dirty="0"/>
          </a:p>
          <a:p>
            <a:pPr indent="0" marL="0">
              <a:buNone/>
            </a:pPr>
            <a:r>
              <a:rPr lang="en-US" sz="1150" dirty="0">
                <a:solidFill>
                  <a:srgbClr val="1A1A2E"/>
                </a:solidFill>
                <a:latin typeface="Calibri" pitchFamily="34" charset="0"/>
                <a:ea typeface="Calibri" pitchFamily="34" charset="-122"/>
                <a:cs typeface="Calibri" pitchFamily="34" charset="-120"/>
              </a:rPr>
              <a:t>The connector text was wrong in both directions. Five official API pull sources exist, and three named integrations do not.</a:t>
            </a:r>
            <a:endParaRPr lang="en-US" sz="1150" dirty="0"/>
          </a:p>
          <a:p>
            <a:pPr indent="0" marL="0">
              <a:buNone/>
            </a:pPr>
            <a:endParaRPr lang="en-US" sz="1150" dirty="0"/>
          </a:p>
          <a:p>
            <a:pPr indent="0" marL="0">
              <a:buNone/>
            </a:pPr>
            <a:r>
              <a:rPr lang="en-US" sz="1150" dirty="0">
                <a:solidFill>
                  <a:srgbClr val="1A1A2E"/>
                </a:solidFill>
                <a:latin typeface="Calibri" pitchFamily="34" charset="0"/>
                <a:ea typeface="Calibri" pitchFamily="34" charset="-122"/>
                <a:cs typeface="Calibri" pitchFamily="34" charset="-120"/>
              </a:rPr>
              <a:t>"Up to thirteen source types" was a design taxonomy presented as a capability.</a:t>
            </a:r>
            <a:endParaRPr lang="en-US" sz="1150" dirty="0"/>
          </a:p>
        </p:txBody>
      </p:sp>
      <p:sp>
        <p:nvSpPr>
          <p:cNvPr id="16" name="Shape 14"/>
          <p:cNvSpPr/>
          <p:nvPr/>
        </p:nvSpPr>
        <p:spPr>
          <a:xfrm>
            <a:off x="6172200" y="3858768"/>
            <a:ext cx="5440680" cy="1828800"/>
          </a:xfrm>
          <a:prstGeom prst="roundRect">
            <a:avLst>
              <a:gd name="adj" fmla="val 3000"/>
            </a:avLst>
          </a:prstGeom>
          <a:solidFill>
            <a:srgbClr val="F4F7FC"/>
          </a:solidFill>
          <a:ln w="12700">
            <a:solidFill>
              <a:srgbClr val="CADCFC"/>
            </a:solidFill>
            <a:prstDash val="solid"/>
          </a:ln>
        </p:spPr>
      </p:sp>
      <p:sp>
        <p:nvSpPr>
          <p:cNvPr id="17" name="Text 15"/>
          <p:cNvSpPr/>
          <p:nvPr/>
        </p:nvSpPr>
        <p:spPr>
          <a:xfrm>
            <a:off x="6336792" y="3950208"/>
            <a:ext cx="5111496" cy="274320"/>
          </a:xfrm>
          <a:prstGeom prst="rect">
            <a:avLst/>
          </a:prstGeom>
          <a:noFill/>
          <a:ln/>
        </p:spPr>
        <p:txBody>
          <a:bodyPr wrap="square" lIns="0" tIns="0" rIns="0" bIns="0"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What I did about it</a:t>
            </a:r>
            <a:endParaRPr lang="en-US" sz="1450" dirty="0"/>
          </a:p>
        </p:txBody>
      </p:sp>
      <p:sp>
        <p:nvSpPr>
          <p:cNvPr id="18" name="Text 16"/>
          <p:cNvSpPr/>
          <p:nvPr/>
        </p:nvSpPr>
        <p:spPr>
          <a:xfrm>
            <a:off x="6336792" y="4242816"/>
            <a:ext cx="5111496" cy="1335024"/>
          </a:xfrm>
          <a:prstGeom prst="rect">
            <a:avLst/>
          </a:prstGeom>
          <a:noFill/>
          <a:ln/>
        </p:spPr>
        <p:txBody>
          <a:bodyPr wrap="square" lIns="0" tIns="0" rIns="0" bIns="0" rtlCol="0" anchor="ctr"/>
          <a:lstStyle/>
          <a:p>
            <a:pPr indent="0" marL="0">
              <a:buNone/>
            </a:pPr>
            <a:r>
              <a:rPr lang="en-US" sz="1300" dirty="0">
                <a:solidFill>
                  <a:srgbClr val="1A1A2E"/>
                </a:solidFill>
                <a:latin typeface="Calibri" pitchFamily="34" charset="0"/>
                <a:ea typeface="Calibri" pitchFamily="34" charset="-122"/>
                <a:cs typeface="Calibri" pitchFamily="34" charset="-120"/>
              </a:rPr>
              <a:t>I corrected the thesis rather than softening the wording, and the same audit ran over the public site the next day. Seven claims were corrected there, and three of them are now checks that run against production every 30 minutes and fail if the old wording comes back.</a:t>
            </a:r>
            <a:endParaRPr lang="en-US" sz="1300" dirty="0"/>
          </a:p>
        </p:txBody>
      </p:sp>
      <p:sp>
        <p:nvSpPr>
          <p:cNvPr id="19" name="Text 17"/>
          <p:cNvSpPr/>
          <p:nvPr/>
        </p:nvSpPr>
        <p:spPr>
          <a:xfrm>
            <a:off x="548640" y="5852160"/>
            <a:ext cx="11064240" cy="457200"/>
          </a:xfrm>
          <a:prstGeom prst="rect">
            <a:avLst/>
          </a:prstGeom>
          <a:noFill/>
          <a:ln/>
        </p:spPr>
        <p:txBody>
          <a:bodyPr wrap="square"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The same lesson three times. A declared control is not an enforced control until somebody checks it. The platform in July, the method in August, my own writing last week.</a:t>
            </a:r>
            <a:endParaRPr lang="en-US" sz="14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11430000" y="6382512"/>
            <a:ext cx="457200" cy="256032"/>
          </a:xfrm>
          <a:prstGeom prst="rect">
            <a:avLst/>
          </a:prstGeom>
          <a:noFill/>
          <a:ln/>
        </p:spPr>
        <p:txBody>
          <a:bodyPr wrap="square" lIns="0" tIns="0" rIns="0" bIns="0" rtlCol="0" anchor="ctr"/>
          <a:lstStyle/>
          <a:p>
            <a:pPr algn="r" indent="0" marL="0">
              <a:buNone/>
            </a:pPr>
            <a:r>
              <a:rPr lang="en-US" sz="1100" dirty="0">
                <a:solidFill>
                  <a:srgbClr val="5A6478"/>
                </a:solidFill>
                <a:latin typeface="Calibri" pitchFamily="34" charset="0"/>
                <a:ea typeface="Calibri" pitchFamily="34" charset="-122"/>
                <a:cs typeface="Calibri" pitchFamily="34" charset="-120"/>
              </a:rPr>
              <a:t>9</a:t>
            </a:r>
            <a:endParaRPr lang="en-US" sz="1100" dirty="0"/>
          </a:p>
        </p:txBody>
      </p:sp>
      <p:sp>
        <p:nvSpPr>
          <p:cNvPr id="3" name="Text 1"/>
          <p:cNvSpPr/>
          <p:nvPr/>
        </p:nvSpPr>
        <p:spPr>
          <a:xfrm>
            <a:off x="548640" y="292608"/>
            <a:ext cx="11064240" cy="694944"/>
          </a:xfrm>
          <a:prstGeom prst="rect">
            <a:avLst/>
          </a:prstGeom>
          <a:noFill/>
          <a:ln/>
        </p:spPr>
        <p:txBody>
          <a:bodyPr wrap="square" rtlCol="0" anchor="ctr"/>
          <a:lstStyle/>
          <a:p>
            <a:pPr indent="0" marL="0">
              <a:buNone/>
            </a:pPr>
            <a:r>
              <a:rPr lang="en-US" sz="3000" b="1" dirty="0">
                <a:solidFill>
                  <a:srgbClr val="1A1A2E"/>
                </a:solidFill>
                <a:latin typeface="Cambria" pitchFamily="34" charset="0"/>
                <a:ea typeface="Cambria" pitchFamily="34" charset="-122"/>
                <a:cs typeface="Cambria" pitchFamily="34" charset="-120"/>
              </a:rPr>
              <a:t>Triage accuracy depends on the method</a:t>
            </a:r>
            <a:endParaRPr lang="en-US" sz="3000" dirty="0"/>
          </a:p>
        </p:txBody>
      </p:sp>
      <p:sp>
        <p:nvSpPr>
          <p:cNvPr id="4" name="Text 2"/>
          <p:cNvSpPr/>
          <p:nvPr/>
        </p:nvSpPr>
        <p:spPr>
          <a:xfrm>
            <a:off x="548640" y="914400"/>
            <a:ext cx="11064240" cy="365760"/>
          </a:xfrm>
          <a:prstGeom prst="rect">
            <a:avLst/>
          </a:prstGeom>
          <a:noFill/>
          <a:ln/>
        </p:spPr>
        <p:txBody>
          <a:bodyPr wrap="square" rtlCol="0" anchor="ctr"/>
          <a:lstStyle/>
          <a:p>
            <a:pPr indent="0" marL="0">
              <a:buNone/>
            </a:pPr>
            <a:r>
              <a:rPr lang="en-US" sz="1500" dirty="0">
                <a:solidFill>
                  <a:srgbClr val="5A6478"/>
                </a:solidFill>
                <a:latin typeface="Calibri" pitchFamily="34" charset="0"/>
                <a:ea typeface="Calibri" pitchFamily="34" charset="-122"/>
                <a:cs typeface="Calibri" pitchFamily="34" charset="-120"/>
              </a:rPr>
              <a:t>Three predictors, one gold standard, paired tests on identical items</a:t>
            </a:r>
            <a:endParaRPr lang="en-US" sz="15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6766560" cy="914400"/>
        </p:xfrm>
        <a:graphic>
          <a:graphicData uri="http://schemas.openxmlformats.org/drawingml/2006/table">
            <a:tbl>
              <a:tblPr/>
              <a:tblGrid>
                <a:gridCol w="3108960"/>
                <a:gridCol w="1828800"/>
                <a:gridCol w="1828800"/>
              </a:tblGrid>
              <a:tr h="45720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Predictor</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1E2761"/>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Sentiment accuracy (n = 153)</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1E2761"/>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Severity macro-F1 (n = 106)</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1E2761"/>
                    </a:solidFill>
                  </a:tcPr>
                </a:tc>
              </a:tr>
              <a:tr h="457200">
                <a:tc>
                  <a:txBody>
                    <a:bodyPr/>
                    <a:lstStyle/>
                    <a:p>
                      <a:pPr indent="0" marL="0">
                        <a:buNone/>
                      </a:pPr>
                      <a:r>
                        <a:rPr lang="en-US" sz="1400" dirty="0">
                          <a:solidFill>
                            <a:srgbClr val="000000"/>
                          </a:solidFill>
                          <a:latin typeface="Calibri" pitchFamily="34" charset="0"/>
                          <a:ea typeface="Calibri" pitchFamily="34" charset="-122"/>
                          <a:cs typeface="Calibri" pitchFamily="34" charset="-120"/>
                        </a:rPr>
                        <a:t>Keyword and lexicon floor</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indent="0" marL="0">
                        <a:buNone/>
                      </a:pPr>
                      <a:r>
                        <a:rPr lang="en-US" sz="1400" dirty="0">
                          <a:solidFill>
                            <a:srgbClr val="000000"/>
                          </a:solidFill>
                          <a:latin typeface="Calibri" pitchFamily="34" charset="0"/>
                          <a:ea typeface="Calibri" pitchFamily="34" charset="-122"/>
                          <a:cs typeface="Calibri" pitchFamily="34" charset="-120"/>
                        </a:rPr>
                        <a:t>0.37</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indent="0" marL="0">
                        <a:buNone/>
                      </a:pPr>
                      <a:r>
                        <a:rPr lang="en-US" sz="1400" dirty="0">
                          <a:solidFill>
                            <a:srgbClr val="000000"/>
                          </a:solidFill>
                          <a:latin typeface="Calibri" pitchFamily="34" charset="0"/>
                          <a:ea typeface="Calibri" pitchFamily="34" charset="-122"/>
                          <a:cs typeface="Calibri" pitchFamily="34" charset="-120"/>
                        </a:rPr>
                        <a:t>0.26</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r>
              <a:tr h="457200">
                <a:tc>
                  <a:txBody>
                    <a:bodyPr/>
                    <a:lstStyle/>
                    <a:p>
                      <a:pPr indent="0" marL="0">
                        <a:buNone/>
                      </a:pPr>
                      <a:r>
                        <a:rPr lang="en-US" sz="1400" dirty="0">
                          <a:solidFill>
                            <a:srgbClr val="000000"/>
                          </a:solidFill>
                          <a:latin typeface="Calibri" pitchFamily="34" charset="0"/>
                          <a:ea typeface="Calibri" pitchFamily="34" charset="-122"/>
                          <a:cs typeface="Calibri" pitchFamily="34" charset="-120"/>
                        </a:rPr>
                        <a:t>TF-IDF and logistic regression</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indent="0" marL="0">
                        <a:buNone/>
                      </a:pPr>
                      <a:r>
                        <a:rPr lang="en-US" sz="1400" dirty="0">
                          <a:solidFill>
                            <a:srgbClr val="000000"/>
                          </a:solidFill>
                          <a:latin typeface="Calibri" pitchFamily="34" charset="0"/>
                          <a:ea typeface="Calibri" pitchFamily="34" charset="-122"/>
                          <a:cs typeface="Calibri" pitchFamily="34" charset="-120"/>
                        </a:rPr>
                        <a:t>0.78</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indent="0" marL="0">
                        <a:buNone/>
                      </a:pPr>
                      <a:r>
                        <a:rPr lang="en-US" sz="1400" dirty="0">
                          <a:solidFill>
                            <a:srgbClr val="000000"/>
                          </a:solidFill>
                          <a:latin typeface="Calibri" pitchFamily="34" charset="0"/>
                          <a:ea typeface="Calibri" pitchFamily="34" charset="-122"/>
                          <a:cs typeface="Calibri" pitchFamily="34" charset="-120"/>
                        </a:rPr>
                        <a:t>0.65</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r>
              <a:tr h="457200">
                <a:tc>
                  <a:txBody>
                    <a:bodyPr/>
                    <a:lstStyle/>
                    <a:p>
                      <a:pPr indent="0" marL="0">
                        <a:buNone/>
                      </a:pPr>
                      <a:r>
                        <a:rPr lang="en-US" sz="1400" b="1" dirty="0">
                          <a:solidFill>
                            <a:srgbClr val="000000"/>
                          </a:solidFill>
                          <a:latin typeface="Calibri" pitchFamily="34" charset="0"/>
                          <a:ea typeface="Calibri" pitchFamily="34" charset="-122"/>
                          <a:cs typeface="Calibri" pitchFamily="34" charset="-120"/>
                        </a:rPr>
                        <a:t>Contextual model path (generic prompt)</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indent="0" marL="0">
                        <a:buNone/>
                      </a:pPr>
                      <a:r>
                        <a:rPr lang="en-US" sz="1400" b="1" dirty="0">
                          <a:solidFill>
                            <a:srgbClr val="000000"/>
                          </a:solidFill>
                          <a:latin typeface="Calibri" pitchFamily="34" charset="0"/>
                          <a:ea typeface="Calibri" pitchFamily="34" charset="-122"/>
                          <a:cs typeface="Calibri" pitchFamily="34" charset="-120"/>
                        </a:rPr>
                        <a:t>0.86</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indent="0" marL="0">
                        <a:buNone/>
                      </a:pPr>
                      <a:r>
                        <a:rPr lang="en-US" sz="1400" b="1" dirty="0">
                          <a:solidFill>
                            <a:srgbClr val="000000"/>
                          </a:solidFill>
                          <a:latin typeface="Calibri" pitchFamily="34" charset="0"/>
                          <a:ea typeface="Calibri" pitchFamily="34" charset="-122"/>
                          <a:cs typeface="Calibri" pitchFamily="34" charset="-120"/>
                        </a:rPr>
                        <a:t>0.68</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r>
              <a:tr h="457200">
                <a:tc>
                  <a:txBody>
                    <a:bodyPr/>
                    <a:lstStyle/>
                    <a:p>
                      <a:pPr indent="0" marL="0">
                        <a:buNone/>
                      </a:pPr>
                      <a:r>
                        <a:rPr lang="en-US" sz="1400" dirty="0">
                          <a:solidFill>
                            <a:srgbClr val="000000"/>
                          </a:solidFill>
                          <a:latin typeface="Calibri" pitchFamily="34" charset="0"/>
                          <a:ea typeface="Calibri" pitchFamily="34" charset="-122"/>
                          <a:cs typeface="Calibri" pitchFamily="34" charset="-120"/>
                        </a:rPr>
                        <a:t>Production enrichment stage, same model</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indent="0" marL="0">
                        <a:buNone/>
                      </a:pPr>
                      <a:r>
                        <a:rPr lang="en-US" sz="1400" dirty="0">
                          <a:solidFill>
                            <a:srgbClr val="000000"/>
                          </a:solidFill>
                          <a:latin typeface="Calibri" pitchFamily="34" charset="0"/>
                          <a:ea typeface="Calibri" pitchFamily="34" charset="-122"/>
                          <a:cs typeface="Calibri" pitchFamily="34" charset="-120"/>
                        </a:rPr>
                        <a:t>0.83</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indent="0" marL="0">
                        <a:buNone/>
                      </a:pPr>
                      <a:r>
                        <a:rPr lang="en-US" sz="1400" dirty="0">
                          <a:solidFill>
                            <a:srgbClr val="000000"/>
                          </a:solidFill>
                          <a:latin typeface="Calibri" pitchFamily="34" charset="0"/>
                          <a:ea typeface="Calibri" pitchFamily="34" charset="-122"/>
                          <a:cs typeface="Calibri" pitchFamily="34" charset="-120"/>
                        </a:rPr>
                        <a:t>0.41</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r>
              <a:tr h="457200">
                <a:tc>
                  <a:txBody>
                    <a:bodyPr/>
                    <a:lstStyle/>
                    <a:p>
                      <a:pPr indent="0" marL="0">
                        <a:buNone/>
                      </a:pPr>
                      <a:r>
                        <a:rPr lang="en-US" sz="1400" dirty="0">
                          <a:solidFill>
                            <a:srgbClr val="000000"/>
                          </a:solidFill>
                          <a:latin typeface="Calibri" pitchFamily="34" charset="0"/>
                          <a:ea typeface="Calibri" pitchFamily="34" charset="-122"/>
                          <a:cs typeface="Calibri" pitchFamily="34" charset="-120"/>
                        </a:rPr>
                        <a:t>Production enrichment stage, production default</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indent="0" marL="0">
                        <a:buNone/>
                      </a:pPr>
                      <a:r>
                        <a:rPr lang="en-US" sz="1400" dirty="0">
                          <a:solidFill>
                            <a:srgbClr val="000000"/>
                          </a:solidFill>
                          <a:latin typeface="Calibri" pitchFamily="34" charset="0"/>
                          <a:ea typeface="Calibri" pitchFamily="34" charset="-122"/>
                          <a:cs typeface="Calibri" pitchFamily="34" charset="-120"/>
                        </a:rPr>
                        <a:t>0.84</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indent="0" marL="0">
                        <a:buNone/>
                      </a:pPr>
                      <a:r>
                        <a:rPr lang="en-US" sz="1400" dirty="0">
                          <a:solidFill>
                            <a:srgbClr val="000000"/>
                          </a:solidFill>
                          <a:latin typeface="Calibri" pitchFamily="34" charset="0"/>
                          <a:ea typeface="Calibri" pitchFamily="34" charset="-122"/>
                          <a:cs typeface="Calibri" pitchFamily="34" charset="-120"/>
                        </a:rPr>
                        <a:t>0.53</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r>
            </a:tbl>
          </a:graphicData>
        </a:graphic>
      </p:graphicFrame>
      <p:sp>
        <p:nvSpPr>
          <p:cNvPr id="6" name="Shape 3"/>
          <p:cNvSpPr/>
          <p:nvPr/>
        </p:nvSpPr>
        <p:spPr>
          <a:xfrm>
            <a:off x="548640" y="3310128"/>
            <a:ext cx="6766560" cy="1188720"/>
          </a:xfrm>
          <a:prstGeom prst="roundRect">
            <a:avLst>
              <a:gd name="adj" fmla="val 4615"/>
            </a:avLst>
          </a:prstGeom>
          <a:solidFill>
            <a:srgbClr val="F4F7FC"/>
          </a:solidFill>
          <a:ln w="12700">
            <a:solidFill>
              <a:srgbClr val="CADCFC"/>
            </a:solidFill>
            <a:prstDash val="solid"/>
          </a:ln>
        </p:spPr>
      </p:sp>
      <p:sp>
        <p:nvSpPr>
          <p:cNvPr id="7" name="Text 4"/>
          <p:cNvSpPr/>
          <p:nvPr/>
        </p:nvSpPr>
        <p:spPr>
          <a:xfrm>
            <a:off x="713232" y="3401568"/>
            <a:ext cx="6437376" cy="274320"/>
          </a:xfrm>
          <a:prstGeom prst="rect">
            <a:avLst/>
          </a:prstGeom>
          <a:noFill/>
          <a:ln/>
        </p:spPr>
        <p:txBody>
          <a:bodyPr wrap="square" lIns="0" tIns="0" rIns="0" bIns="0"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Paired McNemar on the same items, testing accuracy</a:t>
            </a:r>
            <a:endParaRPr lang="en-US" sz="1450" dirty="0"/>
          </a:p>
        </p:txBody>
      </p:sp>
      <p:sp>
        <p:nvSpPr>
          <p:cNvPr id="8" name="Text 5"/>
          <p:cNvSpPr/>
          <p:nvPr/>
        </p:nvSpPr>
        <p:spPr>
          <a:xfrm>
            <a:off x="713232" y="3694176"/>
            <a:ext cx="6437376" cy="694944"/>
          </a:xfrm>
          <a:prstGeom prst="rect">
            <a:avLst/>
          </a:prstGeom>
          <a:noFill/>
          <a:ln/>
        </p:spPr>
        <p:txBody>
          <a:bodyPr wrap="square" lIns="0" tIns="0" rIns="0" bIns="0" rtlCol="0" anchor="ctr"/>
          <a:lstStyle/>
          <a:p>
            <a:pPr indent="0" marL="0">
              <a:buNone/>
            </a:pPr>
            <a:r>
              <a:rPr lang="en-US" sz="1150" dirty="0">
                <a:solidFill>
                  <a:srgbClr val="1A1A2E"/>
                </a:solidFill>
                <a:latin typeface="Calibri" pitchFamily="34" charset="0"/>
                <a:ea typeface="Calibri" pitchFamily="34" charset="-122"/>
                <a:cs typeface="Calibri" pitchFamily="34" charset="-120"/>
              </a:rPr>
              <a:t>Both learned methods beat the floor (p &lt; 0.0001). The contextual path beats the learned model on sentiment in all four runs (p = 0.019 to 0.029) and ties it on severity; the production stage matches it on sentiment and sits one severity level below the seeds.</a:t>
            </a:r>
            <a:endParaRPr lang="en-US" sz="1150" dirty="0"/>
          </a:p>
        </p:txBody>
      </p:sp>
      <p:sp>
        <p:nvSpPr>
          <p:cNvPr id="9" name="Text 6"/>
          <p:cNvSpPr/>
          <p:nvPr/>
        </p:nvSpPr>
        <p:spPr>
          <a:xfrm>
            <a:off x="548640" y="4663440"/>
            <a:ext cx="6766560" cy="1371600"/>
          </a:xfrm>
          <a:prstGeom prst="rect">
            <a:avLst/>
          </a:prstGeom>
          <a:noFill/>
          <a:ln/>
        </p:spPr>
        <p:txBody>
          <a:bodyPr wrap="square" rtlCol="0" anchor="ctr"/>
          <a:lstStyle/>
          <a:p>
            <a:pPr indent="0" marL="0">
              <a:buNone/>
            </a:pPr>
            <a:r>
              <a:rPr lang="en-US" sz="1400" dirty="0">
                <a:solidFill>
                  <a:srgbClr val="1A1A2E"/>
                </a:solidFill>
                <a:latin typeface="Calibri" pitchFamily="34" charset="0"/>
                <a:ea typeface="Calibri" pitchFamily="34" charset="-122"/>
                <a:cs typeface="Calibri" pitchFamily="34" charset="-120"/>
              </a:rPr>
              <a:t>Contextual reasoning buys a great deal on sentiment and nothing demonstrable on severity, which lexical markers already carry. The production stage's severity shift is partly the seed labels' own calibration: a blind second rater put seven of ten seed-critical items at high (kappa 0.55, weighted 0.70). The precondition can be met by more than one method; a deployer has a choice, not an instruction.</a:t>
            </a:r>
            <a:endParaRPr lang="en-US" sz="1400" dirty="0"/>
          </a:p>
        </p:txBody>
      </p:sp>
      <p:pic>
        <p:nvPicPr>
          <p:cNvPr id="10" name="Image 0" descr="/home/user/CLARA/thesis/evaluation/results/risk_confusion.png">    </p:cNvPr>
          <p:cNvPicPr>
            <a:picLocks noChangeAspect="1"/>
          </p:cNvPicPr>
          <p:nvPr/>
        </p:nvPicPr>
        <p:blipFill>
          <a:blip r:embed="rId1"/>
          <a:stretch>
            <a:fillRect/>
          </a:stretch>
        </p:blipFill>
        <p:spPr>
          <a:xfrm>
            <a:off x="7635240" y="1463040"/>
            <a:ext cx="3931920" cy="3493008"/>
          </a:xfrm>
          <a:prstGeom prst="rect">
            <a:avLst/>
          </a:prstGeom>
        </p:spPr>
      </p:pic>
      <p:sp>
        <p:nvSpPr>
          <p:cNvPr id="11" name="Shape 7"/>
          <p:cNvSpPr/>
          <p:nvPr/>
        </p:nvSpPr>
        <p:spPr>
          <a:xfrm>
            <a:off x="7635240" y="4956048"/>
            <a:ext cx="3931920" cy="1371600"/>
          </a:xfrm>
          <a:prstGeom prst="roundRect">
            <a:avLst>
              <a:gd name="adj" fmla="val 4000"/>
            </a:avLst>
          </a:prstGeom>
          <a:solidFill>
            <a:srgbClr val="F4F7FC"/>
          </a:solidFill>
          <a:ln w="12700">
            <a:solidFill>
              <a:srgbClr val="CADCFC"/>
            </a:solidFill>
            <a:prstDash val="solid"/>
          </a:ln>
        </p:spPr>
      </p:sp>
      <p:sp>
        <p:nvSpPr>
          <p:cNvPr id="12" name="Text 8"/>
          <p:cNvSpPr/>
          <p:nvPr/>
        </p:nvSpPr>
        <p:spPr>
          <a:xfrm>
            <a:off x="7799832" y="5047488"/>
            <a:ext cx="3602736" cy="274320"/>
          </a:xfrm>
          <a:prstGeom prst="rect">
            <a:avLst/>
          </a:prstGeom>
          <a:noFill/>
          <a:ln/>
        </p:spPr>
        <p:txBody>
          <a:bodyPr wrap="square" lIns="0" tIns="0" rIns="0" bIns="0"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How this is scored</a:t>
            </a:r>
            <a:endParaRPr lang="en-US" sz="1450" dirty="0"/>
          </a:p>
        </p:txBody>
      </p:sp>
      <p:sp>
        <p:nvSpPr>
          <p:cNvPr id="13" name="Text 9"/>
          <p:cNvSpPr/>
          <p:nvPr/>
        </p:nvSpPr>
        <p:spPr>
          <a:xfrm>
            <a:off x="7799832" y="5340096"/>
            <a:ext cx="3602736" cy="877824"/>
          </a:xfrm>
          <a:prstGeom prst="rect">
            <a:avLst/>
          </a:prstGeom>
          <a:noFill/>
          <a:ln/>
        </p:spPr>
        <p:txBody>
          <a:bodyPr wrap="square" lIns="0" tIns="0" rIns="0" bIns="0" rtlCol="0" anchor="ctr"/>
          <a:lstStyle/>
          <a:p>
            <a:pPr indent="0" marL="0">
              <a:buNone/>
            </a:pPr>
            <a:r>
              <a:rPr lang="en-US" sz="1100" dirty="0">
                <a:solidFill>
                  <a:srgbClr val="1A1A2E"/>
                </a:solidFill>
                <a:latin typeface="Calibri" pitchFamily="34" charset="0"/>
                <a:ea typeface="Calibri" pitchFamily="34" charset="-122"/>
                <a:cs typeface="Calibri" pitchFamily="34" charset="-120"/>
              </a:rPr>
              <a:t>188 real public signals, paraphrased and de-identified; seed labels drafted by a language-model assistant, used as delivered. Sentiment is scored against the star rating, the one human-origin reference.</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11430000" y="6382512"/>
            <a:ext cx="457200" cy="256032"/>
          </a:xfrm>
          <a:prstGeom prst="rect">
            <a:avLst/>
          </a:prstGeom>
          <a:noFill/>
          <a:ln/>
        </p:spPr>
        <p:txBody>
          <a:bodyPr wrap="square" lIns="0" tIns="0" rIns="0" bIns="0" rtlCol="0" anchor="ctr"/>
          <a:lstStyle/>
          <a:p>
            <a:pPr algn="r" indent="0" marL="0">
              <a:buNone/>
            </a:pPr>
            <a:r>
              <a:rPr lang="en-US" sz="1100" dirty="0">
                <a:solidFill>
                  <a:srgbClr val="5A6478"/>
                </a:solidFill>
                <a:latin typeface="Calibri" pitchFamily="34" charset="0"/>
                <a:ea typeface="Calibri" pitchFamily="34" charset="-122"/>
                <a:cs typeface="Calibri" pitchFamily="34" charset="-120"/>
              </a:rPr>
              <a:t>10</a:t>
            </a:r>
            <a:endParaRPr lang="en-US" sz="1100" dirty="0"/>
          </a:p>
        </p:txBody>
      </p:sp>
      <p:sp>
        <p:nvSpPr>
          <p:cNvPr id="3" name="Text 1"/>
          <p:cNvSpPr/>
          <p:nvPr/>
        </p:nvSpPr>
        <p:spPr>
          <a:xfrm>
            <a:off x="548640" y="292608"/>
            <a:ext cx="11064240" cy="694944"/>
          </a:xfrm>
          <a:prstGeom prst="rect">
            <a:avLst/>
          </a:prstGeom>
          <a:noFill/>
          <a:ln/>
        </p:spPr>
        <p:txBody>
          <a:bodyPr wrap="square" rtlCol="0" anchor="ctr"/>
          <a:lstStyle/>
          <a:p>
            <a:pPr indent="0" marL="0">
              <a:buNone/>
            </a:pPr>
            <a:r>
              <a:rPr lang="en-US" sz="3000" b="1" dirty="0">
                <a:solidFill>
                  <a:srgbClr val="1A1A2E"/>
                </a:solidFill>
                <a:latin typeface="Cambria" pitchFamily="34" charset="0"/>
                <a:ea typeface="Cambria" pitchFamily="34" charset="-122"/>
                <a:cs typeface="Cambria" pitchFamily="34" charset="-120"/>
              </a:rPr>
              <a:t>Whose problems reach a human at all</a:t>
            </a:r>
            <a:endParaRPr lang="en-US" sz="3000" dirty="0"/>
          </a:p>
        </p:txBody>
      </p:sp>
      <p:sp>
        <p:nvSpPr>
          <p:cNvPr id="4" name="Text 2"/>
          <p:cNvSpPr/>
          <p:nvPr/>
        </p:nvSpPr>
        <p:spPr>
          <a:xfrm>
            <a:off x="548640" y="914400"/>
            <a:ext cx="11064240" cy="365760"/>
          </a:xfrm>
          <a:prstGeom prst="rect">
            <a:avLst/>
          </a:prstGeom>
          <a:noFill/>
          <a:ln/>
        </p:spPr>
        <p:txBody>
          <a:bodyPr wrap="square" rtlCol="0" anchor="ctr"/>
          <a:lstStyle/>
          <a:p>
            <a:pPr indent="0" marL="0">
              <a:buNone/>
            </a:pPr>
            <a:r>
              <a:rPr lang="en-US" sz="1500" dirty="0">
                <a:solidFill>
                  <a:srgbClr val="5A6478"/>
                </a:solidFill>
                <a:latin typeface="Calibri" pitchFamily="34" charset="0"/>
                <a:ea typeface="Calibri" pitchFamily="34" charset="-122"/>
                <a:cs typeface="Calibri" pitchFamily="34" charset="-120"/>
              </a:rPr>
              <a:t>Equal opportunity, meaning recall on the signals whose gold label warrants escalation</a:t>
            </a:r>
            <a:endParaRPr lang="en-US" sz="15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7040880" cy="914400"/>
        </p:xfrm>
        <a:graphic>
          <a:graphicData uri="http://schemas.openxmlformats.org/drawingml/2006/table">
            <a:tbl>
              <a:tblPr/>
              <a:tblGrid>
                <a:gridCol w="2011680"/>
                <a:gridCol w="457200"/>
                <a:gridCol w="1280160"/>
                <a:gridCol w="1280160"/>
                <a:gridCol w="1097280"/>
                <a:gridCol w="914400"/>
              </a:tblGrid>
              <a:tr h="45720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Escalation recall</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1E2761"/>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n</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1E2761"/>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Keyword floor</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1E2761"/>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TF-IDF and LR</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1E2761"/>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Contextual path</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1E2761"/>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Production stage</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1E2761"/>
                    </a:solidFill>
                  </a:tcPr>
                </a:tc>
              </a:tr>
              <a:tr h="457200">
                <a:tc>
                  <a:txBody>
                    <a:bodyPr/>
                    <a:lstStyle/>
                    <a:p>
                      <a:pPr indent="0" marL="0">
                        <a:buNone/>
                      </a:pPr>
                      <a:r>
                        <a:rPr lang="en-US" sz="1400" dirty="0">
                          <a:solidFill>
                            <a:srgbClr val="000000"/>
                          </a:solidFill>
                          <a:latin typeface="Calibri" pitchFamily="34" charset="0"/>
                          <a:ea typeface="Calibri" pitchFamily="34" charset="-122"/>
                          <a:cs typeface="Calibri" pitchFamily="34" charset="-120"/>
                        </a:rPr>
                        <a:t>German-source</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indent="0" marL="0">
                        <a:buNone/>
                      </a:pPr>
                      <a:r>
                        <a:rPr lang="en-US" sz="1400" dirty="0">
                          <a:solidFill>
                            <a:srgbClr val="000000"/>
                          </a:solidFill>
                          <a:latin typeface="Calibri" pitchFamily="34" charset="0"/>
                          <a:ea typeface="Calibri" pitchFamily="34" charset="-122"/>
                          <a:cs typeface="Calibri" pitchFamily="34" charset="-120"/>
                        </a:rPr>
                        <a:t>8</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indent="0" marL="0">
                        <a:buNone/>
                      </a:pPr>
                      <a:r>
                        <a:rPr lang="en-US" sz="1400" b="1" dirty="0">
                          <a:solidFill>
                            <a:srgbClr val="990011"/>
                          </a:solidFill>
                          <a:latin typeface="Calibri" pitchFamily="34" charset="0"/>
                          <a:ea typeface="Calibri" pitchFamily="34" charset="-122"/>
                          <a:cs typeface="Calibri" pitchFamily="34" charset="-120"/>
                        </a:rPr>
                        <a:t>0.0%</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indent="0" marL="0">
                        <a:buNone/>
                      </a:pPr>
                      <a:r>
                        <a:rPr lang="en-US" sz="1400" dirty="0">
                          <a:solidFill>
                            <a:srgbClr val="990011"/>
                          </a:solidFill>
                          <a:latin typeface="Calibri" pitchFamily="34" charset="0"/>
                          <a:ea typeface="Calibri" pitchFamily="34" charset="-122"/>
                          <a:cs typeface="Calibri" pitchFamily="34" charset="-120"/>
                        </a:rPr>
                        <a:t>62.5%</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indent="0" marL="0">
                        <a:buNone/>
                      </a:pPr>
                      <a:r>
                        <a:rPr lang="en-US" sz="1400" dirty="0">
                          <a:solidFill>
                            <a:srgbClr val="000000"/>
                          </a:solidFill>
                          <a:latin typeface="Calibri" pitchFamily="34" charset="0"/>
                          <a:ea typeface="Calibri" pitchFamily="34" charset="-122"/>
                          <a:cs typeface="Calibri" pitchFamily="34" charset="-120"/>
                        </a:rPr>
                        <a:t>87.5%</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indent="0" marL="0">
                        <a:buNone/>
                      </a:pPr>
                      <a:r>
                        <a:rPr lang="en-US" sz="1400" dirty="0">
                          <a:solidFill>
                            <a:srgbClr val="000000"/>
                          </a:solidFill>
                          <a:latin typeface="Calibri" pitchFamily="34" charset="0"/>
                          <a:ea typeface="Calibri" pitchFamily="34" charset="-122"/>
                          <a:cs typeface="Calibri" pitchFamily="34" charset="-120"/>
                        </a:rPr>
                        <a:t>62.5%</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r>
              <a:tr h="457200">
                <a:tc>
                  <a:txBody>
                    <a:bodyPr/>
                    <a:lstStyle/>
                    <a:p>
                      <a:pPr indent="0" marL="0">
                        <a:buNone/>
                      </a:pPr>
                      <a:r>
                        <a:rPr lang="en-US" sz="1400" dirty="0">
                          <a:solidFill>
                            <a:srgbClr val="000000"/>
                          </a:solidFill>
                          <a:latin typeface="Calibri" pitchFamily="34" charset="0"/>
                          <a:ea typeface="Calibri" pitchFamily="34" charset="-122"/>
                          <a:cs typeface="Calibri" pitchFamily="34" charset="-120"/>
                        </a:rPr>
                        <a:t>English-source</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indent="0" marL="0">
                        <a:buNone/>
                      </a:pPr>
                      <a:r>
                        <a:rPr lang="en-US" sz="1400" dirty="0">
                          <a:solidFill>
                            <a:srgbClr val="000000"/>
                          </a:solidFill>
                          <a:latin typeface="Calibri" pitchFamily="34" charset="0"/>
                          <a:ea typeface="Calibri" pitchFamily="34" charset="-122"/>
                          <a:cs typeface="Calibri" pitchFamily="34" charset="-120"/>
                        </a:rPr>
                        <a:t>41</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indent="0" marL="0">
                        <a:buNone/>
                      </a:pPr>
                      <a:r>
                        <a:rPr lang="en-US" sz="1400" dirty="0">
                          <a:solidFill>
                            <a:srgbClr val="000000"/>
                          </a:solidFill>
                          <a:latin typeface="Calibri" pitchFamily="34" charset="0"/>
                          <a:ea typeface="Calibri" pitchFamily="34" charset="-122"/>
                          <a:cs typeface="Calibri" pitchFamily="34" charset="-120"/>
                        </a:rPr>
                        <a:t>19.5%</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indent="0" marL="0">
                        <a:buNone/>
                      </a:pPr>
                      <a:r>
                        <a:rPr lang="en-US" sz="1400" dirty="0">
                          <a:solidFill>
                            <a:srgbClr val="000000"/>
                          </a:solidFill>
                          <a:latin typeface="Calibri" pitchFamily="34" charset="0"/>
                          <a:ea typeface="Calibri" pitchFamily="34" charset="-122"/>
                          <a:cs typeface="Calibri" pitchFamily="34" charset="-120"/>
                        </a:rPr>
                        <a:t>95.1%</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indent="0" marL="0">
                        <a:buNone/>
                      </a:pPr>
                      <a:r>
                        <a:rPr lang="en-US" sz="1400" dirty="0">
                          <a:solidFill>
                            <a:srgbClr val="000000"/>
                          </a:solidFill>
                          <a:latin typeface="Calibri" pitchFamily="34" charset="0"/>
                          <a:ea typeface="Calibri" pitchFamily="34" charset="-122"/>
                          <a:cs typeface="Calibri" pitchFamily="34" charset="-120"/>
                        </a:rPr>
                        <a:t>87.8%</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indent="0" marL="0">
                        <a:buNone/>
                      </a:pPr>
                      <a:r>
                        <a:rPr lang="en-US" sz="1400" dirty="0">
                          <a:solidFill>
                            <a:srgbClr val="000000"/>
                          </a:solidFill>
                          <a:latin typeface="Calibri" pitchFamily="34" charset="0"/>
                          <a:ea typeface="Calibri" pitchFamily="34" charset="-122"/>
                          <a:cs typeface="Calibri" pitchFamily="34" charset="-120"/>
                        </a:rPr>
                        <a:t>53.7%</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r>
            </a:tbl>
          </a:graphicData>
        </a:graphic>
      </p:graphicFrame>
      <p:sp>
        <p:nvSpPr>
          <p:cNvPr id="6" name="Text 3"/>
          <p:cNvSpPr/>
          <p:nvPr/>
        </p:nvSpPr>
        <p:spPr>
          <a:xfrm>
            <a:off x="548640" y="2926080"/>
            <a:ext cx="7040880" cy="1188720"/>
          </a:xfrm>
          <a:prstGeom prst="rect">
            <a:avLst/>
          </a:prstGeom>
          <a:noFill/>
          <a:ln/>
        </p:spPr>
        <p:txBody>
          <a:bodyPr wrap="square" rtlCol="0" anchor="ctr"/>
          <a:lstStyle/>
          <a:p>
            <a:pPr indent="0" marL="0">
              <a:buNone/>
            </a:pPr>
            <a:r>
              <a:rPr lang="en-US" sz="1400" dirty="0">
                <a:solidFill>
                  <a:srgbClr val="1A1A2E"/>
                </a:solidFill>
                <a:latin typeface="Calibri" pitchFamily="34" charset="0"/>
                <a:ea typeface="Calibri" pitchFamily="34" charset="-122"/>
                <a:cs typeface="Calibri" pitchFamily="34" charset="-120"/>
              </a:rPr>
              <a:t>On the same eight critical German-source signals: the floor escalates none, the learned model five, the contextual path seven (six in each repeat, 78 to 81% on the English side). The learned model ties the contextual path on severity accuracy and differs in whom it escalates: 32.6 points between strata. The production stage escalates fewer in both, with no detectable gap.</a:t>
            </a:r>
            <a:endParaRPr lang="en-US" sz="1400" dirty="0"/>
          </a:p>
        </p:txBody>
      </p:sp>
      <p:sp>
        <p:nvSpPr>
          <p:cNvPr id="7" name="Shape 4"/>
          <p:cNvSpPr/>
          <p:nvPr/>
        </p:nvSpPr>
        <p:spPr>
          <a:xfrm>
            <a:off x="7863840" y="1463040"/>
            <a:ext cx="3749040" cy="3200400"/>
          </a:xfrm>
          <a:prstGeom prst="roundRect">
            <a:avLst>
              <a:gd name="adj" fmla="val 1714"/>
            </a:avLst>
          </a:prstGeom>
          <a:solidFill>
            <a:srgbClr val="F4F7FC"/>
          </a:solidFill>
          <a:ln w="12700">
            <a:solidFill>
              <a:srgbClr val="CADCFC"/>
            </a:solidFill>
            <a:prstDash val="solid"/>
          </a:ln>
        </p:spPr>
      </p:sp>
      <p:sp>
        <p:nvSpPr>
          <p:cNvPr id="8" name="Text 5"/>
          <p:cNvSpPr/>
          <p:nvPr/>
        </p:nvSpPr>
        <p:spPr>
          <a:xfrm>
            <a:off x="8028432" y="1554480"/>
            <a:ext cx="3419856" cy="274320"/>
          </a:xfrm>
          <a:prstGeom prst="rect">
            <a:avLst/>
          </a:prstGeom>
          <a:noFill/>
          <a:ln/>
        </p:spPr>
        <p:txBody>
          <a:bodyPr wrap="square" lIns="0" tIns="0" rIns="0" bIns="0"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What bounds this</a:t>
            </a:r>
            <a:endParaRPr lang="en-US" sz="1450" dirty="0"/>
          </a:p>
        </p:txBody>
      </p:sp>
      <p:sp>
        <p:nvSpPr>
          <p:cNvPr id="9" name="Text 6"/>
          <p:cNvSpPr/>
          <p:nvPr/>
        </p:nvSpPr>
        <p:spPr>
          <a:xfrm>
            <a:off x="8028432" y="1847088"/>
            <a:ext cx="3419856" cy="2706624"/>
          </a:xfrm>
          <a:prstGeom prst="rect">
            <a:avLst/>
          </a:prstGeom>
          <a:noFill/>
          <a:ln/>
        </p:spPr>
        <p:txBody>
          <a:bodyPr wrap="square" lIns="0" tIns="0" rIns="0" bIns="0" rtlCol="0" anchor="ctr"/>
          <a:lstStyle/>
          <a:p>
            <a:pPr indent="0" marL="0">
              <a:buNone/>
            </a:pPr>
            <a:r>
              <a:rPr lang="en-US" sz="1150" dirty="0">
                <a:solidFill>
                  <a:srgbClr val="1A1A2E"/>
                </a:solidFill>
                <a:latin typeface="Calibri" pitchFamily="34" charset="0"/>
                <a:ea typeface="Calibri" pitchFamily="34" charset="-122"/>
                <a:cs typeface="Calibri" pitchFamily="34" charset="-120"/>
              </a:rPr>
              <a:t>The German-source escalate stratum is eight signals. A 95% interval on 7 of 8 runs from roughly 47% to 100%, and on 5 of 8 from roughly 25% to 92%.</a:t>
            </a:r>
            <a:endParaRPr lang="en-US" sz="1150" dirty="0"/>
          </a:p>
          <a:p>
            <a:pPr indent="0" marL="0">
              <a:buNone/>
            </a:pPr>
            <a:endParaRPr lang="en-US" sz="1150" dirty="0"/>
          </a:p>
          <a:p>
            <a:pPr indent="0" marL="0">
              <a:buNone/>
            </a:pPr>
            <a:r>
              <a:rPr lang="en-US" sz="1150" dirty="0">
                <a:solidFill>
                  <a:srgbClr val="1A1A2E"/>
                </a:solidFill>
                <a:latin typeface="Calibri" pitchFamily="34" charset="0"/>
                <a:ea typeface="Calibri" pitchFamily="34" charset="-122"/>
                <a:cs typeface="Calibri" pitchFamily="34" charset="-120"/>
              </a:rPr>
              <a:t>Language is confounded with sector on this corpus.</a:t>
            </a:r>
            <a:endParaRPr lang="en-US" sz="1150" dirty="0"/>
          </a:p>
          <a:p>
            <a:pPr indent="0" marL="0">
              <a:buNone/>
            </a:pPr>
            <a:endParaRPr lang="en-US" sz="1150" dirty="0"/>
          </a:p>
          <a:p>
            <a:pPr indent="0" marL="0">
              <a:buNone/>
            </a:pPr>
            <a:r>
              <a:rPr lang="en-US" sz="1150" dirty="0">
                <a:solidFill>
                  <a:srgbClr val="1A1A2E"/>
                </a:solidFill>
                <a:latin typeface="Calibri" pitchFamily="34" charset="0"/>
                <a:ea typeface="Calibri" pitchFamily="34" charset="-122"/>
                <a:cs typeface="Calibri" pitchFamily="34" charset="-120"/>
              </a:rPr>
              <a:t>The texts are English paraphrases throughout, so the mechanism cannot be German-language processing. What differs is what German-language customers wrote about, and how they phrased it.</a:t>
            </a:r>
            <a:endParaRPr lang="en-US" sz="1150" dirty="0"/>
          </a:p>
          <a:p>
            <a:pPr indent="0" marL="0">
              <a:buNone/>
            </a:pPr>
            <a:endParaRPr lang="en-US" sz="1150" dirty="0"/>
          </a:p>
          <a:p>
            <a:pPr indent="0" marL="0">
              <a:buNone/>
            </a:pPr>
            <a:r>
              <a:rPr lang="en-US" sz="1150" dirty="0">
                <a:solidFill>
                  <a:srgbClr val="1A1A2E"/>
                </a:solidFill>
                <a:latin typeface="Calibri" pitchFamily="34" charset="0"/>
                <a:ea typeface="Calibri" pitchFamily="34" charset="-122"/>
                <a:cs typeface="Calibri" pitchFamily="34" charset="-120"/>
              </a:rPr>
              <a:t>The aggregate cross-language accuracy comparison was retracted for the same reason.</a:t>
            </a:r>
            <a:endParaRPr lang="en-US" sz="1150" dirty="0"/>
          </a:p>
        </p:txBody>
      </p:sp>
      <p:sp>
        <p:nvSpPr>
          <p:cNvPr id="10" name="Shape 7"/>
          <p:cNvSpPr/>
          <p:nvPr/>
        </p:nvSpPr>
        <p:spPr>
          <a:xfrm>
            <a:off x="548640" y="4709160"/>
            <a:ext cx="11064240" cy="1463040"/>
          </a:xfrm>
          <a:prstGeom prst="roundRect">
            <a:avLst>
              <a:gd name="adj" fmla="val 3750"/>
            </a:avLst>
          </a:prstGeom>
          <a:solidFill>
            <a:srgbClr val="1E2761"/>
          </a:solidFill>
          <a:ln/>
        </p:spPr>
      </p:sp>
      <p:sp>
        <p:nvSpPr>
          <p:cNvPr id="11" name="Text 8"/>
          <p:cNvSpPr/>
          <p:nvPr/>
        </p:nvSpPr>
        <p:spPr>
          <a:xfrm>
            <a:off x="749808" y="4818888"/>
            <a:ext cx="10661904" cy="274320"/>
          </a:xfrm>
          <a:prstGeom prst="rect">
            <a:avLst/>
          </a:prstGeom>
          <a:noFill/>
          <a:ln/>
        </p:spPr>
        <p:txBody>
          <a:bodyPr wrap="square" lIns="0" tIns="0" rIns="0" bIns="0" rtlCol="0" anchor="ctr"/>
          <a:lstStyle/>
          <a:p>
            <a:pPr indent="0" marL="0">
              <a:buNone/>
            </a:pPr>
            <a:r>
              <a:rPr lang="en-US" sz="1400" b="1" dirty="0">
                <a:solidFill>
                  <a:srgbClr val="CADCFC"/>
                </a:solidFill>
                <a:latin typeface="Calibri" pitchFamily="34" charset="0"/>
                <a:ea typeface="Calibri" pitchFamily="34" charset="-122"/>
                <a:cs typeface="Calibri" pitchFamily="34" charset="-120"/>
              </a:rPr>
              <a:t>The substantive Responsible AI finding</a:t>
            </a:r>
            <a:endParaRPr lang="en-US" sz="1400" dirty="0"/>
          </a:p>
        </p:txBody>
      </p:sp>
      <p:sp>
        <p:nvSpPr>
          <p:cNvPr id="12" name="Text 9"/>
          <p:cNvSpPr/>
          <p:nvPr/>
        </p:nvSpPr>
        <p:spPr>
          <a:xfrm>
            <a:off x="749808" y="5129784"/>
            <a:ext cx="10661904" cy="932688"/>
          </a:xfrm>
          <a:prstGeom prst="rect">
            <a:avLst/>
          </a:prstGeom>
          <a:noFill/>
          <a:ln/>
        </p:spPr>
        <p:txBody>
          <a:bodyPr wrap="square" lIns="0" tIns="0" rIns="0" bIns="0" rtlCol="0" anchor="ctr"/>
          <a:lstStyle/>
          <a:p>
            <a:pPr indent="0" marL="0">
              <a:buNone/>
            </a:pPr>
            <a:r>
              <a:rPr lang="en-US" sz="1550" dirty="0">
                <a:solidFill>
                  <a:srgbClr val="FFFFFF"/>
                </a:solidFill>
                <a:latin typeface="Calibri" pitchFamily="34" charset="0"/>
                <a:ea typeface="Calibri" pitchFamily="34" charset="-122"/>
                <a:cs typeface="Calibri" pitchFamily="34" charset="-120"/>
              </a:rPr>
              <a:t>An uneven triage layer does not only score worse. It means some customers' problems are systematically less likely to reach a human at all. That is a fairness property of the loop rather than of a classifier, and the choice of triage method largely determines it.</a:t>
            </a:r>
            <a:endParaRPr lang="en-US" sz="1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11430000" y="6382512"/>
            <a:ext cx="457200" cy="256032"/>
          </a:xfrm>
          <a:prstGeom prst="rect">
            <a:avLst/>
          </a:prstGeom>
          <a:noFill/>
          <a:ln/>
        </p:spPr>
        <p:txBody>
          <a:bodyPr wrap="square" lIns="0" tIns="0" rIns="0" bIns="0" rtlCol="0" anchor="ctr"/>
          <a:lstStyle/>
          <a:p>
            <a:pPr algn="r" indent="0" marL="0">
              <a:buNone/>
            </a:pPr>
            <a:r>
              <a:rPr lang="en-US" sz="1100" dirty="0">
                <a:solidFill>
                  <a:srgbClr val="5A6478"/>
                </a:solidFill>
                <a:latin typeface="Calibri" pitchFamily="34" charset="0"/>
                <a:ea typeface="Calibri" pitchFamily="34" charset="-122"/>
                <a:cs typeface="Calibri" pitchFamily="34" charset="-120"/>
              </a:rPr>
              <a:t>11</a:t>
            </a:r>
            <a:endParaRPr lang="en-US" sz="1100" dirty="0"/>
          </a:p>
        </p:txBody>
      </p:sp>
      <p:sp>
        <p:nvSpPr>
          <p:cNvPr id="3" name="Text 1"/>
          <p:cNvSpPr/>
          <p:nvPr/>
        </p:nvSpPr>
        <p:spPr>
          <a:xfrm>
            <a:off x="548640" y="292608"/>
            <a:ext cx="11064240" cy="694944"/>
          </a:xfrm>
          <a:prstGeom prst="rect">
            <a:avLst/>
          </a:prstGeom>
          <a:noFill/>
          <a:ln/>
        </p:spPr>
        <p:txBody>
          <a:bodyPr wrap="square" rtlCol="0" anchor="ctr"/>
          <a:lstStyle/>
          <a:p>
            <a:pPr indent="0" marL="0">
              <a:buNone/>
            </a:pPr>
            <a:r>
              <a:rPr lang="en-US" sz="3000" b="1" dirty="0">
                <a:solidFill>
                  <a:srgbClr val="1A1A2E"/>
                </a:solidFill>
                <a:latin typeface="Cambria" pitchFamily="34" charset="0"/>
                <a:ea typeface="Cambria" pitchFamily="34" charset="-122"/>
                <a:cs typeface="Cambria" pitchFamily="34" charset="-120"/>
              </a:rPr>
              <a:t>A detector I measured and did not ship</a:t>
            </a:r>
            <a:endParaRPr lang="en-US" sz="3000" dirty="0"/>
          </a:p>
        </p:txBody>
      </p:sp>
      <p:sp>
        <p:nvSpPr>
          <p:cNvPr id="4" name="Text 2"/>
          <p:cNvSpPr/>
          <p:nvPr/>
        </p:nvSpPr>
        <p:spPr>
          <a:xfrm>
            <a:off x="548640" y="914400"/>
            <a:ext cx="11064240" cy="365760"/>
          </a:xfrm>
          <a:prstGeom prst="rect">
            <a:avLst/>
          </a:prstGeom>
          <a:noFill/>
          <a:ln/>
        </p:spPr>
        <p:txBody>
          <a:bodyPr wrap="square" rtlCol="0" anchor="ctr"/>
          <a:lstStyle/>
          <a:p>
            <a:pPr indent="0" marL="0">
              <a:buNone/>
            </a:pPr>
            <a:r>
              <a:rPr lang="en-US" sz="1500" dirty="0">
                <a:solidFill>
                  <a:srgbClr val="5A6478"/>
                </a:solidFill>
                <a:latin typeface="Calibri" pitchFamily="34" charset="0"/>
                <a:ea typeface="Calibri" pitchFamily="34" charset="-122"/>
                <a:cs typeface="Calibri" pitchFamily="34" charset="-120"/>
              </a:rPr>
              <a:t>Asked to flag AI-written verbatims before triage. The measurement decided the design.</a:t>
            </a:r>
            <a:endParaRPr lang="en-US" sz="1500" dirty="0"/>
          </a:p>
        </p:txBody>
      </p:sp>
      <p:sp>
        <p:nvSpPr>
          <p:cNvPr id="5" name="Text 3"/>
          <p:cNvSpPr/>
          <p:nvPr/>
        </p:nvSpPr>
        <p:spPr>
          <a:xfrm>
            <a:off x="731520" y="1737360"/>
            <a:ext cx="3291840" cy="731520"/>
          </a:xfrm>
          <a:prstGeom prst="rect">
            <a:avLst/>
          </a:prstGeom>
          <a:noFill/>
          <a:ln/>
        </p:spPr>
        <p:txBody>
          <a:bodyPr wrap="square" lIns="0" tIns="0" rIns="0" bIns="0" rtlCol="0" anchor="ctr"/>
          <a:lstStyle/>
          <a:p>
            <a:pPr algn="ctr" indent="0" marL="0">
              <a:buNone/>
            </a:pPr>
            <a:r>
              <a:rPr lang="en-US" sz="4600" b="1" dirty="0">
                <a:solidFill>
                  <a:srgbClr val="990011"/>
                </a:solidFill>
                <a:latin typeface="Cambria" pitchFamily="34" charset="0"/>
                <a:ea typeface="Cambria" pitchFamily="34" charset="-122"/>
                <a:cs typeface="Cambria" pitchFamily="34" charset="-120"/>
              </a:rPr>
              <a:t>15.0%</a:t>
            </a:r>
            <a:endParaRPr lang="en-US" sz="4600" dirty="0"/>
          </a:p>
        </p:txBody>
      </p:sp>
      <p:sp>
        <p:nvSpPr>
          <p:cNvPr id="6" name="Text 4"/>
          <p:cNvSpPr/>
          <p:nvPr/>
        </p:nvSpPr>
        <p:spPr>
          <a:xfrm>
            <a:off x="731520" y="2505456"/>
            <a:ext cx="3291840" cy="896112"/>
          </a:xfrm>
          <a:prstGeom prst="rect">
            <a:avLst/>
          </a:prstGeom>
          <a:noFill/>
          <a:ln/>
        </p:spPr>
        <p:txBody>
          <a:bodyPr wrap="square" lIns="0" tIns="0" rIns="0" bIns="0" rtlCol="0" anchor="ctr"/>
          <a:lstStyle/>
          <a:p>
            <a:pPr algn="ctr" indent="0" marL="0">
              <a:buNone/>
            </a:pPr>
            <a:r>
              <a:rPr lang="en-US" sz="1300" dirty="0">
                <a:solidFill>
                  <a:srgbClr val="5A6478"/>
                </a:solidFill>
                <a:latin typeface="Calibri" pitchFamily="34" charset="0"/>
                <a:ea typeface="Calibri" pitchFamily="34" charset="-122"/>
                <a:cs typeface="Calibri" pitchFamily="34" charset="-120"/>
              </a:rPr>
              <a:t>of genuine reviews flagged by a stylometric detector at 81% recall. At 1 to 5% contamination that is 78 to 95 real customers per 100 flags.</a:t>
            </a:r>
            <a:endParaRPr lang="en-US" sz="1300" dirty="0"/>
          </a:p>
        </p:txBody>
      </p:sp>
      <p:sp>
        <p:nvSpPr>
          <p:cNvPr id="7" name="Text 5"/>
          <p:cNvSpPr/>
          <p:nvPr/>
        </p:nvSpPr>
        <p:spPr>
          <a:xfrm>
            <a:off x="4434840" y="1737360"/>
            <a:ext cx="3291840" cy="731520"/>
          </a:xfrm>
          <a:prstGeom prst="rect">
            <a:avLst/>
          </a:prstGeom>
          <a:noFill/>
          <a:ln/>
        </p:spPr>
        <p:txBody>
          <a:bodyPr wrap="square" lIns="0" tIns="0" rIns="0" bIns="0" rtlCol="0" anchor="ctr"/>
          <a:lstStyle/>
          <a:p>
            <a:pPr algn="ctr" indent="0" marL="0">
              <a:buNone/>
            </a:pPr>
            <a:r>
              <a:rPr lang="en-US" sz="4600" b="1" dirty="0">
                <a:solidFill>
                  <a:srgbClr val="990011"/>
                </a:solidFill>
                <a:latin typeface="Cambria" pitchFamily="34" charset="0"/>
                <a:ea typeface="Cambria" pitchFamily="34" charset="-122"/>
                <a:cs typeface="Cambria" pitchFamily="34" charset="-120"/>
              </a:rPr>
              <a:t>0.326</a:t>
            </a:r>
            <a:endParaRPr lang="en-US" sz="4600" dirty="0"/>
          </a:p>
        </p:txBody>
      </p:sp>
      <p:sp>
        <p:nvSpPr>
          <p:cNvPr id="8" name="Text 6"/>
          <p:cNvSpPr/>
          <p:nvPr/>
        </p:nvSpPr>
        <p:spPr>
          <a:xfrm>
            <a:off x="4434840" y="2505456"/>
            <a:ext cx="3291840" cy="896112"/>
          </a:xfrm>
          <a:prstGeom prst="rect">
            <a:avLst/>
          </a:prstGeom>
          <a:noFill/>
          <a:ln/>
        </p:spPr>
        <p:txBody>
          <a:bodyPr wrap="square" lIns="0" tIns="0" rIns="0" bIns="0" rtlCol="0" anchor="ctr"/>
          <a:lstStyle/>
          <a:p>
            <a:pPr algn="ctr" indent="0" marL="0">
              <a:buNone/>
            </a:pPr>
            <a:r>
              <a:rPr lang="en-US" sz="1300" dirty="0">
                <a:solidFill>
                  <a:srgbClr val="5A6478"/>
                </a:solidFill>
                <a:latin typeface="Calibri" pitchFamily="34" charset="0"/>
                <a:ea typeface="Calibri" pitchFamily="34" charset="-122"/>
                <a:cs typeface="Calibri" pitchFamily="34" charset="-120"/>
              </a:rPr>
              <a:t>AUROC for a Binoculars cross-perplexity detector, English stratum. Below 0.5 is worse than chance: complaint text is the more predictable text.</a:t>
            </a:r>
            <a:endParaRPr lang="en-US" sz="1300" dirty="0"/>
          </a:p>
        </p:txBody>
      </p:sp>
      <p:sp>
        <p:nvSpPr>
          <p:cNvPr id="9" name="Text 7"/>
          <p:cNvSpPr/>
          <p:nvPr/>
        </p:nvSpPr>
        <p:spPr>
          <a:xfrm>
            <a:off x="8138160" y="1737360"/>
            <a:ext cx="3291840" cy="731520"/>
          </a:xfrm>
          <a:prstGeom prst="rect">
            <a:avLst/>
          </a:prstGeom>
          <a:noFill/>
          <a:ln/>
        </p:spPr>
        <p:txBody>
          <a:bodyPr wrap="square" lIns="0" tIns="0" rIns="0" bIns="0" rtlCol="0" anchor="ctr"/>
          <a:lstStyle/>
          <a:p>
            <a:pPr algn="ctr" indent="0" marL="0">
              <a:buNone/>
            </a:pPr>
            <a:r>
              <a:rPr lang="en-US" sz="4600" b="1" dirty="0">
                <a:solidFill>
                  <a:srgbClr val="990011"/>
                </a:solidFill>
                <a:latin typeface="Cambria" pitchFamily="34" charset="0"/>
                <a:ea typeface="Cambria" pitchFamily="34" charset="-122"/>
                <a:cs typeface="Cambria" pitchFamily="34" charset="-120"/>
              </a:rPr>
              <a:t>3.0x</a:t>
            </a:r>
            <a:endParaRPr lang="en-US" sz="4600" dirty="0"/>
          </a:p>
        </p:txBody>
      </p:sp>
      <p:sp>
        <p:nvSpPr>
          <p:cNvPr id="10" name="Text 8"/>
          <p:cNvSpPr/>
          <p:nvPr/>
        </p:nvSpPr>
        <p:spPr>
          <a:xfrm>
            <a:off x="8138160" y="2505456"/>
            <a:ext cx="3291840" cy="896112"/>
          </a:xfrm>
          <a:prstGeom prst="rect">
            <a:avLst/>
          </a:prstGeom>
          <a:noFill/>
          <a:ln/>
        </p:spPr>
        <p:txBody>
          <a:bodyPr wrap="square" lIns="0" tIns="0" rIns="0" bIns="0" rtlCol="0" anchor="ctr"/>
          <a:lstStyle/>
          <a:p>
            <a:pPr algn="ctr" indent="0" marL="0">
              <a:buNone/>
            </a:pPr>
            <a:r>
              <a:rPr lang="en-US" sz="1300" dirty="0">
                <a:solidFill>
                  <a:srgbClr val="5A6478"/>
                </a:solidFill>
                <a:latin typeface="Calibri" pitchFamily="34" charset="0"/>
                <a:ea typeface="Calibri" pitchFamily="34" charset="-122"/>
                <a:cs typeface="Calibri" pitchFamily="34" charset="-120"/>
              </a:rPr>
              <a:t>spread in flag rate across languages, Greek 44.4% against Polish 14.8%, because the lexicon encoded English and German cues only.</a:t>
            </a:r>
            <a:endParaRPr lang="en-US" sz="1300" dirty="0"/>
          </a:p>
        </p:txBody>
      </p:sp>
      <p:sp>
        <p:nvSpPr>
          <p:cNvPr id="11" name="Text 9"/>
          <p:cNvSpPr/>
          <p:nvPr/>
        </p:nvSpPr>
        <p:spPr>
          <a:xfrm>
            <a:off x="731520" y="3611880"/>
            <a:ext cx="10698480" cy="502920"/>
          </a:xfrm>
          <a:prstGeom prst="rect">
            <a:avLst/>
          </a:prstGeom>
          <a:noFill/>
          <a:ln/>
        </p:spPr>
        <p:txBody>
          <a:bodyPr wrap="square"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The false flags skewed toward angrier reviews, 2.21 stars against 2.70. A feedback platform that quietly suppresses its most articulate critics has inverted its own purpose.</a:t>
            </a:r>
            <a:endParaRPr lang="en-US" sz="1400" dirty="0"/>
          </a:p>
        </p:txBody>
      </p:sp>
      <p:sp>
        <p:nvSpPr>
          <p:cNvPr id="12" name="Shape 10"/>
          <p:cNvSpPr/>
          <p:nvPr/>
        </p:nvSpPr>
        <p:spPr>
          <a:xfrm>
            <a:off x="731520" y="4206240"/>
            <a:ext cx="10698480" cy="1965960"/>
          </a:xfrm>
          <a:prstGeom prst="roundRect">
            <a:avLst>
              <a:gd name="adj" fmla="val 2791"/>
            </a:avLst>
          </a:prstGeom>
          <a:solidFill>
            <a:srgbClr val="1E2761"/>
          </a:solidFill>
          <a:ln/>
        </p:spPr>
      </p:sp>
      <p:sp>
        <p:nvSpPr>
          <p:cNvPr id="13" name="Text 11"/>
          <p:cNvSpPr/>
          <p:nvPr/>
        </p:nvSpPr>
        <p:spPr>
          <a:xfrm>
            <a:off x="932688" y="4315968"/>
            <a:ext cx="10296144" cy="274320"/>
          </a:xfrm>
          <a:prstGeom prst="rect">
            <a:avLst/>
          </a:prstGeom>
          <a:noFill/>
          <a:ln/>
        </p:spPr>
        <p:txBody>
          <a:bodyPr wrap="square" lIns="0" tIns="0" rIns="0" bIns="0" rtlCol="0" anchor="ctr"/>
          <a:lstStyle/>
          <a:p>
            <a:pPr indent="0" marL="0">
              <a:buNone/>
            </a:pPr>
            <a:r>
              <a:rPr lang="en-US" sz="1400" b="1" dirty="0">
                <a:solidFill>
                  <a:srgbClr val="CADCFC"/>
                </a:solidFill>
                <a:latin typeface="Calibri" pitchFamily="34" charset="0"/>
                <a:ea typeface="Calibri" pitchFamily="34" charset="-122"/>
                <a:cs typeface="Calibri" pitchFamily="34" charset="-120"/>
              </a:rPr>
              <a:t>What shipped instead, and what it refuses</a:t>
            </a:r>
            <a:endParaRPr lang="en-US" sz="1400" dirty="0"/>
          </a:p>
        </p:txBody>
      </p:sp>
      <p:sp>
        <p:nvSpPr>
          <p:cNvPr id="14" name="Text 12"/>
          <p:cNvSpPr/>
          <p:nvPr/>
        </p:nvSpPr>
        <p:spPr>
          <a:xfrm>
            <a:off x="932688" y="4626864"/>
            <a:ext cx="10296144" cy="1435608"/>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Provenance, exact duplication, volume bursts against a source's own trailing median, and batch-level uniformity, annotated for a human rather than enforced. It abstains below ten words, which is 23% of a real corpus, and it reports its own flag rate per language so an uneven filter is visible before anyone excludes anything.</a:t>
            </a:r>
            <a:endParaRPr lang="en-US" sz="1300" dirty="0"/>
          </a:p>
          <a:p>
            <a:pPr indent="0" marL="0">
              <a:buNone/>
            </a:pPr>
            <a:endParaRPr lang="en-US" sz="1300" dirty="0"/>
          </a:p>
          <a:p>
            <a:pPr indent="0" marL="0">
              <a:buNone/>
            </a:pPr>
            <a:r>
              <a:rPr lang="en-US" sz="1300" dirty="0">
                <a:solidFill>
                  <a:srgbClr val="FFFFFF"/>
                </a:solidFill>
                <a:latin typeface="Calibri" pitchFamily="34" charset="0"/>
                <a:ea typeface="Calibri" pitchFamily="34" charset="-122"/>
                <a:cs typeface="Calibri" pitchFamily="34" charset="-120"/>
              </a:rPr>
              <a:t>Per-comment authorship attribution is not implemented. On the same 6,154 genuine reviews the shipped gate flags 0.86%, and every one is a true duplicate.</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11430000" y="6382512"/>
            <a:ext cx="457200" cy="256032"/>
          </a:xfrm>
          <a:prstGeom prst="rect">
            <a:avLst/>
          </a:prstGeom>
          <a:noFill/>
          <a:ln/>
        </p:spPr>
        <p:txBody>
          <a:bodyPr wrap="square" lIns="0" tIns="0" rIns="0" bIns="0" rtlCol="0" anchor="ctr"/>
          <a:lstStyle/>
          <a:p>
            <a:pPr algn="r" indent="0" marL="0">
              <a:buNone/>
            </a:pPr>
            <a:r>
              <a:rPr lang="en-US" sz="1100" dirty="0">
                <a:solidFill>
                  <a:srgbClr val="5A6478"/>
                </a:solidFill>
                <a:latin typeface="Calibri" pitchFamily="34" charset="0"/>
                <a:ea typeface="Calibri" pitchFamily="34" charset="-122"/>
                <a:cs typeface="Calibri" pitchFamily="34" charset="-120"/>
              </a:rPr>
              <a:t>12</a:t>
            </a:r>
            <a:endParaRPr lang="en-US" sz="1100" dirty="0"/>
          </a:p>
        </p:txBody>
      </p:sp>
      <p:sp>
        <p:nvSpPr>
          <p:cNvPr id="3" name="Text 1"/>
          <p:cNvSpPr/>
          <p:nvPr/>
        </p:nvSpPr>
        <p:spPr>
          <a:xfrm>
            <a:off x="548640" y="292608"/>
            <a:ext cx="11064240" cy="694944"/>
          </a:xfrm>
          <a:prstGeom prst="rect">
            <a:avLst/>
          </a:prstGeom>
          <a:noFill/>
          <a:ln/>
        </p:spPr>
        <p:txBody>
          <a:bodyPr wrap="square" rtlCol="0" anchor="ctr"/>
          <a:lstStyle/>
          <a:p>
            <a:pPr indent="0" marL="0">
              <a:buNone/>
            </a:pPr>
            <a:r>
              <a:rPr lang="en-US" sz="3000" b="1" dirty="0">
                <a:solidFill>
                  <a:srgbClr val="1A1A2E"/>
                </a:solidFill>
                <a:latin typeface="Cambria" pitchFamily="34" charset="0"/>
                <a:ea typeface="Cambria" pitchFamily="34" charset="-122"/>
                <a:cs typeface="Cambria" pitchFamily="34" charset="-120"/>
              </a:rPr>
              <a:t>Does the pattern hold outside the frozen corpus</a:t>
            </a:r>
            <a:endParaRPr lang="en-US" sz="3000" dirty="0"/>
          </a:p>
        </p:txBody>
      </p:sp>
      <p:sp>
        <p:nvSpPr>
          <p:cNvPr id="4" name="Text 2"/>
          <p:cNvSpPr/>
          <p:nvPr/>
        </p:nvSpPr>
        <p:spPr>
          <a:xfrm>
            <a:off x="548640" y="914400"/>
            <a:ext cx="11064240" cy="365760"/>
          </a:xfrm>
          <a:prstGeom prst="rect">
            <a:avLst/>
          </a:prstGeom>
          <a:noFill/>
          <a:ln/>
        </p:spPr>
        <p:txBody>
          <a:bodyPr wrap="square" rtlCol="0" anchor="ctr"/>
          <a:lstStyle/>
          <a:p>
            <a:pPr indent="0" marL="0">
              <a:buNone/>
            </a:pPr>
            <a:r>
              <a:rPr lang="en-US" sz="1500" dirty="0">
                <a:solidFill>
                  <a:srgbClr val="5A6478"/>
                </a:solidFill>
                <a:latin typeface="Calibri" pitchFamily="34" charset="0"/>
                <a:ea typeface="Calibri" pitchFamily="34" charset="-122"/>
                <a:cs typeface="Calibri" pitchFamily="34" charset="-120"/>
              </a:rPr>
              <a:t>Three datasets collected on 21 August, kept outside the 188 on purpose</a:t>
            </a:r>
            <a:endParaRPr lang="en-US" sz="15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64240" cy="914400"/>
        </p:xfrm>
        <a:graphic>
          <a:graphicData uri="http://schemas.openxmlformats.org/drawingml/2006/table">
            <a:tbl>
              <a:tblPr/>
              <a:tblGrid>
                <a:gridCol w="3931920"/>
                <a:gridCol w="1280160"/>
                <a:gridCol w="2926080"/>
                <a:gridCol w="2926080"/>
              </a:tblGrid>
              <a:tr h="45720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Dataset</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1E2761"/>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Signals</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1E2761"/>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Sentiment accuracy, floor to learned</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1E2761"/>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Severity accuracy, floor to learned</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1E2761"/>
                    </a:solidFill>
                  </a:tcPr>
                </a:tc>
              </a:tr>
              <a:tr h="457200">
                <a:tc>
                  <a:txBody>
                    <a:bodyPr/>
                    <a:lstStyle/>
                    <a:p>
                      <a:pPr indent="0" marL="0">
                        <a:buNone/>
                      </a:pPr>
                      <a:r>
                        <a:rPr lang="en-US" sz="1400" dirty="0">
                          <a:solidFill>
                            <a:srgbClr val="000000"/>
                          </a:solidFill>
                          <a:latin typeface="Calibri" pitchFamily="34" charset="0"/>
                          <a:ea typeface="Calibri" pitchFamily="34" charset="-122"/>
                          <a:cs typeface="Calibri" pitchFamily="34" charset="-120"/>
                        </a:rPr>
                        <a:t>Vodafone Germany, telecom</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indent="0" marL="0">
                        <a:buNone/>
                      </a:pPr>
                      <a:r>
                        <a:rPr lang="en-US" sz="1400" dirty="0">
                          <a:solidFill>
                            <a:srgbClr val="000000"/>
                          </a:solidFill>
                          <a:latin typeface="Calibri" pitchFamily="34" charset="0"/>
                          <a:ea typeface="Calibri" pitchFamily="34" charset="-122"/>
                          <a:cs typeface="Calibri" pitchFamily="34" charset="-120"/>
                        </a:rPr>
                        <a:t>65</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indent="0" marL="0">
                        <a:buNone/>
                      </a:pPr>
                      <a:r>
                        <a:rPr lang="en-US" sz="1400" dirty="0">
                          <a:solidFill>
                            <a:srgbClr val="000000"/>
                          </a:solidFill>
                          <a:latin typeface="Calibri" pitchFamily="34" charset="0"/>
                          <a:ea typeface="Calibri" pitchFamily="34" charset="-122"/>
                          <a:cs typeface="Calibri" pitchFamily="34" charset="-120"/>
                        </a:rPr>
                        <a:t>0.31 to 0.54, p = 0.029</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indent="0" marL="0">
                        <a:buNone/>
                      </a:pPr>
                      <a:r>
                        <a:rPr lang="en-US" sz="1400" dirty="0">
                          <a:solidFill>
                            <a:srgbClr val="000000"/>
                          </a:solidFill>
                          <a:latin typeface="Calibri" pitchFamily="34" charset="0"/>
                          <a:ea typeface="Calibri" pitchFamily="34" charset="-122"/>
                          <a:cs typeface="Calibri" pitchFamily="34" charset="-120"/>
                        </a:rPr>
                        <a:t>0.48 to 0.56, p = 0.44</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r>
              <a:tr h="457200">
                <a:tc>
                  <a:txBody>
                    <a:bodyPr/>
                    <a:lstStyle/>
                    <a:p>
                      <a:pPr indent="0" marL="0">
                        <a:buNone/>
                      </a:pPr>
                      <a:r>
                        <a:rPr lang="en-US" sz="1400" dirty="0">
                          <a:solidFill>
                            <a:srgbClr val="000000"/>
                          </a:solidFill>
                          <a:latin typeface="Calibri" pitchFamily="34" charset="0"/>
                          <a:ea typeface="Calibri" pitchFamily="34" charset="-122"/>
                          <a:cs typeface="Calibri" pitchFamily="34" charset="-120"/>
                        </a:rPr>
                        <a:t>Delivery Hero, eight EU markets</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indent="0" marL="0">
                        <a:buNone/>
                      </a:pPr>
                      <a:r>
                        <a:rPr lang="en-US" sz="1400" dirty="0">
                          <a:solidFill>
                            <a:srgbClr val="000000"/>
                          </a:solidFill>
                          <a:latin typeface="Calibri" pitchFamily="34" charset="0"/>
                          <a:ea typeface="Calibri" pitchFamily="34" charset="-122"/>
                          <a:cs typeface="Calibri" pitchFamily="34" charset="-120"/>
                        </a:rPr>
                        <a:t>86</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indent="0" marL="0">
                        <a:buNone/>
                      </a:pPr>
                      <a:r>
                        <a:rPr lang="en-US" sz="1400" dirty="0">
                          <a:solidFill>
                            <a:srgbClr val="000000"/>
                          </a:solidFill>
                          <a:latin typeface="Calibri" pitchFamily="34" charset="0"/>
                          <a:ea typeface="Calibri" pitchFamily="34" charset="-122"/>
                          <a:cs typeface="Calibri" pitchFamily="34" charset="-120"/>
                        </a:rPr>
                        <a:t>0.38 to 0.65, p = 0.001</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indent="0" marL="0">
                        <a:buNone/>
                      </a:pPr>
                      <a:r>
                        <a:rPr lang="en-US" sz="1400" dirty="0">
                          <a:solidFill>
                            <a:srgbClr val="000000"/>
                          </a:solidFill>
                          <a:latin typeface="Calibri" pitchFamily="34" charset="0"/>
                          <a:ea typeface="Calibri" pitchFamily="34" charset="-122"/>
                          <a:cs typeface="Calibri" pitchFamily="34" charset="-120"/>
                        </a:rPr>
                        <a:t>0.52 to 0.53, p = 1.0</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r>
              <a:tr h="457200">
                <a:tc>
                  <a:txBody>
                    <a:bodyPr/>
                    <a:lstStyle/>
                    <a:p>
                      <a:pPr indent="0" marL="0">
                        <a:buNone/>
                      </a:pPr>
                      <a:r>
                        <a:rPr lang="en-US" sz="1400" dirty="0">
                          <a:solidFill>
                            <a:srgbClr val="000000"/>
                          </a:solidFill>
                          <a:latin typeface="Calibri" pitchFamily="34" charset="0"/>
                          <a:ea typeface="Calibri" pitchFamily="34" charset="-122"/>
                          <a:cs typeface="Calibri" pitchFamily="34" charset="-120"/>
                        </a:rPr>
                        <a:t>German consumer banks</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indent="0" marL="0">
                        <a:buNone/>
                      </a:pPr>
                      <a:r>
                        <a:rPr lang="en-US" sz="1400" dirty="0">
                          <a:solidFill>
                            <a:srgbClr val="000000"/>
                          </a:solidFill>
                          <a:latin typeface="Calibri" pitchFamily="34" charset="0"/>
                          <a:ea typeface="Calibri" pitchFamily="34" charset="-122"/>
                          <a:cs typeface="Calibri" pitchFamily="34" charset="-120"/>
                        </a:rPr>
                        <a:t>104</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indent="0" marL="0">
                        <a:buNone/>
                      </a:pPr>
                      <a:r>
                        <a:rPr lang="en-US" sz="1400" dirty="0">
                          <a:solidFill>
                            <a:srgbClr val="000000"/>
                          </a:solidFill>
                          <a:latin typeface="Calibri" pitchFamily="34" charset="0"/>
                          <a:ea typeface="Calibri" pitchFamily="34" charset="-122"/>
                          <a:cs typeface="Calibri" pitchFamily="34" charset="-120"/>
                        </a:rPr>
                        <a:t>0.41 to 0.62, p = 0.008</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indent="0" marL="0">
                        <a:buNone/>
                      </a:pPr>
                      <a:r>
                        <a:rPr lang="en-US" sz="1400" dirty="0">
                          <a:solidFill>
                            <a:srgbClr val="000000"/>
                          </a:solidFill>
                          <a:latin typeface="Calibri" pitchFamily="34" charset="0"/>
                          <a:ea typeface="Calibri" pitchFamily="34" charset="-122"/>
                          <a:cs typeface="Calibri" pitchFamily="34" charset="-120"/>
                        </a:rPr>
                        <a:t>0.43 to 0.52, p = 0.21</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r>
            </a:tbl>
          </a:graphicData>
        </a:graphic>
      </p:graphicFrame>
      <p:sp>
        <p:nvSpPr>
          <p:cNvPr id="6" name="Shape 3"/>
          <p:cNvSpPr/>
          <p:nvPr/>
        </p:nvSpPr>
        <p:spPr>
          <a:xfrm>
            <a:off x="548640" y="3383280"/>
            <a:ext cx="5440680" cy="1508760"/>
          </a:xfrm>
          <a:prstGeom prst="roundRect">
            <a:avLst>
              <a:gd name="adj" fmla="val 3636"/>
            </a:avLst>
          </a:prstGeom>
          <a:solidFill>
            <a:srgbClr val="F4F7FC"/>
          </a:solidFill>
          <a:ln w="12700">
            <a:solidFill>
              <a:srgbClr val="CADCFC"/>
            </a:solidFill>
            <a:prstDash val="solid"/>
          </a:ln>
        </p:spPr>
      </p:sp>
      <p:sp>
        <p:nvSpPr>
          <p:cNvPr id="7" name="Text 4"/>
          <p:cNvSpPr/>
          <p:nvPr/>
        </p:nvSpPr>
        <p:spPr>
          <a:xfrm>
            <a:off x="713232" y="3474720"/>
            <a:ext cx="5111496" cy="274320"/>
          </a:xfrm>
          <a:prstGeom prst="rect">
            <a:avLst/>
          </a:prstGeom>
          <a:noFill/>
          <a:ln/>
        </p:spPr>
        <p:txBody>
          <a:bodyPr wrap="square" lIns="0" tIns="0" rIns="0" bIns="0"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What replicates, and what does not</a:t>
            </a:r>
            <a:endParaRPr lang="en-US" sz="1450" dirty="0"/>
          </a:p>
        </p:txBody>
      </p:sp>
      <p:sp>
        <p:nvSpPr>
          <p:cNvPr id="8" name="Text 5"/>
          <p:cNvSpPr/>
          <p:nvPr/>
        </p:nvSpPr>
        <p:spPr>
          <a:xfrm>
            <a:off x="713232" y="3767328"/>
            <a:ext cx="5111496" cy="1014984"/>
          </a:xfrm>
          <a:prstGeom prst="rect">
            <a:avLst/>
          </a:prstGeom>
          <a:noFill/>
          <a:ln/>
        </p:spPr>
        <p:txBody>
          <a:bodyPr wrap="square" lIns="0" tIns="0" rIns="0" bIns="0" rtlCol="0" anchor="ctr"/>
          <a:lstStyle/>
          <a:p>
            <a:pPr indent="0" marL="0">
              <a:buNone/>
            </a:pPr>
            <a:r>
              <a:rPr lang="en-US" sz="1300" dirty="0">
                <a:solidFill>
                  <a:srgbClr val="1A1A2E"/>
                </a:solidFill>
                <a:latin typeface="Calibri" pitchFamily="34" charset="0"/>
                <a:ea typeface="Calibri" pitchFamily="34" charset="-122"/>
                <a:cs typeface="Calibri" pitchFamily="34" charset="-120"/>
              </a:rPr>
              <a:t>The sentiment result holds on all three. The severity result does not. On none of the three does the learned model separate from the keyword floor on severity, where on the thesis corpus it clearly did. Severity behaviour looks corpus dependent, and the discussion should say so.</a:t>
            </a:r>
            <a:endParaRPr lang="en-US" sz="1300" dirty="0"/>
          </a:p>
        </p:txBody>
      </p:sp>
      <p:sp>
        <p:nvSpPr>
          <p:cNvPr id="9" name="Shape 6"/>
          <p:cNvSpPr/>
          <p:nvPr/>
        </p:nvSpPr>
        <p:spPr>
          <a:xfrm>
            <a:off x="6172200" y="3383280"/>
            <a:ext cx="5440680" cy="1508760"/>
          </a:xfrm>
          <a:prstGeom prst="roundRect">
            <a:avLst>
              <a:gd name="adj" fmla="val 3636"/>
            </a:avLst>
          </a:prstGeom>
          <a:solidFill>
            <a:srgbClr val="F4F7FC"/>
          </a:solidFill>
          <a:ln w="12700">
            <a:solidFill>
              <a:srgbClr val="CADCFC"/>
            </a:solidFill>
            <a:prstDash val="solid"/>
          </a:ln>
        </p:spPr>
      </p:sp>
      <p:sp>
        <p:nvSpPr>
          <p:cNvPr id="10" name="Text 7"/>
          <p:cNvSpPr/>
          <p:nvPr/>
        </p:nvSpPr>
        <p:spPr>
          <a:xfrm>
            <a:off x="6336792" y="3474720"/>
            <a:ext cx="5111496" cy="274320"/>
          </a:xfrm>
          <a:prstGeom prst="rect">
            <a:avLst/>
          </a:prstGeom>
          <a:noFill/>
          <a:ln/>
        </p:spPr>
        <p:txBody>
          <a:bodyPr wrap="square" lIns="0" tIns="0" rIns="0" bIns="0"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The equity gap, once more</a:t>
            </a:r>
            <a:endParaRPr lang="en-US" sz="1450" dirty="0"/>
          </a:p>
        </p:txBody>
      </p:sp>
      <p:sp>
        <p:nvSpPr>
          <p:cNvPr id="11" name="Text 8"/>
          <p:cNvSpPr/>
          <p:nvPr/>
        </p:nvSpPr>
        <p:spPr>
          <a:xfrm>
            <a:off x="6336792" y="3767328"/>
            <a:ext cx="5111496" cy="1014984"/>
          </a:xfrm>
          <a:prstGeom prst="rect">
            <a:avLst/>
          </a:prstGeom>
          <a:noFill/>
          <a:ln/>
        </p:spPr>
        <p:txBody>
          <a:bodyPr wrap="square" lIns="0" tIns="0" rIns="0" bIns="0" rtlCol="0" anchor="ctr"/>
          <a:lstStyle/>
          <a:p>
            <a:pPr indent="0" marL="0">
              <a:buNone/>
            </a:pPr>
            <a:r>
              <a:rPr lang="en-US" sz="1300" dirty="0">
                <a:solidFill>
                  <a:srgbClr val="1A1A2E"/>
                </a:solidFill>
                <a:latin typeface="Calibri" pitchFamily="34" charset="0"/>
                <a:ea typeface="Calibri" pitchFamily="34" charset="-122"/>
                <a:cs typeface="Calibri" pitchFamily="34" charset="-120"/>
              </a:rPr>
              <a:t>Vodafone is the only new set with two source strata large enough to compare. There the learned model escalates German-source signals at 50% against English-source at 81.8%. Same direction, and nearly the same size as the 32.6 point gap on the thesis corpus.</a:t>
            </a:r>
            <a:endParaRPr lang="en-US" sz="1300" dirty="0"/>
          </a:p>
        </p:txBody>
      </p:sp>
      <p:sp>
        <p:nvSpPr>
          <p:cNvPr id="12" name="Shape 9"/>
          <p:cNvSpPr/>
          <p:nvPr/>
        </p:nvSpPr>
        <p:spPr>
          <a:xfrm>
            <a:off x="548640" y="5029200"/>
            <a:ext cx="11064240" cy="1143000"/>
          </a:xfrm>
          <a:prstGeom prst="roundRect">
            <a:avLst>
              <a:gd name="adj" fmla="val 4800"/>
            </a:avLst>
          </a:prstGeom>
          <a:solidFill>
            <a:srgbClr val="F4F7FC"/>
          </a:solidFill>
          <a:ln w="12700">
            <a:solidFill>
              <a:srgbClr val="CADCFC"/>
            </a:solidFill>
            <a:prstDash val="solid"/>
          </a:ln>
        </p:spPr>
      </p:sp>
      <p:sp>
        <p:nvSpPr>
          <p:cNvPr id="13" name="Text 10"/>
          <p:cNvSpPr/>
          <p:nvPr/>
        </p:nvSpPr>
        <p:spPr>
          <a:xfrm>
            <a:off x="713232" y="5120640"/>
            <a:ext cx="10735056" cy="274320"/>
          </a:xfrm>
          <a:prstGeom prst="rect">
            <a:avLst/>
          </a:prstGeom>
          <a:noFill/>
          <a:ln/>
        </p:spPr>
        <p:txBody>
          <a:bodyPr wrap="square" lIns="0" tIns="0" rIns="0" bIns="0" rtlCol="0" anchor="ctr"/>
          <a:lstStyle/>
          <a:p>
            <a:pPr indent="0" marL="0">
              <a:buNone/>
            </a:pPr>
            <a:r>
              <a:rPr lang="en-US" sz="1450" b="1" dirty="0">
                <a:solidFill>
                  <a:srgbClr val="990011"/>
                </a:solidFill>
                <a:latin typeface="Calibri" pitchFamily="34" charset="0"/>
                <a:ea typeface="Calibri" pitchFamily="34" charset="-122"/>
                <a:cs typeface="Calibri" pitchFamily="34" charset="-120"/>
              </a:rPr>
              <a:t>What these are not</a:t>
            </a:r>
            <a:endParaRPr lang="en-US" sz="1450" dirty="0"/>
          </a:p>
        </p:txBody>
      </p:sp>
      <p:sp>
        <p:nvSpPr>
          <p:cNvPr id="14" name="Text 11"/>
          <p:cNvSpPr/>
          <p:nvPr/>
        </p:nvSpPr>
        <p:spPr>
          <a:xfrm>
            <a:off x="713232" y="5413248"/>
            <a:ext cx="10735056" cy="649224"/>
          </a:xfrm>
          <a:prstGeom prst="rect">
            <a:avLst/>
          </a:prstGeom>
          <a:noFill/>
          <a:ln/>
        </p:spPr>
        <p:txBody>
          <a:bodyPr wrap="square" lIns="0" tIns="0" rIns="0" bIns="0" rtlCol="0" anchor="ctr"/>
          <a:lstStyle/>
          <a:p>
            <a:pPr indent="0" marL="0">
              <a:buNone/>
            </a:pPr>
            <a:r>
              <a:rPr lang="en-US" sz="1300" dirty="0">
                <a:solidFill>
                  <a:srgbClr val="1A1A2E"/>
                </a:solidFill>
                <a:latin typeface="Calibri" pitchFamily="34" charset="0"/>
                <a:ea typeface="Calibri" pitchFamily="34" charset="-122"/>
                <a:cs typeface="Calibri" pitchFamily="34" charset="-120"/>
              </a:rPr>
              <a:t>They are outside the frozen corpus by design, and none of them changes a single number in the thesis. Their seed labels are drafts pending my review, so they are not gold. The texts are English paraphrases again, so they do not close the authored-German gap. The contextual path has not been run on them yet.</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11430000" y="6382512"/>
            <a:ext cx="457200" cy="256032"/>
          </a:xfrm>
          <a:prstGeom prst="rect">
            <a:avLst/>
          </a:prstGeom>
          <a:noFill/>
          <a:ln/>
        </p:spPr>
        <p:txBody>
          <a:bodyPr wrap="square" lIns="0" tIns="0" rIns="0" bIns="0" rtlCol="0" anchor="ctr"/>
          <a:lstStyle/>
          <a:p>
            <a:pPr algn="r" indent="0" marL="0">
              <a:buNone/>
            </a:pPr>
            <a:r>
              <a:rPr lang="en-US" sz="1100" dirty="0">
                <a:solidFill>
                  <a:srgbClr val="5A6478"/>
                </a:solidFill>
                <a:latin typeface="Calibri" pitchFamily="34" charset="0"/>
                <a:ea typeface="Calibri" pitchFamily="34" charset="-122"/>
                <a:cs typeface="Calibri" pitchFamily="34" charset="-120"/>
              </a:rPr>
              <a:t>13</a:t>
            </a:r>
            <a:endParaRPr lang="en-US" sz="1100" dirty="0"/>
          </a:p>
        </p:txBody>
      </p:sp>
      <p:sp>
        <p:nvSpPr>
          <p:cNvPr id="3" name="Text 1"/>
          <p:cNvSpPr/>
          <p:nvPr/>
        </p:nvSpPr>
        <p:spPr>
          <a:xfrm>
            <a:off x="548640" y="292608"/>
            <a:ext cx="11064240" cy="694944"/>
          </a:xfrm>
          <a:prstGeom prst="rect">
            <a:avLst/>
          </a:prstGeom>
          <a:noFill/>
          <a:ln/>
        </p:spPr>
        <p:txBody>
          <a:bodyPr wrap="square" rtlCol="0" anchor="ctr"/>
          <a:lstStyle/>
          <a:p>
            <a:pPr indent="0" marL="0">
              <a:buNone/>
            </a:pPr>
            <a:r>
              <a:rPr lang="en-US" sz="3000" b="1" dirty="0">
                <a:solidFill>
                  <a:srgbClr val="1A1A2E"/>
                </a:solidFill>
                <a:latin typeface="Cambria" pitchFamily="34" charset="0"/>
                <a:ea typeface="Cambria" pitchFamily="34" charset="-122"/>
                <a:cs typeface="Cambria" pitchFamily="34" charset="-120"/>
              </a:rPr>
              <a:t>Routing is good enough for a draft and not for a decision</a:t>
            </a:r>
            <a:endParaRPr lang="en-US" sz="3000" dirty="0"/>
          </a:p>
        </p:txBody>
      </p:sp>
      <p:sp>
        <p:nvSpPr>
          <p:cNvPr id="4" name="Text 2"/>
          <p:cNvSpPr/>
          <p:nvPr/>
        </p:nvSpPr>
        <p:spPr>
          <a:xfrm>
            <a:off x="548640" y="914400"/>
            <a:ext cx="11064240" cy="365760"/>
          </a:xfrm>
          <a:prstGeom prst="rect">
            <a:avLst/>
          </a:prstGeom>
          <a:noFill/>
          <a:ln/>
        </p:spPr>
        <p:txBody>
          <a:bodyPr wrap="square" rtlCol="0" anchor="ctr"/>
          <a:lstStyle/>
          <a:p>
            <a:pPr indent="0" marL="0">
              <a:buNone/>
            </a:pPr>
            <a:r>
              <a:rPr lang="en-US" sz="1500" dirty="0">
                <a:solidFill>
                  <a:srgbClr val="5A6478"/>
                </a:solidFill>
                <a:latin typeface="Calibri" pitchFamily="34" charset="0"/>
                <a:ea typeface="Calibri" pitchFamily="34" charset="-122"/>
                <a:cs typeface="Calibri" pitchFamily="34" charset="-120"/>
              </a:rPr>
              <a:t>Journey stage and owner, scored with the class inventory supplied</a:t>
            </a:r>
            <a:endParaRPr lang="en-US" sz="15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6949440" cy="914400"/>
        </p:xfrm>
        <a:graphic>
          <a:graphicData uri="http://schemas.openxmlformats.org/drawingml/2006/table">
            <a:tbl>
              <a:tblPr/>
              <a:tblGrid>
                <a:gridCol w="2377440"/>
                <a:gridCol w="914400"/>
                <a:gridCol w="1828800"/>
                <a:gridCol w="1828800"/>
              </a:tblGrid>
              <a:tr h="45720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Routing field</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1E2761"/>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Classes</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1E2761"/>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Majority class floor</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1E2761"/>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Model, inventory supplied</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1E2761"/>
                    </a:solidFill>
                  </a:tcPr>
                </a:tc>
              </a:tr>
              <a:tr h="457200">
                <a:tc>
                  <a:txBody>
                    <a:bodyPr/>
                    <a:lstStyle/>
                    <a:p>
                      <a:pPr indent="0" marL="0">
                        <a:buNone/>
                      </a:pPr>
                      <a:r>
                        <a:rPr lang="en-US" sz="1400" dirty="0">
                          <a:solidFill>
                            <a:srgbClr val="000000"/>
                          </a:solidFill>
                          <a:latin typeface="Calibri" pitchFamily="34" charset="0"/>
                          <a:ea typeface="Calibri" pitchFamily="34" charset="-122"/>
                          <a:cs typeface="Calibri" pitchFamily="34" charset="-120"/>
                        </a:rPr>
                        <a:t>Journey stage</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indent="0" marL="0">
                        <a:buNone/>
                      </a:pPr>
                      <a:r>
                        <a:rPr lang="en-US" sz="1400" dirty="0">
                          <a:solidFill>
                            <a:srgbClr val="000000"/>
                          </a:solidFill>
                          <a:latin typeface="Calibri" pitchFamily="34" charset="0"/>
                          <a:ea typeface="Calibri" pitchFamily="34" charset="-122"/>
                          <a:cs typeface="Calibri" pitchFamily="34" charset="-120"/>
                        </a:rPr>
                        <a:t>27</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indent="0" marL="0">
                        <a:buNone/>
                      </a:pPr>
                      <a:r>
                        <a:rPr lang="en-US" sz="1400" dirty="0">
                          <a:solidFill>
                            <a:srgbClr val="000000"/>
                          </a:solidFill>
                          <a:latin typeface="Calibri" pitchFamily="34" charset="0"/>
                          <a:ea typeface="Calibri" pitchFamily="34" charset="-122"/>
                          <a:cs typeface="Calibri" pitchFamily="34" charset="-120"/>
                        </a:rPr>
                        <a:t>0.20</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indent="0" marL="0">
                        <a:buNone/>
                      </a:pPr>
                      <a:r>
                        <a:rPr lang="en-US" sz="1400" b="1" dirty="0">
                          <a:solidFill>
                            <a:srgbClr val="000000"/>
                          </a:solidFill>
                          <a:latin typeface="Calibri" pitchFamily="34" charset="0"/>
                          <a:ea typeface="Calibri" pitchFamily="34" charset="-122"/>
                          <a:cs typeface="Calibri" pitchFamily="34" charset="-120"/>
                        </a:rPr>
                        <a:t>0.59</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r>
              <a:tr h="457200">
                <a:tc>
                  <a:txBody>
                    <a:bodyPr/>
                    <a:lstStyle/>
                    <a:p>
                      <a:pPr indent="0" marL="0">
                        <a:buNone/>
                      </a:pPr>
                      <a:r>
                        <a:rPr lang="en-US" sz="1400" dirty="0">
                          <a:solidFill>
                            <a:srgbClr val="000000"/>
                          </a:solidFill>
                          <a:latin typeface="Calibri" pitchFamily="34" charset="0"/>
                          <a:ea typeface="Calibri" pitchFamily="34" charset="-122"/>
                          <a:cs typeface="Calibri" pitchFamily="34" charset="-120"/>
                        </a:rPr>
                        <a:t>Recommended owner</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indent="0" marL="0">
                        <a:buNone/>
                      </a:pPr>
                      <a:r>
                        <a:rPr lang="en-US" sz="1400" dirty="0">
                          <a:solidFill>
                            <a:srgbClr val="000000"/>
                          </a:solidFill>
                          <a:latin typeface="Calibri" pitchFamily="34" charset="0"/>
                          <a:ea typeface="Calibri" pitchFamily="34" charset="-122"/>
                          <a:cs typeface="Calibri" pitchFamily="34" charset="-120"/>
                        </a:rPr>
                        <a:t>51</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indent="0" marL="0">
                        <a:buNone/>
                      </a:pPr>
                      <a:r>
                        <a:rPr lang="en-US" sz="1400" dirty="0">
                          <a:solidFill>
                            <a:srgbClr val="000000"/>
                          </a:solidFill>
                          <a:latin typeface="Calibri" pitchFamily="34" charset="0"/>
                          <a:ea typeface="Calibri" pitchFamily="34" charset="-122"/>
                          <a:cs typeface="Calibri" pitchFamily="34" charset="-120"/>
                        </a:rPr>
                        <a:t>0.15</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indent="0" marL="0">
                        <a:buNone/>
                      </a:pPr>
                      <a:r>
                        <a:rPr lang="en-US" sz="1400" b="1" dirty="0">
                          <a:solidFill>
                            <a:srgbClr val="000000"/>
                          </a:solidFill>
                          <a:latin typeface="Calibri" pitchFamily="34" charset="0"/>
                          <a:ea typeface="Calibri" pitchFamily="34" charset="-122"/>
                          <a:cs typeface="Calibri" pitchFamily="34" charset="-120"/>
                        </a:rPr>
                        <a:t>0.40</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r>
            </a:tbl>
          </a:graphicData>
        </a:graphic>
      </p:graphicFrame>
      <p:sp>
        <p:nvSpPr>
          <p:cNvPr id="6" name="Text 3"/>
          <p:cNvSpPr/>
          <p:nvPr/>
        </p:nvSpPr>
        <p:spPr>
          <a:xfrm>
            <a:off x="548640" y="2880360"/>
            <a:ext cx="6949440" cy="1188720"/>
          </a:xfrm>
          <a:prstGeom prst="rect">
            <a:avLst/>
          </a:prstGeom>
          <a:noFill/>
          <a:ln/>
        </p:spPr>
        <p:txBody>
          <a:bodyPr wrap="square" rtlCol="0" anchor="ctr"/>
          <a:lstStyle/>
          <a:p>
            <a:pPr indent="0" marL="0">
              <a:buNone/>
            </a:pPr>
            <a:r>
              <a:rPr lang="en-US" sz="1400" dirty="0">
                <a:solidFill>
                  <a:srgbClr val="1A1A2E"/>
                </a:solidFill>
                <a:latin typeface="Calibri" pitchFamily="34" charset="0"/>
                <a:ea typeface="Calibri" pitchFamily="34" charset="-122"/>
                <a:cs typeface="Calibri" pitchFamily="34" charset="-120"/>
              </a:rPr>
              <a:t>Both clear their floor by a wide margin, so the pipeline extracts real routing signal rather than guessing the modal class. Neither is close to routing unattended. An owner assignment that is right two times in five would misroute most of the problems it touches.</a:t>
            </a:r>
            <a:endParaRPr lang="en-US" sz="1400" dirty="0"/>
          </a:p>
        </p:txBody>
      </p:sp>
      <p:sp>
        <p:nvSpPr>
          <p:cNvPr id="7" name="Shape 4"/>
          <p:cNvSpPr/>
          <p:nvPr/>
        </p:nvSpPr>
        <p:spPr>
          <a:xfrm>
            <a:off x="7772400" y="1463040"/>
            <a:ext cx="3840480" cy="2606040"/>
          </a:xfrm>
          <a:prstGeom prst="roundRect">
            <a:avLst>
              <a:gd name="adj" fmla="val 2105"/>
            </a:avLst>
          </a:prstGeom>
          <a:solidFill>
            <a:srgbClr val="F4F7FC"/>
          </a:solidFill>
          <a:ln w="12700">
            <a:solidFill>
              <a:srgbClr val="CADCFC"/>
            </a:solidFill>
            <a:prstDash val="solid"/>
          </a:ln>
        </p:spPr>
      </p:sp>
      <p:sp>
        <p:nvSpPr>
          <p:cNvPr id="8" name="Text 5"/>
          <p:cNvSpPr/>
          <p:nvPr/>
        </p:nvSpPr>
        <p:spPr>
          <a:xfrm>
            <a:off x="7936992" y="1554480"/>
            <a:ext cx="3511296" cy="274320"/>
          </a:xfrm>
          <a:prstGeom prst="rect">
            <a:avLst/>
          </a:prstGeom>
          <a:noFill/>
          <a:ln/>
        </p:spPr>
        <p:txBody>
          <a:bodyPr wrap="square" lIns="0" tIns="0" rIns="0" bIns="0"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What bounds this</a:t>
            </a:r>
            <a:endParaRPr lang="en-US" sz="1450" dirty="0"/>
          </a:p>
        </p:txBody>
      </p:sp>
      <p:sp>
        <p:nvSpPr>
          <p:cNvPr id="9" name="Text 6"/>
          <p:cNvSpPr/>
          <p:nvPr/>
        </p:nvSpPr>
        <p:spPr>
          <a:xfrm>
            <a:off x="7936992" y="1847088"/>
            <a:ext cx="3511296" cy="2112264"/>
          </a:xfrm>
          <a:prstGeom prst="rect">
            <a:avLst/>
          </a:prstGeom>
          <a:noFill/>
          <a:ln/>
        </p:spPr>
        <p:txBody>
          <a:bodyPr wrap="square" lIns="0" tIns="0" rIns="0" bIns="0" rtlCol="0" anchor="ctr"/>
          <a:lstStyle/>
          <a:p>
            <a:pPr indent="0" marL="0">
              <a:buNone/>
            </a:pPr>
            <a:r>
              <a:rPr lang="en-US" sz="1250" dirty="0">
                <a:solidFill>
                  <a:srgbClr val="1A1A2E"/>
                </a:solidFill>
                <a:latin typeface="Calibri" pitchFamily="34" charset="0"/>
                <a:ea typeface="Calibri" pitchFamily="34" charset="-122"/>
                <a:cs typeface="Calibri" pitchFamily="34" charset="-120"/>
              </a:rPr>
              <a:t>Supplying the class inventory is easier than the free-form condition production runs, so 0.59 and 0.40 are an upper bound and not an estimate. n = 182, with six signals lost to endpoint errors. Restricted to classes with at least five gold examples, macro-F1 falls to 0.28 and 0.18.</a:t>
            </a:r>
            <a:endParaRPr lang="en-US" sz="1250" dirty="0"/>
          </a:p>
        </p:txBody>
      </p:sp>
      <p:sp>
        <p:nvSpPr>
          <p:cNvPr id="10" name="Shape 7"/>
          <p:cNvSpPr/>
          <p:nvPr/>
        </p:nvSpPr>
        <p:spPr>
          <a:xfrm>
            <a:off x="548640" y="4224528"/>
            <a:ext cx="11064240" cy="2057400"/>
          </a:xfrm>
          <a:prstGeom prst="roundRect">
            <a:avLst>
              <a:gd name="adj" fmla="val 2667"/>
            </a:avLst>
          </a:prstGeom>
          <a:solidFill>
            <a:srgbClr val="1E2761"/>
          </a:solidFill>
          <a:ln/>
        </p:spPr>
      </p:sp>
      <p:sp>
        <p:nvSpPr>
          <p:cNvPr id="11" name="Text 8"/>
          <p:cNvSpPr/>
          <p:nvPr/>
        </p:nvSpPr>
        <p:spPr>
          <a:xfrm>
            <a:off x="749808" y="4334256"/>
            <a:ext cx="10661904" cy="274320"/>
          </a:xfrm>
          <a:prstGeom prst="rect">
            <a:avLst/>
          </a:prstGeom>
          <a:noFill/>
          <a:ln/>
        </p:spPr>
        <p:txBody>
          <a:bodyPr wrap="square" lIns="0" tIns="0" rIns="0" bIns="0" rtlCol="0" anchor="ctr"/>
          <a:lstStyle/>
          <a:p>
            <a:pPr indent="0" marL="0">
              <a:buNone/>
            </a:pPr>
            <a:r>
              <a:rPr lang="en-US" sz="1400" b="1" dirty="0">
                <a:solidFill>
                  <a:srgbClr val="CADCFC"/>
                </a:solidFill>
                <a:latin typeface="Calibri" pitchFamily="34" charset="0"/>
                <a:ea typeface="Calibri" pitchFamily="34" charset="-122"/>
                <a:cs typeface="Calibri" pitchFamily="34" charset="-120"/>
              </a:rPr>
              <a:t>Why this strengthens the design</a:t>
            </a:r>
            <a:endParaRPr lang="en-US" sz="1400" dirty="0"/>
          </a:p>
        </p:txBody>
      </p:sp>
      <p:sp>
        <p:nvSpPr>
          <p:cNvPr id="12" name="Text 9"/>
          <p:cNvSpPr/>
          <p:nvPr/>
        </p:nvSpPr>
        <p:spPr>
          <a:xfrm>
            <a:off x="749808" y="4645152"/>
            <a:ext cx="10661904" cy="1527048"/>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The approval gate is the control that makes a pipeline of this accuracy safe to deploy. These fields are useful as a draft that a human accepts or corrects, and unsafe as an unattended decision. I did not choose the numbers to make that argument. They are what the run produced, and I report them because they are the strongest available answer to the question of why the agent does not simply route it.</a:t>
            </a:r>
            <a:endParaRPr lang="en-US" sz="1400" dirty="0"/>
          </a:p>
          <a:p>
            <a:pPr indent="0" marL="0">
              <a:buNone/>
            </a:pPr>
            <a:endParaRPr lang="en-US" sz="1400" dirty="0"/>
          </a:p>
          <a:p>
            <a:pPr indent="0" marL="0">
              <a:buNone/>
            </a:pPr>
            <a:r>
              <a:rPr lang="en-US" sz="1400" dirty="0">
                <a:solidFill>
                  <a:srgbClr val="FFFFFF"/>
                </a:solidFill>
                <a:latin typeface="Calibri" pitchFamily="34" charset="0"/>
                <a:ea typeface="Calibri" pitchFamily="34" charset="-122"/>
                <a:cs typeface="Calibri" pitchFamily="34" charset="-120"/>
              </a:rPr>
              <a:t>Since the review, journey-stage routing can run the closed-inventory condition in production behind a flag, off by default. Measuring that condition is the next iteration.</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11430000" y="6382512"/>
            <a:ext cx="457200" cy="256032"/>
          </a:xfrm>
          <a:prstGeom prst="rect">
            <a:avLst/>
          </a:prstGeom>
          <a:noFill/>
          <a:ln/>
        </p:spPr>
        <p:txBody>
          <a:bodyPr wrap="square" lIns="0" tIns="0" rIns="0" bIns="0" rtlCol="0" anchor="ctr"/>
          <a:lstStyle/>
          <a:p>
            <a:pPr algn="r" indent="0" marL="0">
              <a:buNone/>
            </a:pPr>
            <a:r>
              <a:rPr lang="en-US" sz="1100" dirty="0">
                <a:solidFill>
                  <a:srgbClr val="5A6478"/>
                </a:solidFill>
                <a:latin typeface="Calibri" pitchFamily="34" charset="0"/>
                <a:ea typeface="Calibri" pitchFamily="34" charset="-122"/>
                <a:cs typeface="Calibri" pitchFamily="34" charset="-120"/>
              </a:rPr>
              <a:t>14</a:t>
            </a:r>
            <a:endParaRPr lang="en-US" sz="1100" dirty="0"/>
          </a:p>
        </p:txBody>
      </p:sp>
      <p:sp>
        <p:nvSpPr>
          <p:cNvPr id="3" name="Text 1"/>
          <p:cNvSpPr/>
          <p:nvPr/>
        </p:nvSpPr>
        <p:spPr>
          <a:xfrm>
            <a:off x="548640" y="292608"/>
            <a:ext cx="11064240" cy="694944"/>
          </a:xfrm>
          <a:prstGeom prst="rect">
            <a:avLst/>
          </a:prstGeom>
          <a:noFill/>
          <a:ln/>
        </p:spPr>
        <p:txBody>
          <a:bodyPr wrap="square" rtlCol="0" anchor="ctr"/>
          <a:lstStyle/>
          <a:p>
            <a:pPr indent="0" marL="0">
              <a:buNone/>
            </a:pPr>
            <a:r>
              <a:rPr lang="en-US" sz="3000" b="1" dirty="0">
                <a:solidFill>
                  <a:srgbClr val="1A1A2E"/>
                </a:solidFill>
                <a:latin typeface="Cambria" pitchFamily="34" charset="0"/>
                <a:ea typeface="Cambria" pitchFamily="34" charset="-122"/>
                <a:cs typeface="Cambria" pitchFamily="34" charset="-120"/>
              </a:rPr>
              <a:t>The memory steers the recommendation</a:t>
            </a:r>
            <a:endParaRPr lang="en-US" sz="3000" dirty="0"/>
          </a:p>
        </p:txBody>
      </p:sp>
      <p:sp>
        <p:nvSpPr>
          <p:cNvPr id="4" name="Text 2"/>
          <p:cNvSpPr/>
          <p:nvPr/>
        </p:nvSpPr>
        <p:spPr>
          <a:xfrm>
            <a:off x="548640" y="914400"/>
            <a:ext cx="11064240" cy="365760"/>
          </a:xfrm>
          <a:prstGeom prst="rect">
            <a:avLst/>
          </a:prstGeom>
          <a:noFill/>
          <a:ln/>
        </p:spPr>
        <p:txBody>
          <a:bodyPr wrap="square" rtlCol="0" anchor="ctr"/>
          <a:lstStyle/>
          <a:p>
            <a:pPr indent="0" marL="0">
              <a:buNone/>
            </a:pPr>
            <a:r>
              <a:rPr lang="en-US" sz="1500" dirty="0">
                <a:solidFill>
                  <a:srgbClr val="5A6478"/>
                </a:solidFill>
                <a:latin typeface="Calibri" pitchFamily="34" charset="0"/>
                <a:ea typeface="Calibri" pitchFamily="34" charset="-122"/>
                <a:cs typeface="Calibri" pitchFamily="34" charset="-120"/>
              </a:rPr>
              <a:t>The mechanism is measured. The benefit is not.</a:t>
            </a:r>
            <a:endParaRPr lang="en-US" sz="1500" dirty="0"/>
          </a:p>
        </p:txBody>
      </p:sp>
      <p:sp>
        <p:nvSpPr>
          <p:cNvPr id="5" name="Text 3"/>
          <p:cNvSpPr/>
          <p:nvPr/>
        </p:nvSpPr>
        <p:spPr>
          <a:xfrm>
            <a:off x="731520" y="1783080"/>
            <a:ext cx="3291840" cy="731520"/>
          </a:xfrm>
          <a:prstGeom prst="rect">
            <a:avLst/>
          </a:prstGeom>
          <a:noFill/>
          <a:ln/>
        </p:spPr>
        <p:txBody>
          <a:bodyPr wrap="square" lIns="0" tIns="0" rIns="0" bIns="0" rtlCol="0" anchor="ctr"/>
          <a:lstStyle/>
          <a:p>
            <a:pPr algn="ctr" indent="0" marL="0">
              <a:buNone/>
            </a:pPr>
            <a:r>
              <a:rPr lang="en-US" sz="4600" b="1" dirty="0">
                <a:solidFill>
                  <a:srgbClr val="1E2761"/>
                </a:solidFill>
                <a:latin typeface="Cambria" pitchFamily="34" charset="0"/>
                <a:ea typeface="Cambria" pitchFamily="34" charset="-122"/>
                <a:cs typeface="Cambria" pitchFamily="34" charset="-120"/>
              </a:rPr>
              <a:t>21% to 71%</a:t>
            </a:r>
            <a:endParaRPr lang="en-US" sz="4600" dirty="0"/>
          </a:p>
        </p:txBody>
      </p:sp>
      <p:sp>
        <p:nvSpPr>
          <p:cNvPr id="6" name="Text 4"/>
          <p:cNvSpPr/>
          <p:nvPr/>
        </p:nvSpPr>
        <p:spPr>
          <a:xfrm>
            <a:off x="731520" y="2551176"/>
            <a:ext cx="3291840" cy="896112"/>
          </a:xfrm>
          <a:prstGeom prst="rect">
            <a:avLst/>
          </a:prstGeom>
          <a:noFill/>
          <a:ln/>
        </p:spPr>
        <p:txBody>
          <a:bodyPr wrap="square" lIns="0" tIns="0" rIns="0" bIns="0" rtlCol="0" anchor="ctr"/>
          <a:lstStyle/>
          <a:p>
            <a:pPr algn="ctr" indent="0" marL="0">
              <a:buNone/>
            </a:pPr>
            <a:r>
              <a:rPr lang="en-US" sz="1300" dirty="0">
                <a:solidFill>
                  <a:srgbClr val="5A6478"/>
                </a:solidFill>
                <a:latin typeface="Calibri" pitchFamily="34" charset="0"/>
                <a:ea typeface="Calibri" pitchFamily="34" charset="-122"/>
                <a:cs typeface="Calibri" pitchFamily="34" charset="-120"/>
              </a:rPr>
              <a:t>share of a past remedy appearing in the new recommendation once retrieval is on, at 66.7% adoption</a:t>
            </a:r>
            <a:endParaRPr lang="en-US" sz="1300" dirty="0"/>
          </a:p>
        </p:txBody>
      </p:sp>
      <p:sp>
        <p:nvSpPr>
          <p:cNvPr id="7" name="Text 5"/>
          <p:cNvSpPr/>
          <p:nvPr/>
        </p:nvSpPr>
        <p:spPr>
          <a:xfrm>
            <a:off x="4434840" y="1783080"/>
            <a:ext cx="3291840" cy="731520"/>
          </a:xfrm>
          <a:prstGeom prst="rect">
            <a:avLst/>
          </a:prstGeom>
          <a:noFill/>
          <a:ln/>
        </p:spPr>
        <p:txBody>
          <a:bodyPr wrap="square" lIns="0" tIns="0" rIns="0" bIns="0" rtlCol="0" anchor="ctr"/>
          <a:lstStyle/>
          <a:p>
            <a:pPr algn="ctr" indent="0" marL="0">
              <a:buNone/>
            </a:pPr>
            <a:r>
              <a:rPr lang="en-US" sz="4600" b="1" dirty="0">
                <a:solidFill>
                  <a:srgbClr val="2C5F2D"/>
                </a:solidFill>
                <a:latin typeface="Cambria" pitchFamily="34" charset="0"/>
                <a:ea typeface="Cambria" pitchFamily="34" charset="-122"/>
                <a:cs typeface="Cambria" pitchFamily="34" charset="-120"/>
              </a:rPr>
              <a:t>0.503</a:t>
            </a:r>
            <a:endParaRPr lang="en-US" sz="4600" dirty="0"/>
          </a:p>
        </p:txBody>
      </p:sp>
      <p:sp>
        <p:nvSpPr>
          <p:cNvPr id="8" name="Text 6"/>
          <p:cNvSpPr/>
          <p:nvPr/>
        </p:nvSpPr>
        <p:spPr>
          <a:xfrm>
            <a:off x="4434840" y="2551176"/>
            <a:ext cx="3291840" cy="896112"/>
          </a:xfrm>
          <a:prstGeom prst="rect">
            <a:avLst/>
          </a:prstGeom>
          <a:noFill/>
          <a:ln/>
        </p:spPr>
        <p:txBody>
          <a:bodyPr wrap="square" lIns="0" tIns="0" rIns="0" bIns="0" rtlCol="0" anchor="ctr"/>
          <a:lstStyle/>
          <a:p>
            <a:pPr algn="ctr" indent="0" marL="0">
              <a:buNone/>
            </a:pPr>
            <a:r>
              <a:rPr lang="en-US" sz="1300" dirty="0">
                <a:solidFill>
                  <a:srgbClr val="5A6478"/>
                </a:solidFill>
                <a:latin typeface="Calibri" pitchFamily="34" charset="0"/>
                <a:ea typeface="Calibri" pitchFamily="34" charset="-122"/>
                <a:cs typeface="Calibri" pitchFamily="34" charset="-120"/>
              </a:rPr>
              <a:t>alignment lift against a same-run noise floor that absorbs model jitter</a:t>
            </a:r>
            <a:endParaRPr lang="en-US" sz="1300" dirty="0"/>
          </a:p>
        </p:txBody>
      </p:sp>
      <p:sp>
        <p:nvSpPr>
          <p:cNvPr id="9" name="Text 7"/>
          <p:cNvSpPr/>
          <p:nvPr/>
        </p:nvSpPr>
        <p:spPr>
          <a:xfrm>
            <a:off x="8138160" y="1783080"/>
            <a:ext cx="3291840" cy="731520"/>
          </a:xfrm>
          <a:prstGeom prst="rect">
            <a:avLst/>
          </a:prstGeom>
          <a:noFill/>
          <a:ln/>
        </p:spPr>
        <p:txBody>
          <a:bodyPr wrap="square" lIns="0" tIns="0" rIns="0" bIns="0" rtlCol="0" anchor="ctr"/>
          <a:lstStyle/>
          <a:p>
            <a:pPr algn="ctr" indent="0" marL="0">
              <a:buNone/>
            </a:pPr>
            <a:r>
              <a:rPr lang="en-US" sz="4600" b="1" dirty="0">
                <a:solidFill>
                  <a:srgbClr val="1E2761"/>
                </a:solidFill>
                <a:latin typeface="Cambria" pitchFamily="34" charset="0"/>
                <a:ea typeface="Cambria" pitchFamily="34" charset="-122"/>
                <a:cs typeface="Cambria" pitchFamily="34" charset="-120"/>
              </a:rPr>
              <a:t>0 and 2.5%</a:t>
            </a:r>
            <a:endParaRPr lang="en-US" sz="4600" dirty="0"/>
          </a:p>
        </p:txBody>
      </p:sp>
      <p:sp>
        <p:nvSpPr>
          <p:cNvPr id="10" name="Text 8"/>
          <p:cNvSpPr/>
          <p:nvPr/>
        </p:nvSpPr>
        <p:spPr>
          <a:xfrm>
            <a:off x="8138160" y="2551176"/>
            <a:ext cx="3291840" cy="896112"/>
          </a:xfrm>
          <a:prstGeom prst="rect">
            <a:avLst/>
          </a:prstGeom>
          <a:noFill/>
          <a:ln/>
        </p:spPr>
        <p:txBody>
          <a:bodyPr wrap="square" lIns="0" tIns="0" rIns="0" bIns="0" rtlCol="0" anchor="ctr"/>
          <a:lstStyle/>
          <a:p>
            <a:pPr algn="ctr" indent="0" marL="0">
              <a:buNone/>
            </a:pPr>
            <a:r>
              <a:rPr lang="en-US" sz="1300" dirty="0">
                <a:solidFill>
                  <a:srgbClr val="5A6478"/>
                </a:solidFill>
                <a:latin typeface="Calibri" pitchFamily="34" charset="0"/>
                <a:ea typeface="Calibri" pitchFamily="34" charset="-122"/>
                <a:cs typeface="Calibri" pitchFamily="34" charset="-120"/>
              </a:rPr>
              <a:t>PII leaks across the local run ledger, and the hallucination rate at the 17 July run, English scope by construction</a:t>
            </a:r>
            <a:endParaRPr lang="en-US" sz="1300" dirty="0"/>
          </a:p>
        </p:txBody>
      </p:sp>
      <p:sp>
        <p:nvSpPr>
          <p:cNvPr id="11" name="Shape 9"/>
          <p:cNvSpPr/>
          <p:nvPr/>
        </p:nvSpPr>
        <p:spPr>
          <a:xfrm>
            <a:off x="731520" y="4023360"/>
            <a:ext cx="10698480" cy="1691640"/>
          </a:xfrm>
          <a:prstGeom prst="roundRect">
            <a:avLst>
              <a:gd name="adj" fmla="val 3243"/>
            </a:avLst>
          </a:prstGeom>
          <a:solidFill>
            <a:srgbClr val="FDF3F3"/>
          </a:solidFill>
          <a:ln w="12700">
            <a:solidFill>
              <a:srgbClr val="990011"/>
            </a:solidFill>
            <a:prstDash val="solid"/>
          </a:ln>
        </p:spPr>
      </p:sp>
      <p:sp>
        <p:nvSpPr>
          <p:cNvPr id="12" name="Text 10"/>
          <p:cNvSpPr/>
          <p:nvPr/>
        </p:nvSpPr>
        <p:spPr>
          <a:xfrm>
            <a:off x="960120" y="4160520"/>
            <a:ext cx="10241280" cy="274320"/>
          </a:xfrm>
          <a:prstGeom prst="rect">
            <a:avLst/>
          </a:prstGeom>
          <a:noFill/>
          <a:ln/>
        </p:spPr>
        <p:txBody>
          <a:bodyPr wrap="square" lIns="0" tIns="0" rIns="0" bIns="0" rtlCol="0" anchor="ctr"/>
          <a:lstStyle/>
          <a:p>
            <a:pPr indent="0" marL="0">
              <a:buNone/>
            </a:pPr>
            <a:r>
              <a:rPr lang="en-US" sz="1500" b="1" dirty="0">
                <a:solidFill>
                  <a:srgbClr val="990011"/>
                </a:solidFill>
                <a:latin typeface="Calibri" pitchFamily="34" charset="0"/>
                <a:ea typeface="Calibri" pitchFamily="34" charset="-122"/>
                <a:cs typeface="Calibri" pitchFamily="34" charset="-120"/>
              </a:rPr>
              <a:t>The boundary</a:t>
            </a:r>
            <a:endParaRPr lang="en-US" sz="1500" dirty="0"/>
          </a:p>
        </p:txBody>
      </p:sp>
      <p:sp>
        <p:nvSpPr>
          <p:cNvPr id="13" name="Text 11"/>
          <p:cNvSpPr/>
          <p:nvPr/>
        </p:nvSpPr>
        <p:spPr>
          <a:xfrm>
            <a:off x="960120" y="4480560"/>
            <a:ext cx="10241280" cy="1143000"/>
          </a:xfrm>
          <a:prstGeom prst="rect">
            <a:avLst/>
          </a:prstGeom>
          <a:noFill/>
          <a:ln/>
        </p:spPr>
        <p:txBody>
          <a:bodyPr wrap="square" lIns="0" tIns="0" rIns="0" bIns="0" rtlCol="0" anchor="ctr"/>
          <a:lstStyle/>
          <a:p>
            <a:pPr indent="0" marL="0">
              <a:buNone/>
            </a:pPr>
            <a:r>
              <a:rPr lang="en-US" sz="1500" dirty="0">
                <a:solidFill>
                  <a:srgbClr val="1A1A2E"/>
                </a:solidFill>
                <a:latin typeface="Calibri" pitchFamily="34" charset="0"/>
                <a:ea typeface="Calibri" pitchFamily="34" charset="-122"/>
                <a:cs typeface="Calibri" pitchFamily="34" charset="-120"/>
              </a:rPr>
              <a:t>The outcome data behind these learnings is simulated. Adoption shows that the loop steers recommendations. Whether the steered remedy is better needs a live outcome contract on real data, which is the single most important open step in the thesis.</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11430000" y="6382512"/>
            <a:ext cx="457200" cy="256032"/>
          </a:xfrm>
          <a:prstGeom prst="rect">
            <a:avLst/>
          </a:prstGeom>
          <a:noFill/>
          <a:ln/>
        </p:spPr>
        <p:txBody>
          <a:bodyPr wrap="square" lIns="0" tIns="0" rIns="0" bIns="0" rtlCol="0" anchor="ctr"/>
          <a:lstStyle/>
          <a:p>
            <a:pPr algn="r" indent="0" marL="0">
              <a:buNone/>
            </a:pPr>
            <a:r>
              <a:rPr lang="en-US" sz="1100" dirty="0">
                <a:solidFill>
                  <a:srgbClr val="5A6478"/>
                </a:solidFill>
                <a:latin typeface="Calibri" pitchFamily="34" charset="0"/>
                <a:ea typeface="Calibri" pitchFamily="34" charset="-122"/>
                <a:cs typeface="Calibri" pitchFamily="34" charset="-120"/>
              </a:rPr>
              <a:t>15</a:t>
            </a:r>
            <a:endParaRPr lang="en-US" sz="1100" dirty="0"/>
          </a:p>
        </p:txBody>
      </p:sp>
      <p:sp>
        <p:nvSpPr>
          <p:cNvPr id="3" name="Text 1"/>
          <p:cNvSpPr/>
          <p:nvPr/>
        </p:nvSpPr>
        <p:spPr>
          <a:xfrm>
            <a:off x="548640" y="292608"/>
            <a:ext cx="11064240" cy="694944"/>
          </a:xfrm>
          <a:prstGeom prst="rect">
            <a:avLst/>
          </a:prstGeom>
          <a:noFill/>
          <a:ln/>
        </p:spPr>
        <p:txBody>
          <a:bodyPr wrap="square" rtlCol="0" anchor="ctr"/>
          <a:lstStyle/>
          <a:p>
            <a:pPr indent="0" marL="0">
              <a:buNone/>
            </a:pPr>
            <a:r>
              <a:rPr lang="en-US" sz="3000" b="1" dirty="0">
                <a:solidFill>
                  <a:srgbClr val="1A1A2E"/>
                </a:solidFill>
                <a:latin typeface="Cambria" pitchFamily="34" charset="0"/>
                <a:ea typeface="Cambria" pitchFamily="34" charset="-122"/>
                <a:cs typeface="Cambria" pitchFamily="34" charset="-120"/>
              </a:rPr>
              <a:t>What is proven, what is demonstrated, what is pending</a:t>
            </a:r>
            <a:endParaRPr lang="en-US" sz="3000" dirty="0"/>
          </a:p>
        </p:txBody>
      </p:sp>
      <p:sp>
        <p:nvSpPr>
          <p:cNvPr id="4" name="Text 2"/>
          <p:cNvSpPr/>
          <p:nvPr/>
        </p:nvSpPr>
        <p:spPr>
          <a:xfrm>
            <a:off x="548640" y="914400"/>
            <a:ext cx="11064240" cy="365760"/>
          </a:xfrm>
          <a:prstGeom prst="rect">
            <a:avLst/>
          </a:prstGeom>
          <a:noFill/>
          <a:ln/>
        </p:spPr>
        <p:txBody>
          <a:bodyPr wrap="square" rtlCol="0" anchor="ctr"/>
          <a:lstStyle/>
          <a:p>
            <a:pPr indent="0" marL="0">
              <a:buNone/>
            </a:pPr>
            <a:r>
              <a:rPr lang="en-US" sz="1500" dirty="0">
                <a:solidFill>
                  <a:srgbClr val="5A6478"/>
                </a:solidFill>
                <a:latin typeface="Calibri" pitchFamily="34" charset="0"/>
                <a:ea typeface="Calibri" pitchFamily="34" charset="-122"/>
                <a:cs typeface="Calibri" pitchFamily="34" charset="-120"/>
              </a:rPr>
              <a:t>The traceability matrix, Appendix D</a:t>
            </a:r>
            <a:endParaRPr lang="en-US" sz="15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64240" cy="914400"/>
        </p:xfrm>
        <a:graphic>
          <a:graphicData uri="http://schemas.openxmlformats.org/drawingml/2006/table">
            <a:tbl>
              <a:tblPr/>
              <a:tblGrid>
                <a:gridCol w="3017520"/>
                <a:gridCol w="2377440"/>
                <a:gridCol w="5669280"/>
              </a:tblGrid>
              <a:tr h="45720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Claim</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1E2761"/>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Status</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1E2761"/>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Evidence</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1E2761"/>
                    </a:solidFill>
                  </a:tcPr>
                </a:tc>
              </a:tr>
              <a:tr h="457200">
                <a:tc>
                  <a:txBody>
                    <a:bodyPr/>
                    <a:lstStyle/>
                    <a:p>
                      <a:pPr indent="0" marL="0">
                        <a:buNone/>
                      </a:pPr>
                      <a:r>
                        <a:rPr lang="en-US" sz="1400" dirty="0">
                          <a:solidFill>
                            <a:srgbClr val="000000"/>
                          </a:solidFill>
                          <a:latin typeface="Calibri" pitchFamily="34" charset="0"/>
                          <a:ea typeface="Calibri" pitchFamily="34" charset="-122"/>
                          <a:cs typeface="Calibri" pitchFamily="34" charset="-120"/>
                        </a:rPr>
                        <a:t>Triage accuracy (RQ3a)</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indent="0" marL="0">
                        <a:buNone/>
                      </a:pPr>
                      <a:r>
                        <a:rPr lang="en-US" sz="1400" dirty="0">
                          <a:solidFill>
                            <a:srgbClr val="000000"/>
                          </a:solidFill>
                          <a:latin typeface="Calibri" pitchFamily="34" charset="0"/>
                          <a:ea typeface="Calibri" pitchFamily="34" charset="-122"/>
                          <a:cs typeface="Calibri" pitchFamily="34" charset="-120"/>
                        </a:rPr>
                        <a:t>Measured</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indent="0" marL="0">
                        <a:buNone/>
                      </a:pPr>
                      <a:r>
                        <a:rPr lang="en-US" sz="1400" dirty="0">
                          <a:solidFill>
                            <a:srgbClr val="000000"/>
                          </a:solidFill>
                          <a:latin typeface="Calibri" pitchFamily="34" charset="0"/>
                          <a:ea typeface="Calibri" pitchFamily="34" charset="-122"/>
                          <a:cs typeface="Calibri" pitchFamily="34" charset="-120"/>
                        </a:rPr>
                        <a:t>three predictors on one gold standard, with pairwise McNemar tests</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r>
              <a:tr h="457200">
                <a:tc>
                  <a:txBody>
                    <a:bodyPr/>
                    <a:lstStyle/>
                    <a:p>
                      <a:pPr indent="0" marL="0">
                        <a:buNone/>
                      </a:pPr>
                      <a:r>
                        <a:rPr lang="en-US" sz="1400" dirty="0">
                          <a:solidFill>
                            <a:srgbClr val="000000"/>
                          </a:solidFill>
                          <a:latin typeface="Calibri" pitchFamily="34" charset="0"/>
                          <a:ea typeface="Calibri" pitchFamily="34" charset="-122"/>
                          <a:cs typeface="Calibri" pitchFamily="34" charset="-120"/>
                        </a:rPr>
                        <a:t>Escalation equity (RQ3b)</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indent="0" marL="0">
                        <a:buNone/>
                      </a:pPr>
                      <a:r>
                        <a:rPr lang="en-US" sz="1400" dirty="0">
                          <a:solidFill>
                            <a:srgbClr val="000000"/>
                          </a:solidFill>
                          <a:latin typeface="Calibri" pitchFamily="34" charset="0"/>
                          <a:ea typeface="Calibri" pitchFamily="34" charset="-122"/>
                          <a:cs typeface="Calibri" pitchFamily="34" charset="-120"/>
                        </a:rPr>
                        <a:t>Measured, bounded</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indent="0" marL="0">
                        <a:buNone/>
                      </a:pPr>
                      <a:r>
                        <a:rPr lang="en-US" sz="1400" dirty="0">
                          <a:solidFill>
                            <a:srgbClr val="000000"/>
                          </a:solidFill>
                          <a:latin typeface="Calibri" pitchFamily="34" charset="0"/>
                          <a:ea typeface="Calibri" pitchFamily="34" charset="-122"/>
                          <a:cs typeface="Calibri" pitchFamily="34" charset="-120"/>
                        </a:rPr>
                        <a:t>floor 0.0, learned 62.5, contextual 87.5 vs 87.8, production 62.5 vs 53.7; n = 8</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r>
              <a:tr h="457200">
                <a:tc>
                  <a:txBody>
                    <a:bodyPr/>
                    <a:lstStyle/>
                    <a:p>
                      <a:pPr indent="0" marL="0">
                        <a:buNone/>
                      </a:pPr>
                      <a:r>
                        <a:rPr lang="en-US" sz="1400" dirty="0">
                          <a:solidFill>
                            <a:srgbClr val="000000"/>
                          </a:solidFill>
                          <a:latin typeface="Calibri" pitchFamily="34" charset="0"/>
                          <a:ea typeface="Calibri" pitchFamily="34" charset="-122"/>
                          <a:cs typeface="Calibri" pitchFamily="34" charset="-120"/>
                        </a:rPr>
                        <a:t>Routing fields</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indent="0" marL="0">
                        <a:buNone/>
                      </a:pPr>
                      <a:r>
                        <a:rPr lang="en-US" sz="1400" dirty="0">
                          <a:solidFill>
                            <a:srgbClr val="000000"/>
                          </a:solidFill>
                          <a:latin typeface="Calibri" pitchFamily="34" charset="0"/>
                          <a:ea typeface="Calibri" pitchFamily="34" charset="-122"/>
                          <a:cs typeface="Calibri" pitchFamily="34" charset="-120"/>
                        </a:rPr>
                        <a:t>Measured, bounded</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indent="0" marL="0">
                        <a:buNone/>
                      </a:pPr>
                      <a:r>
                        <a:rPr lang="en-US" sz="1400" dirty="0">
                          <a:solidFill>
                            <a:srgbClr val="000000"/>
                          </a:solidFill>
                          <a:latin typeface="Calibri" pitchFamily="34" charset="0"/>
                          <a:ea typeface="Calibri" pitchFamily="34" charset="-122"/>
                          <a:cs typeface="Calibri" pitchFamily="34" charset="-120"/>
                        </a:rPr>
                        <a:t>scored with the inventory supplied, which is an upper bound</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r>
              <a:tr h="457200">
                <a:tc>
                  <a:txBody>
                    <a:bodyPr/>
                    <a:lstStyle/>
                    <a:p>
                      <a:pPr indent="0" marL="0">
                        <a:buNone/>
                      </a:pPr>
                      <a:r>
                        <a:rPr lang="en-US" sz="1400" dirty="0">
                          <a:solidFill>
                            <a:srgbClr val="000000"/>
                          </a:solidFill>
                          <a:latin typeface="Calibri" pitchFamily="34" charset="0"/>
                          <a:ea typeface="Calibri" pitchFamily="34" charset="-122"/>
                          <a:cs typeface="Calibri" pitchFamily="34" charset="-120"/>
                        </a:rPr>
                        <a:t>Perishable memory (DP2)</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indent="0" marL="0">
                        <a:buNone/>
                      </a:pPr>
                      <a:r>
                        <a:rPr lang="en-US" sz="1400" dirty="0">
                          <a:solidFill>
                            <a:srgbClr val="000000"/>
                          </a:solidFill>
                          <a:latin typeface="Calibri" pitchFamily="34" charset="0"/>
                          <a:ea typeface="Calibri" pitchFamily="34" charset="-122"/>
                          <a:cs typeface="Calibri" pitchFamily="34" charset="-120"/>
                        </a:rPr>
                        <a:t>Partially measured</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indent="0" marL="0">
                        <a:buNone/>
                      </a:pPr>
                      <a:r>
                        <a:rPr lang="en-US" sz="1400" dirty="0">
                          <a:solidFill>
                            <a:srgbClr val="000000"/>
                          </a:solidFill>
                          <a:latin typeface="Calibri" pitchFamily="34" charset="0"/>
                          <a:ea typeface="Calibri" pitchFamily="34" charset="-122"/>
                          <a:cs typeface="Calibri" pitchFamily="34" charset="-120"/>
                        </a:rPr>
                        <a:t>remedy adoption 21% to 71%; replicated on GLM-5.2, not on the production default; simulated outcomes</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r>
              <a:tr h="457200">
                <a:tc>
                  <a:txBody>
                    <a:bodyPr/>
                    <a:lstStyle/>
                    <a:p>
                      <a:pPr indent="0" marL="0">
                        <a:buNone/>
                      </a:pPr>
                      <a:r>
                        <a:rPr lang="en-US" sz="1400" dirty="0">
                          <a:solidFill>
                            <a:srgbClr val="000000"/>
                          </a:solidFill>
                          <a:latin typeface="Calibri" pitchFamily="34" charset="0"/>
                          <a:ea typeface="Calibri" pitchFamily="34" charset="-122"/>
                          <a:cs typeface="Calibri" pitchFamily="34" charset="-120"/>
                        </a:rPr>
                        <a:t>Outcome contracts (DP1)</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indent="0" marL="0">
                        <a:buNone/>
                      </a:pPr>
                      <a:r>
                        <a:rPr lang="en-US" sz="1400" dirty="0">
                          <a:solidFill>
                            <a:srgbClr val="000000"/>
                          </a:solidFill>
                          <a:latin typeface="Calibri" pitchFamily="34" charset="0"/>
                          <a:ea typeface="Calibri" pitchFamily="34" charset="-122"/>
                          <a:cs typeface="Calibri" pitchFamily="34" charset="-120"/>
                        </a:rPr>
                        <a:t>Demonstrated</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indent="0" marL="0">
                        <a:buNone/>
                      </a:pPr>
                      <a:r>
                        <a:rPr lang="en-US" sz="1400" dirty="0">
                          <a:solidFill>
                            <a:srgbClr val="000000"/>
                          </a:solidFill>
                          <a:latin typeface="Calibri" pitchFamily="34" charset="0"/>
                          <a:ea typeface="Calibri" pitchFamily="34" charset="-122"/>
                          <a:cs typeface="Calibri" pitchFamily="34" charset="-120"/>
                        </a:rPr>
                        <a:t>designed, built and instrumented; one live contract still pending</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r>
              <a:tr h="457200">
                <a:tc>
                  <a:txBody>
                    <a:bodyPr/>
                    <a:lstStyle/>
                    <a:p>
                      <a:pPr indent="0" marL="0">
                        <a:buNone/>
                      </a:pPr>
                      <a:r>
                        <a:rPr lang="en-US" sz="1400" dirty="0">
                          <a:solidFill>
                            <a:srgbClr val="000000"/>
                          </a:solidFill>
                          <a:latin typeface="Calibri" pitchFamily="34" charset="0"/>
                          <a:ea typeface="Calibri" pitchFamily="34" charset="-122"/>
                          <a:cs typeface="Calibri" pitchFamily="34" charset="-120"/>
                        </a:rPr>
                        <a:t>Method hardening</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indent="0" marL="0">
                        <a:buNone/>
                      </a:pPr>
                      <a:r>
                        <a:rPr lang="en-US" sz="1400" dirty="0">
                          <a:solidFill>
                            <a:srgbClr val="000000"/>
                          </a:solidFill>
                          <a:latin typeface="Calibri" pitchFamily="34" charset="0"/>
                          <a:ea typeface="Calibri" pitchFamily="34" charset="-122"/>
                          <a:cs typeface="Calibri" pitchFamily="34" charset="-120"/>
                        </a:rPr>
                        <a:t>Shipped, partly measured</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indent="0" marL="0">
                        <a:buNone/>
                      </a:pPr>
                      <a:r>
                        <a:rPr lang="en-US" sz="1400" dirty="0">
                          <a:solidFill>
                            <a:srgbClr val="000000"/>
                          </a:solidFill>
                          <a:latin typeface="Calibri" pitchFamily="34" charset="0"/>
                          <a:ea typeface="Calibri" pitchFamily="34" charset="-122"/>
                          <a:cs typeface="Calibri" pitchFamily="34" charset="-120"/>
                        </a:rPr>
                        <a:t>calibration and the refusal harness measured; the rest covered by unit tests</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r>
              <a:tr h="457200">
                <a:tc>
                  <a:txBody>
                    <a:bodyPr/>
                    <a:lstStyle/>
                    <a:p>
                      <a:pPr indent="0" marL="0">
                        <a:buNone/>
                      </a:pPr>
                      <a:r>
                        <a:rPr lang="en-US" sz="1400" dirty="0">
                          <a:solidFill>
                            <a:srgbClr val="000000"/>
                          </a:solidFill>
                          <a:latin typeface="Calibri" pitchFamily="34" charset="0"/>
                          <a:ea typeface="Calibri" pitchFamily="34" charset="-122"/>
                          <a:cs typeface="Calibri" pitchFamily="34" charset="-120"/>
                        </a:rPr>
                        <a:t>Inter-annotator agreement</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indent="0" marL="0">
                        <a:buNone/>
                      </a:pPr>
                      <a:r>
                        <a:rPr lang="en-US" sz="1400" dirty="0">
                          <a:solidFill>
                            <a:srgbClr val="000000"/>
                          </a:solidFill>
                          <a:latin typeface="Calibri" pitchFamily="34" charset="0"/>
                          <a:ea typeface="Calibri" pitchFamily="34" charset="-122"/>
                          <a:cs typeface="Calibri" pitchFamily="34" charset="-120"/>
                        </a:rPr>
                        <a:t>Pending</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indent="0" marL="0">
                        <a:buNone/>
                      </a:pPr>
                      <a:r>
                        <a:rPr lang="en-US" sz="1400" dirty="0">
                          <a:solidFill>
                            <a:srgbClr val="000000"/>
                          </a:solidFill>
                          <a:latin typeface="Calibri" pitchFamily="34" charset="0"/>
                          <a:ea typeface="Calibri" pitchFamily="34" charset="-122"/>
                          <a:cs typeface="Calibri" pitchFamily="34" charset="-120"/>
                        </a:rPr>
                        <a:t>export and scoring tooling shipped; no second annotator, no kappa</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r>
              <a:tr h="457200">
                <a:tc>
                  <a:txBody>
                    <a:bodyPr/>
                    <a:lstStyle/>
                    <a:p>
                      <a:pPr indent="0" marL="0">
                        <a:buNone/>
                      </a:pPr>
                      <a:r>
                        <a:rPr lang="en-US" sz="1400" dirty="0">
                          <a:solidFill>
                            <a:srgbClr val="000000"/>
                          </a:solidFill>
                          <a:latin typeface="Calibri" pitchFamily="34" charset="0"/>
                          <a:ea typeface="Calibri" pitchFamily="34" charset="-122"/>
                          <a:cs typeface="Calibri" pitchFamily="34" charset="-120"/>
                        </a:rPr>
                        <a:t>AI-verbatim detection</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indent="0" marL="0">
                        <a:buNone/>
                      </a:pPr>
                      <a:r>
                        <a:rPr lang="en-US" sz="1400" dirty="0">
                          <a:solidFill>
                            <a:srgbClr val="000000"/>
                          </a:solidFill>
                          <a:latin typeface="Calibri" pitchFamily="34" charset="0"/>
                          <a:ea typeface="Calibri" pitchFamily="34" charset="-122"/>
                          <a:cs typeface="Calibri" pitchFamily="34" charset="-120"/>
                        </a:rPr>
                        <a:t>Measured, refused</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indent="0" marL="0">
                        <a:buNone/>
                      </a:pPr>
                      <a:r>
                        <a:rPr lang="en-US" sz="1400" dirty="0">
                          <a:solidFill>
                            <a:srgbClr val="000000"/>
                          </a:solidFill>
                          <a:latin typeface="Calibri" pitchFamily="34" charset="0"/>
                          <a:ea typeface="Calibri" pitchFamily="34" charset="-122"/>
                          <a:cs typeface="Calibri" pitchFamily="34" charset="-120"/>
                        </a:rPr>
                        <a:t>0.86% flagged on 6,154 genuine reviews; per-comment authorship deliberately not implemented</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r>
              <a:tr h="457200">
                <a:tc>
                  <a:txBody>
                    <a:bodyPr/>
                    <a:lstStyle/>
                    <a:p>
                      <a:pPr indent="0" marL="0">
                        <a:buNone/>
                      </a:pPr>
                      <a:r>
                        <a:rPr lang="en-US" sz="1400" dirty="0">
                          <a:solidFill>
                            <a:srgbClr val="000000"/>
                          </a:solidFill>
                          <a:latin typeface="Calibri" pitchFamily="34" charset="0"/>
                          <a:ea typeface="Calibri" pitchFamily="34" charset="-122"/>
                          <a:cs typeface="Calibri" pitchFamily="34" charset="-120"/>
                        </a:rPr>
                        <a:t>Practitioner value (RQ4)</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indent="0" marL="0">
                        <a:buNone/>
                      </a:pPr>
                      <a:r>
                        <a:rPr lang="en-US" sz="1400" dirty="0">
                          <a:solidFill>
                            <a:srgbClr val="000000"/>
                          </a:solidFill>
                          <a:latin typeface="Calibri" pitchFamily="34" charset="0"/>
                          <a:ea typeface="Calibri" pitchFamily="34" charset="-122"/>
                          <a:cs typeface="Calibri" pitchFamily="34" charset="-120"/>
                        </a:rPr>
                        <a:t>Pending</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indent="0" marL="0">
                        <a:buNone/>
                      </a:pPr>
                      <a:r>
                        <a:rPr lang="en-US" sz="1400" dirty="0">
                          <a:solidFill>
                            <a:srgbClr val="000000"/>
                          </a:solidFill>
                          <a:latin typeface="Calibri" pitchFamily="34" charset="0"/>
                          <a:ea typeface="Calibri" pitchFamily="34" charset="-122"/>
                          <a:cs typeface="Calibri" pitchFamily="34" charset="-120"/>
                        </a:rPr>
                        <a:t>instruments ready; interviews not started</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r>
            </a:tbl>
          </a:graphicData>
        </a:graphic>
      </p:graphicFrame>
      <p:sp>
        <p:nvSpPr>
          <p:cNvPr id="6" name="Text 3"/>
          <p:cNvSpPr/>
          <p:nvPr/>
        </p:nvSpPr>
        <p:spPr>
          <a:xfrm>
            <a:off x="548640" y="5742432"/>
            <a:ext cx="11064240" cy="566928"/>
          </a:xfrm>
          <a:prstGeom prst="rect">
            <a:avLst/>
          </a:prstGeom>
          <a:noFill/>
          <a:ln/>
        </p:spPr>
        <p:txBody>
          <a:bodyPr wrap="square" rtlCol="0" anchor="ctr"/>
          <a:lstStyle/>
          <a:p>
            <a:pPr indent="0" marL="0">
              <a:buNone/>
            </a:pPr>
            <a:r>
              <a:rPr lang="en-US" sz="1300" dirty="0">
                <a:solidFill>
                  <a:srgbClr val="5A6478"/>
                </a:solidFill>
                <a:latin typeface="Calibri" pitchFamily="34" charset="0"/>
                <a:ea typeface="Calibri" pitchFamily="34" charset="-122"/>
                <a:cs typeface="Calibri" pitchFamily="34" charset="-120"/>
              </a:rPr>
              <a:t>A claim's status is stated once, in one place, and every chapter has to agree with it. That is what the truth audit tested on 20 August. Where a chapter disagreed with this table, I changed the chapter.</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11430000" y="6382512"/>
            <a:ext cx="457200" cy="256032"/>
          </a:xfrm>
          <a:prstGeom prst="rect">
            <a:avLst/>
          </a:prstGeom>
          <a:noFill/>
          <a:ln/>
        </p:spPr>
        <p:txBody>
          <a:bodyPr wrap="square" lIns="0" tIns="0" rIns="0" bIns="0" rtlCol="0" anchor="ctr"/>
          <a:lstStyle/>
          <a:p>
            <a:pPr algn="r" indent="0" marL="0">
              <a:buNone/>
            </a:pPr>
            <a:r>
              <a:rPr lang="en-US" sz="1100" dirty="0">
                <a:solidFill>
                  <a:srgbClr val="5A6478"/>
                </a:solidFill>
                <a:latin typeface="Calibri" pitchFamily="34" charset="0"/>
                <a:ea typeface="Calibri" pitchFamily="34" charset="-122"/>
                <a:cs typeface="Calibri" pitchFamily="34" charset="-120"/>
              </a:rPr>
              <a:t>16</a:t>
            </a:r>
            <a:endParaRPr lang="en-US" sz="1100" dirty="0"/>
          </a:p>
        </p:txBody>
      </p:sp>
      <p:sp>
        <p:nvSpPr>
          <p:cNvPr id="3" name="Text 1"/>
          <p:cNvSpPr/>
          <p:nvPr/>
        </p:nvSpPr>
        <p:spPr>
          <a:xfrm>
            <a:off x="548640" y="292608"/>
            <a:ext cx="11064240" cy="694944"/>
          </a:xfrm>
          <a:prstGeom prst="rect">
            <a:avLst/>
          </a:prstGeom>
          <a:noFill/>
          <a:ln/>
        </p:spPr>
        <p:txBody>
          <a:bodyPr wrap="square" rtlCol="0" anchor="ctr"/>
          <a:lstStyle/>
          <a:p>
            <a:pPr indent="0" marL="0">
              <a:buNone/>
            </a:pPr>
            <a:r>
              <a:rPr lang="en-US" sz="3000" b="1" dirty="0">
                <a:solidFill>
                  <a:srgbClr val="1A1A2E"/>
                </a:solidFill>
                <a:latin typeface="Cambria" pitchFamily="34" charset="0"/>
                <a:ea typeface="Cambria" pitchFamily="34" charset="-122"/>
                <a:cs typeface="Cambria" pitchFamily="34" charset="-120"/>
              </a:rPr>
              <a:t>Limitations and what comes next</a:t>
            </a:r>
            <a:endParaRPr lang="en-US" sz="3000" dirty="0"/>
          </a:p>
        </p:txBody>
      </p:sp>
      <p:sp>
        <p:nvSpPr>
          <p:cNvPr id="4" name="Text 2"/>
          <p:cNvSpPr/>
          <p:nvPr/>
        </p:nvSpPr>
        <p:spPr>
          <a:xfrm>
            <a:off x="548640" y="914400"/>
            <a:ext cx="11064240" cy="365760"/>
          </a:xfrm>
          <a:prstGeom prst="rect">
            <a:avLst/>
          </a:prstGeom>
          <a:noFill/>
          <a:ln/>
        </p:spPr>
        <p:txBody>
          <a:bodyPr wrap="square" rtlCol="0" anchor="ctr"/>
          <a:lstStyle/>
          <a:p>
            <a:pPr indent="0" marL="0">
              <a:buNone/>
            </a:pPr>
            <a:r>
              <a:rPr lang="en-US" sz="1500" dirty="0">
                <a:solidFill>
                  <a:srgbClr val="5A6478"/>
                </a:solidFill>
                <a:latin typeface="Calibri" pitchFamily="34" charset="0"/>
                <a:ea typeface="Calibri" pitchFamily="34" charset="-122"/>
                <a:cs typeface="Calibri" pitchFamily="34" charset="-120"/>
              </a:rPr>
              <a:t>The bounds I state myself, and the one experiment that matters most</a:t>
            </a:r>
            <a:endParaRPr lang="en-US" sz="1500" dirty="0"/>
          </a:p>
        </p:txBody>
      </p:sp>
      <p:sp>
        <p:nvSpPr>
          <p:cNvPr id="5" name="Text 3"/>
          <p:cNvSpPr/>
          <p:nvPr/>
        </p:nvSpPr>
        <p:spPr>
          <a:xfrm>
            <a:off x="548640" y="1371600"/>
            <a:ext cx="5486400" cy="310896"/>
          </a:xfrm>
          <a:prstGeom prst="rect">
            <a:avLst/>
          </a:prstGeom>
          <a:noFill/>
          <a:ln/>
        </p:spPr>
        <p:txBody>
          <a:bodyPr wrap="square" rtlCol="0" anchor="ctr"/>
          <a:lstStyle/>
          <a:p>
            <a:pPr indent="0" marL="0">
              <a:buNone/>
            </a:pPr>
            <a:r>
              <a:rPr lang="en-US" sz="1700" b="1" dirty="0">
                <a:solidFill>
                  <a:srgbClr val="1E2761"/>
                </a:solidFill>
                <a:latin typeface="Cambria" pitchFamily="34" charset="0"/>
                <a:ea typeface="Cambria" pitchFamily="34" charset="-122"/>
                <a:cs typeface="Cambria" pitchFamily="34" charset="-120"/>
              </a:rPr>
              <a:t>Limitations</a:t>
            </a:r>
            <a:endParaRPr lang="en-US" sz="1700" dirty="0"/>
          </a:p>
        </p:txBody>
      </p:sp>
      <p:sp>
        <p:nvSpPr>
          <p:cNvPr id="6" name="Text 4"/>
          <p:cNvSpPr/>
          <p:nvPr/>
        </p:nvSpPr>
        <p:spPr>
          <a:xfrm>
            <a:off x="731520" y="1755648"/>
            <a:ext cx="5303520" cy="4297680"/>
          </a:xfrm>
          <a:prstGeom prst="rect">
            <a:avLst/>
          </a:prstGeom>
          <a:noFill/>
          <a:ln/>
        </p:spPr>
        <p:txBody>
          <a:bodyPr wrap="square" rtlCol="0" anchor="ctr"/>
          <a:lstStyle/>
          <a:p>
            <a:pPr marL="342900" indent="-342900">
              <a:spcAft>
                <a:spcPts val="700"/>
              </a:spcAft>
              <a:buSzPct val="100000"/>
              <a:buChar char="•"/>
            </a:pPr>
            <a:r>
              <a:rPr lang="en-US" sz="1250" dirty="0">
                <a:solidFill>
                  <a:srgbClr val="1A1A2E"/>
                </a:solidFill>
                <a:latin typeface="Calibri" pitchFamily="34" charset="0"/>
                <a:ea typeface="Calibri" pitchFamily="34" charset="-122"/>
                <a:cs typeface="Calibri" pitchFamily="34" charset="-120"/>
              </a:rPr>
              <a:t>A modest, balanced corpus of 188 signals. It characterises the pipeline, not a population.</a:t>
            </a:r>
            <a:endParaRPr lang="en-US" sz="1250" dirty="0"/>
          </a:p>
          <a:p>
            <a:pPr marL="342900" indent="-342900">
              <a:spcAft>
                <a:spcPts val="700"/>
              </a:spcAft>
              <a:buSzPct val="100000"/>
              <a:buChar char="•"/>
            </a:pPr>
            <a:r>
              <a:rPr lang="en-US" sz="1250" dirty="0">
                <a:solidFill>
                  <a:srgbClr val="1A1A2E"/>
                </a:solidFill>
                <a:latin typeface="Calibri" pitchFamily="34" charset="0"/>
                <a:ea typeface="Calibri" pitchFamily="34" charset="-122"/>
                <a:cs typeface="Calibri" pitchFamily="34" charset="-120"/>
              </a:rPr>
              <a:t>Language is confounded with sector, and the texts are English paraphrases throughout, so every per-language result is a source-language stratum. One cross-language claim was retracted rather than defended.</a:t>
            </a:r>
            <a:endParaRPr lang="en-US" sz="1250" dirty="0"/>
          </a:p>
          <a:p>
            <a:pPr marL="342900" indent="-342900">
              <a:spcAft>
                <a:spcPts val="700"/>
              </a:spcAft>
              <a:buSzPct val="100000"/>
              <a:buChar char="•"/>
            </a:pPr>
            <a:r>
              <a:rPr lang="en-US" sz="1250" dirty="0">
                <a:solidFill>
                  <a:srgbClr val="1A1A2E"/>
                </a:solidFill>
                <a:latin typeface="Calibri" pitchFamily="34" charset="0"/>
                <a:ea typeface="Calibri" pitchFamily="34" charset="-122"/>
                <a:cs typeface="Calibri" pitchFamily="34" charset="-120"/>
              </a:rPr>
              <a:t>The German-source escalate stratum is eight signals.</a:t>
            </a:r>
            <a:endParaRPr lang="en-US" sz="1250" dirty="0"/>
          </a:p>
          <a:p>
            <a:pPr marL="342900" indent="-342900">
              <a:spcAft>
                <a:spcPts val="700"/>
              </a:spcAft>
              <a:buSzPct val="100000"/>
              <a:buChar char="•"/>
            </a:pPr>
            <a:r>
              <a:rPr lang="en-US" sz="1250" dirty="0">
                <a:solidFill>
                  <a:srgbClr val="1A1A2E"/>
                </a:solidFill>
                <a:latin typeface="Calibri" pitchFamily="34" charset="0"/>
                <a:ea typeface="Calibri" pitchFamily="34" charset="-122"/>
                <a:cs typeface="Calibri" pitchFamily="34" charset="-120"/>
              </a:rPr>
              <a:t>Routing is scored only with the inventory supplied, and two of the six gold fields are not scored at all.</a:t>
            </a:r>
            <a:endParaRPr lang="en-US" sz="1250" dirty="0"/>
          </a:p>
          <a:p>
            <a:pPr marL="342900" indent="-342900">
              <a:spcAft>
                <a:spcPts val="700"/>
              </a:spcAft>
              <a:buSzPct val="100000"/>
              <a:buChar char="•"/>
            </a:pPr>
            <a:r>
              <a:rPr lang="en-US" sz="1250" dirty="0">
                <a:solidFill>
                  <a:srgbClr val="1A1A2E"/>
                </a:solidFill>
                <a:latin typeface="Calibri" pitchFamily="34" charset="0"/>
                <a:ea typeface="Calibri" pitchFamily="34" charset="-122"/>
                <a:cs typeface="Calibri" pitchFamily="34" charset="-120"/>
              </a:rPr>
              <a:t>No inter-annotator agreement number exists behind either gold standard.</a:t>
            </a:r>
            <a:endParaRPr lang="en-US" sz="1250" dirty="0"/>
          </a:p>
          <a:p>
            <a:pPr marL="342900" indent="-342900">
              <a:spcAft>
                <a:spcPts val="700"/>
              </a:spcAft>
              <a:buSzPct val="100000"/>
              <a:buChar char="•"/>
            </a:pPr>
            <a:r>
              <a:rPr lang="en-US" sz="1250" dirty="0">
                <a:solidFill>
                  <a:srgbClr val="1A1A2E"/>
                </a:solidFill>
                <a:latin typeface="Calibri" pitchFamily="34" charset="0"/>
                <a:ea typeface="Calibri" pitchFamily="34" charset="-122"/>
                <a:cs typeface="Calibri" pitchFamily="34" charset="-120"/>
              </a:rPr>
              <a:t>The urgency exemplar effect was tested at n = 60, 80 and 100 without alpha spending, so the claim rests on three consecutive significant runs rather than on the first crossing.</a:t>
            </a:r>
            <a:endParaRPr lang="en-US" sz="1250" dirty="0"/>
          </a:p>
          <a:p>
            <a:pPr marL="342900" indent="-342900">
              <a:spcAft>
                <a:spcPts val="700"/>
              </a:spcAft>
              <a:buSzPct val="100000"/>
              <a:buChar char="•"/>
            </a:pPr>
            <a:r>
              <a:rPr lang="en-US" sz="1250" dirty="0">
                <a:solidFill>
                  <a:srgbClr val="1A1A2E"/>
                </a:solidFill>
                <a:latin typeface="Calibri" pitchFamily="34" charset="0"/>
                <a:ea typeface="Calibri" pitchFamily="34" charset="-122"/>
                <a:cs typeface="Calibri" pitchFamily="34" charset="-120"/>
              </a:rPr>
              <a:t>Outcome data behind the learning loop is simulated, so the distinctive claim is demonstrated and not field-proven.</a:t>
            </a:r>
            <a:endParaRPr lang="en-US" sz="1250" dirty="0"/>
          </a:p>
          <a:p>
            <a:pPr marL="342900" indent="-342900">
              <a:spcAft>
                <a:spcPts val="700"/>
              </a:spcAft>
              <a:buSzPct val="100000"/>
              <a:buChar char="•"/>
            </a:pPr>
            <a:r>
              <a:rPr lang="en-US" sz="1250" dirty="0">
                <a:solidFill>
                  <a:srgbClr val="1A1A2E"/>
                </a:solidFill>
                <a:latin typeface="Calibri" pitchFamily="34" charset="0"/>
                <a:ea typeface="Calibri" pitchFamily="34" charset="-122"/>
                <a:cs typeface="Calibri" pitchFamily="34" charset="-120"/>
              </a:rPr>
              <a:t>I am the designer, the founder and the researcher, managed by external labels, standard instruments and a reproducible harness.</a:t>
            </a:r>
            <a:endParaRPr lang="en-US" sz="1250" dirty="0"/>
          </a:p>
        </p:txBody>
      </p:sp>
      <p:sp>
        <p:nvSpPr>
          <p:cNvPr id="7" name="Text 5"/>
          <p:cNvSpPr/>
          <p:nvPr/>
        </p:nvSpPr>
        <p:spPr>
          <a:xfrm>
            <a:off x="6309360" y="1371600"/>
            <a:ext cx="5303520" cy="310896"/>
          </a:xfrm>
          <a:prstGeom prst="rect">
            <a:avLst/>
          </a:prstGeom>
          <a:noFill/>
          <a:ln/>
        </p:spPr>
        <p:txBody>
          <a:bodyPr wrap="square" rtlCol="0" anchor="ctr"/>
          <a:lstStyle/>
          <a:p>
            <a:pPr indent="0" marL="0">
              <a:buNone/>
            </a:pPr>
            <a:r>
              <a:rPr lang="en-US" sz="1700" b="1" dirty="0">
                <a:solidFill>
                  <a:srgbClr val="1E2761"/>
                </a:solidFill>
                <a:latin typeface="Cambria" pitchFamily="34" charset="0"/>
                <a:ea typeface="Cambria" pitchFamily="34" charset="-122"/>
                <a:cs typeface="Cambria" pitchFamily="34" charset="-120"/>
              </a:rPr>
              <a:t>Next, in order of value</a:t>
            </a:r>
            <a:endParaRPr lang="en-US" sz="1700" dirty="0"/>
          </a:p>
        </p:txBody>
      </p:sp>
      <p:sp>
        <p:nvSpPr>
          <p:cNvPr id="8" name="Text 6"/>
          <p:cNvSpPr/>
          <p:nvPr/>
        </p:nvSpPr>
        <p:spPr>
          <a:xfrm>
            <a:off x="6492240" y="1755648"/>
            <a:ext cx="5120640" cy="4297680"/>
          </a:xfrm>
          <a:prstGeom prst="rect">
            <a:avLst/>
          </a:prstGeom>
          <a:noFill/>
          <a:ln/>
        </p:spPr>
        <p:txBody>
          <a:bodyPr wrap="square" rtlCol="0" anchor="ctr"/>
          <a:lstStyle/>
          <a:p>
            <a:pPr marL="342900" indent="-342900">
              <a:spcAft>
                <a:spcPts val="700"/>
              </a:spcAft>
              <a:buSzPct val="100000"/>
              <a:buChar char="•"/>
            </a:pPr>
            <a:r>
              <a:rPr lang="en-US" sz="1250" dirty="0">
                <a:solidFill>
                  <a:srgbClr val="1A1A2E"/>
                </a:solidFill>
                <a:latin typeface="Calibri" pitchFamily="34" charset="0"/>
                <a:ea typeface="Calibri" pitchFamily="34" charset="-122"/>
                <a:cs typeface="Calibri" pitchFamily="34" charset="-120"/>
              </a:rPr>
              <a:t>One live outcome contract on real data, scored by interrupted time series at the action date, then synthetic difference in differences as panels accumulate (Arkhangelsky et al., 2021). The estimator is already built and tested.</a:t>
            </a:r>
            <a:endParaRPr lang="en-US" sz="1250" dirty="0"/>
          </a:p>
          <a:p>
            <a:pPr marL="342900" indent="-342900">
              <a:spcAft>
                <a:spcPts val="700"/>
              </a:spcAft>
              <a:buSzPct val="100000"/>
              <a:buChar char="•"/>
            </a:pPr>
            <a:r>
              <a:rPr lang="en-US" sz="1250" dirty="0">
                <a:solidFill>
                  <a:srgbClr val="1A1A2E"/>
                </a:solidFill>
                <a:latin typeface="Calibri" pitchFamily="34" charset="0"/>
                <a:ea typeface="Calibri" pitchFamily="34" charset="-122"/>
                <a:cs typeface="Calibri" pitchFamily="34" charset="-120"/>
              </a:rPr>
              <a:t>The practitioner study. Twelve to fifteen interviews and task sessions, with the survey for breadth.</a:t>
            </a:r>
            <a:endParaRPr lang="en-US" sz="1250" dirty="0"/>
          </a:p>
          <a:p>
            <a:pPr marL="342900" indent="-342900">
              <a:spcAft>
                <a:spcPts val="700"/>
              </a:spcAft>
              <a:buSzPct val="100000"/>
              <a:buChar char="•"/>
            </a:pPr>
            <a:r>
              <a:rPr lang="en-US" sz="1250" dirty="0">
                <a:solidFill>
                  <a:srgbClr val="1A1A2E"/>
                </a:solidFill>
                <a:latin typeface="Calibri" pitchFamily="34" charset="0"/>
                <a:ea typeface="Calibri" pitchFamily="34" charset="-122"/>
                <a:cs typeface="Calibri" pitchFamily="34" charset="-120"/>
              </a:rPr>
              <a:t>A second annotator on a stratified sample of the gold set, which produces the missing kappa.</a:t>
            </a:r>
            <a:endParaRPr lang="en-US" sz="1250" dirty="0"/>
          </a:p>
          <a:p>
            <a:pPr marL="342900" indent="-342900">
              <a:spcAft>
                <a:spcPts val="700"/>
              </a:spcAft>
              <a:buSzPct val="100000"/>
              <a:buChar char="•"/>
            </a:pPr>
            <a:r>
              <a:rPr lang="en-US" sz="1250" dirty="0">
                <a:solidFill>
                  <a:srgbClr val="1A1A2E"/>
                </a:solidFill>
                <a:latin typeface="Calibri" pitchFamily="34" charset="0"/>
                <a:ea typeface="Calibri" pitchFamily="34" charset="-122"/>
                <a:cs typeface="Calibri" pitchFamily="34" charset="-120"/>
              </a:rPr>
              <a:t>Score theme and recommended action by the semantic agreement procedure, closing the last two of six gold fields.</a:t>
            </a:r>
            <a:endParaRPr lang="en-US" sz="1250" dirty="0"/>
          </a:p>
          <a:p>
            <a:pPr marL="342900" indent="-342900">
              <a:spcAft>
                <a:spcPts val="700"/>
              </a:spcAft>
              <a:buSzPct val="100000"/>
              <a:buChar char="•"/>
            </a:pPr>
            <a:r>
              <a:rPr lang="en-US" sz="1250" dirty="0">
                <a:solidFill>
                  <a:srgbClr val="1A1A2E"/>
                </a:solidFill>
                <a:latin typeface="Calibri" pitchFamily="34" charset="0"/>
                <a:ea typeface="Calibri" pitchFamily="34" charset="-122"/>
                <a:cs typeface="Calibri" pitchFamily="34" charset="-120"/>
              </a:rPr>
              <a:t>Score routing in the free-form production condition, so the numbers describe the deployed system.</a:t>
            </a:r>
            <a:endParaRPr lang="en-US" sz="1250" dirty="0"/>
          </a:p>
          <a:p>
            <a:pPr marL="342900" indent="-342900">
              <a:spcAft>
                <a:spcPts val="700"/>
              </a:spcAft>
              <a:buSzPct val="100000"/>
              <a:buChar char="•"/>
            </a:pPr>
            <a:r>
              <a:rPr lang="en-US" sz="1250" dirty="0">
                <a:solidFill>
                  <a:srgbClr val="1A1A2E"/>
                </a:solidFill>
                <a:latin typeface="Calibri" pitchFamily="34" charset="0"/>
                <a:ea typeface="Calibri" pitchFamily="34" charset="-122"/>
                <a:cs typeface="Calibri" pitchFamily="34" charset="-120"/>
              </a:rPr>
              <a:t>Relabel the new multi-market data to gold standard, which would break the language and sector confound.</a:t>
            </a:r>
            <a:endParaRPr lang="en-US" sz="12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11430000" y="6382512"/>
            <a:ext cx="457200" cy="256032"/>
          </a:xfrm>
          <a:prstGeom prst="rect">
            <a:avLst/>
          </a:prstGeom>
          <a:noFill/>
          <a:ln/>
        </p:spPr>
        <p:txBody>
          <a:bodyPr wrap="square" lIns="0" tIns="0" rIns="0" bIns="0" rtlCol="0" anchor="ctr"/>
          <a:lstStyle/>
          <a:p>
            <a:pPr algn="r" indent="0" marL="0">
              <a:buNone/>
            </a:pPr>
            <a:r>
              <a:rPr lang="en-US" sz="1100" dirty="0">
                <a:solidFill>
                  <a:srgbClr val="5A6478"/>
                </a:solidFill>
                <a:latin typeface="Calibri" pitchFamily="34" charset="0"/>
                <a:ea typeface="Calibri" pitchFamily="34" charset="-122"/>
                <a:cs typeface="Calibri" pitchFamily="34" charset="-120"/>
              </a:rPr>
              <a:t>17</a:t>
            </a:r>
            <a:endParaRPr lang="en-US" sz="1100" dirty="0"/>
          </a:p>
        </p:txBody>
      </p:sp>
      <p:sp>
        <p:nvSpPr>
          <p:cNvPr id="3" name="Text 1"/>
          <p:cNvSpPr/>
          <p:nvPr/>
        </p:nvSpPr>
        <p:spPr>
          <a:xfrm>
            <a:off x="548640" y="292608"/>
            <a:ext cx="11064240" cy="694944"/>
          </a:xfrm>
          <a:prstGeom prst="rect">
            <a:avLst/>
          </a:prstGeom>
          <a:noFill/>
          <a:ln/>
        </p:spPr>
        <p:txBody>
          <a:bodyPr wrap="square" rtlCol="0" anchor="ctr"/>
          <a:lstStyle/>
          <a:p>
            <a:pPr indent="0" marL="0">
              <a:buNone/>
            </a:pPr>
            <a:r>
              <a:rPr lang="en-US" sz="3000" b="1" dirty="0">
                <a:solidFill>
                  <a:srgbClr val="1A1A2E"/>
                </a:solidFill>
                <a:latin typeface="Cambria" pitchFamily="34" charset="0"/>
                <a:ea typeface="Cambria" pitchFamily="34" charset="-122"/>
                <a:cs typeface="Cambria" pitchFamily="34" charset="-120"/>
              </a:rPr>
              <a:t>Questions for you</a:t>
            </a:r>
            <a:endParaRPr lang="en-US" sz="3000" dirty="0"/>
          </a:p>
        </p:txBody>
      </p:sp>
      <p:sp>
        <p:nvSpPr>
          <p:cNvPr id="4" name="Text 2"/>
          <p:cNvSpPr/>
          <p:nvPr/>
        </p:nvSpPr>
        <p:spPr>
          <a:xfrm>
            <a:off x="548640" y="914400"/>
            <a:ext cx="11064240" cy="365760"/>
          </a:xfrm>
          <a:prstGeom prst="rect">
            <a:avLst/>
          </a:prstGeom>
          <a:noFill/>
          <a:ln/>
        </p:spPr>
        <p:txBody>
          <a:bodyPr wrap="square" rtlCol="0" anchor="ctr"/>
          <a:lstStyle/>
          <a:p>
            <a:pPr indent="0" marL="0">
              <a:buNone/>
            </a:pPr>
            <a:r>
              <a:rPr lang="en-US" sz="1500" dirty="0">
                <a:solidFill>
                  <a:srgbClr val="5A6478"/>
                </a:solidFill>
                <a:latin typeface="Calibri" pitchFamily="34" charset="0"/>
                <a:ea typeface="Calibri" pitchFamily="34" charset="-122"/>
                <a:cs typeface="Calibri" pitchFamily="34" charset="-120"/>
              </a:rPr>
              <a:t>Six decisions I would rather take with you than guess at</a:t>
            </a:r>
            <a:endParaRPr lang="en-US" sz="1500" dirty="0"/>
          </a:p>
        </p:txBody>
      </p:sp>
      <p:sp>
        <p:nvSpPr>
          <p:cNvPr id="5" name="Shape 3"/>
          <p:cNvSpPr/>
          <p:nvPr/>
        </p:nvSpPr>
        <p:spPr>
          <a:xfrm>
            <a:off x="548640" y="1371600"/>
            <a:ext cx="5440680" cy="1536192"/>
          </a:xfrm>
          <a:prstGeom prst="roundRect">
            <a:avLst>
              <a:gd name="adj" fmla="val 3571"/>
            </a:avLst>
          </a:prstGeom>
          <a:solidFill>
            <a:srgbClr val="F4F7FC"/>
          </a:solidFill>
          <a:ln w="12700">
            <a:solidFill>
              <a:srgbClr val="CADCFC"/>
            </a:solidFill>
            <a:prstDash val="solid"/>
          </a:ln>
        </p:spPr>
      </p:sp>
      <p:sp>
        <p:nvSpPr>
          <p:cNvPr id="6" name="Text 4"/>
          <p:cNvSpPr/>
          <p:nvPr/>
        </p:nvSpPr>
        <p:spPr>
          <a:xfrm>
            <a:off x="713232" y="1463040"/>
            <a:ext cx="5111496" cy="274320"/>
          </a:xfrm>
          <a:prstGeom prst="rect">
            <a:avLst/>
          </a:prstGeom>
          <a:noFill/>
          <a:ln/>
        </p:spPr>
        <p:txBody>
          <a:bodyPr wrap="square" lIns="0" tIns="0" rIns="0" bIns="0"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1. The ethics step</a:t>
            </a:r>
            <a:endParaRPr lang="en-US" sz="1450" dirty="0"/>
          </a:p>
        </p:txBody>
      </p:sp>
      <p:sp>
        <p:nvSpPr>
          <p:cNvPr id="7" name="Text 5"/>
          <p:cNvSpPr/>
          <p:nvPr/>
        </p:nvSpPr>
        <p:spPr>
          <a:xfrm>
            <a:off x="713232" y="1755648"/>
            <a:ext cx="5111496" cy="1042416"/>
          </a:xfrm>
          <a:prstGeom prst="rect">
            <a:avLst/>
          </a:prstGeom>
          <a:noFill/>
          <a:ln/>
        </p:spPr>
        <p:txBody>
          <a:bodyPr wrap="square" lIns="0" tIns="0" rIns="0" bIns="0" rtlCol="0" anchor="ctr"/>
          <a:lstStyle/>
          <a:p>
            <a:pPr indent="0" marL="0">
              <a:buNone/>
            </a:pPr>
            <a:r>
              <a:rPr lang="en-US" sz="1200" dirty="0">
                <a:solidFill>
                  <a:srgbClr val="1A1A2E"/>
                </a:solidFill>
                <a:latin typeface="Calibri" pitchFamily="34" charset="0"/>
                <a:ea typeface="Calibri" pitchFamily="34" charset="-122"/>
                <a:cs typeface="Calibri" pitchFamily="34" charset="-120"/>
              </a:rPr>
              <a:t>Section 3.9 of my methodology already says the study runs under OPIT ethics expectations confirmed with you. My consent sheet is still headed draft and still tells me to check with you first. One of those has to change. Is there a required OPIT template, or is your confirmation the step, and may I record it as such?</a:t>
            </a:r>
            <a:endParaRPr lang="en-US" sz="1200" dirty="0"/>
          </a:p>
        </p:txBody>
      </p:sp>
      <p:sp>
        <p:nvSpPr>
          <p:cNvPr id="8" name="Shape 6"/>
          <p:cNvSpPr/>
          <p:nvPr/>
        </p:nvSpPr>
        <p:spPr>
          <a:xfrm>
            <a:off x="6172200" y="1371600"/>
            <a:ext cx="5440680" cy="1536192"/>
          </a:xfrm>
          <a:prstGeom prst="roundRect">
            <a:avLst>
              <a:gd name="adj" fmla="val 3571"/>
            </a:avLst>
          </a:prstGeom>
          <a:solidFill>
            <a:srgbClr val="F4F7FC"/>
          </a:solidFill>
          <a:ln w="12700">
            <a:solidFill>
              <a:srgbClr val="CADCFC"/>
            </a:solidFill>
            <a:prstDash val="solid"/>
          </a:ln>
        </p:spPr>
      </p:sp>
      <p:sp>
        <p:nvSpPr>
          <p:cNvPr id="9" name="Text 7"/>
          <p:cNvSpPr/>
          <p:nvPr/>
        </p:nvSpPr>
        <p:spPr>
          <a:xfrm>
            <a:off x="6336792" y="1463040"/>
            <a:ext cx="5111496" cy="274320"/>
          </a:xfrm>
          <a:prstGeom prst="rect">
            <a:avLst/>
          </a:prstGeom>
          <a:noFill/>
          <a:ln/>
        </p:spPr>
        <p:txBody>
          <a:bodyPr wrap="square" lIns="0" tIns="0" rIns="0" bIns="0"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2. Recruitment, and what the survey can carry</a:t>
            </a:r>
            <a:endParaRPr lang="en-US" sz="1450" dirty="0"/>
          </a:p>
        </p:txBody>
      </p:sp>
      <p:sp>
        <p:nvSpPr>
          <p:cNvPr id="10" name="Text 8"/>
          <p:cNvSpPr/>
          <p:nvPr/>
        </p:nvSpPr>
        <p:spPr>
          <a:xfrm>
            <a:off x="6336792" y="1755648"/>
            <a:ext cx="5111496" cy="1042416"/>
          </a:xfrm>
          <a:prstGeom prst="rect">
            <a:avLst/>
          </a:prstGeom>
          <a:noFill/>
          <a:ln/>
        </p:spPr>
        <p:txBody>
          <a:bodyPr wrap="square" lIns="0" tIns="0" rIns="0" bIns="0" rtlCol="0" anchor="ctr"/>
          <a:lstStyle/>
          <a:p>
            <a:pPr indent="0" marL="0">
              <a:buNone/>
            </a:pPr>
            <a:r>
              <a:rPr lang="en-US" sz="1200" dirty="0">
                <a:solidFill>
                  <a:srgbClr val="1A1A2E"/>
                </a:solidFill>
                <a:latin typeface="Calibri" pitchFamily="34" charset="0"/>
                <a:ea typeface="Calibri" pitchFamily="34" charset="-122"/>
                <a:cs typeface="Calibri" pitchFamily="34" charset="-120"/>
              </a:rPr>
              <a:t>Recruitment has not started and nine days of August are left. If twelve to fifteen interviews is not realistic from here, is a survey-led section 5B acceptable with a smaller interview set for depth? And can you open any part of the OPIT network to me?</a:t>
            </a:r>
            <a:endParaRPr lang="en-US" sz="1200" dirty="0"/>
          </a:p>
        </p:txBody>
      </p:sp>
      <p:sp>
        <p:nvSpPr>
          <p:cNvPr id="11" name="Shape 9"/>
          <p:cNvSpPr/>
          <p:nvPr/>
        </p:nvSpPr>
        <p:spPr>
          <a:xfrm>
            <a:off x="548640" y="2962656"/>
            <a:ext cx="5440680" cy="1536192"/>
          </a:xfrm>
          <a:prstGeom prst="roundRect">
            <a:avLst>
              <a:gd name="adj" fmla="val 3571"/>
            </a:avLst>
          </a:prstGeom>
          <a:solidFill>
            <a:srgbClr val="F4F7FC"/>
          </a:solidFill>
          <a:ln w="12700">
            <a:solidFill>
              <a:srgbClr val="CADCFC"/>
            </a:solidFill>
            <a:prstDash val="solid"/>
          </a:ln>
        </p:spPr>
      </p:sp>
      <p:sp>
        <p:nvSpPr>
          <p:cNvPr id="12" name="Text 10"/>
          <p:cNvSpPr/>
          <p:nvPr/>
        </p:nvSpPr>
        <p:spPr>
          <a:xfrm>
            <a:off x="713232" y="3054096"/>
            <a:ext cx="5111496" cy="274320"/>
          </a:xfrm>
          <a:prstGeom prst="rect">
            <a:avLst/>
          </a:prstGeom>
          <a:noFill/>
          <a:ln/>
        </p:spPr>
        <p:txBody>
          <a:bodyPr wrap="square" lIns="0" tIns="0" rIns="0" bIns="0"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3. Scope for the submission</a:t>
            </a:r>
            <a:endParaRPr lang="en-US" sz="1450" dirty="0"/>
          </a:p>
        </p:txBody>
      </p:sp>
      <p:sp>
        <p:nvSpPr>
          <p:cNvPr id="13" name="Text 11"/>
          <p:cNvSpPr/>
          <p:nvPr/>
        </p:nvSpPr>
        <p:spPr>
          <a:xfrm>
            <a:off x="713232" y="3346704"/>
            <a:ext cx="5111496" cy="1042416"/>
          </a:xfrm>
          <a:prstGeom prst="rect">
            <a:avLst/>
          </a:prstGeom>
          <a:noFill/>
          <a:ln/>
        </p:spPr>
        <p:txBody>
          <a:bodyPr wrap="square" lIns="0" tIns="0" rIns="0" bIns="0" rtlCol="0" anchor="ctr"/>
          <a:lstStyle/>
          <a:p>
            <a:pPr indent="0" marL="0">
              <a:buNone/>
            </a:pPr>
            <a:r>
              <a:rPr lang="en-US" sz="1200" dirty="0">
                <a:solidFill>
                  <a:srgbClr val="1A1A2E"/>
                </a:solidFill>
                <a:latin typeface="Calibri" pitchFamily="34" charset="0"/>
                <a:ea typeface="Calibri" pitchFamily="34" charset="-122"/>
                <a:cs typeface="Calibri" pitchFamily="34" charset="-120"/>
              </a:rPr>
              <a:t>Of what is left, interviews, one live outcome measurement, a second annotator for the missing kappa, semantic scoring of two gold fields and free-form routing, which do you consider required and which is honest future work?</a:t>
            </a:r>
            <a:endParaRPr lang="en-US" sz="1200" dirty="0"/>
          </a:p>
        </p:txBody>
      </p:sp>
      <p:sp>
        <p:nvSpPr>
          <p:cNvPr id="14" name="Shape 12"/>
          <p:cNvSpPr/>
          <p:nvPr/>
        </p:nvSpPr>
        <p:spPr>
          <a:xfrm>
            <a:off x="6172200" y="2962656"/>
            <a:ext cx="5440680" cy="1536192"/>
          </a:xfrm>
          <a:prstGeom prst="roundRect">
            <a:avLst>
              <a:gd name="adj" fmla="val 3571"/>
            </a:avLst>
          </a:prstGeom>
          <a:solidFill>
            <a:srgbClr val="F4F7FC"/>
          </a:solidFill>
          <a:ln w="12700">
            <a:solidFill>
              <a:srgbClr val="CADCFC"/>
            </a:solidFill>
            <a:prstDash val="solid"/>
          </a:ln>
        </p:spPr>
      </p:sp>
      <p:sp>
        <p:nvSpPr>
          <p:cNvPr id="15" name="Text 13"/>
          <p:cNvSpPr/>
          <p:nvPr/>
        </p:nvSpPr>
        <p:spPr>
          <a:xfrm>
            <a:off x="6336792" y="3054096"/>
            <a:ext cx="5111496" cy="274320"/>
          </a:xfrm>
          <a:prstGeom prst="rect">
            <a:avLst/>
          </a:prstGeom>
          <a:noFill/>
          <a:ln/>
        </p:spPr>
        <p:txBody>
          <a:bodyPr wrap="square" lIns="0" tIns="0" rIns="0" bIns="0"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4. Simulated outcomes</a:t>
            </a:r>
            <a:endParaRPr lang="en-US" sz="1450" dirty="0"/>
          </a:p>
        </p:txBody>
      </p:sp>
      <p:sp>
        <p:nvSpPr>
          <p:cNvPr id="16" name="Text 14"/>
          <p:cNvSpPr/>
          <p:nvPr/>
        </p:nvSpPr>
        <p:spPr>
          <a:xfrm>
            <a:off x="6336792" y="3346704"/>
            <a:ext cx="5111496" cy="1042416"/>
          </a:xfrm>
          <a:prstGeom prst="rect">
            <a:avLst/>
          </a:prstGeom>
          <a:noFill/>
          <a:ln/>
        </p:spPr>
        <p:txBody>
          <a:bodyPr wrap="square" lIns="0" tIns="0" rIns="0" bIns="0" rtlCol="0" anchor="ctr"/>
          <a:lstStyle/>
          <a:p>
            <a:pPr indent="0" marL="0">
              <a:buNone/>
            </a:pPr>
            <a:r>
              <a:rPr lang="en-US" sz="1200" dirty="0">
                <a:solidFill>
                  <a:srgbClr val="1A1A2E"/>
                </a:solidFill>
                <a:latin typeface="Calibri" pitchFamily="34" charset="0"/>
                <a:ea typeface="Calibri" pitchFamily="34" charset="-122"/>
                <a:cs typeface="Calibri" pitchFamily="34" charset="-120"/>
              </a:rPr>
              <a:t>Section 6.5 still calls one live outcome contract the most important next step. Is the thesis defensible with the contract demonstrated and perceived but not measured, or do I force one small live measurement in at the cost of interview time?</a:t>
            </a:r>
            <a:endParaRPr lang="en-US" sz="1200" dirty="0"/>
          </a:p>
        </p:txBody>
      </p:sp>
      <p:sp>
        <p:nvSpPr>
          <p:cNvPr id="17" name="Shape 15"/>
          <p:cNvSpPr/>
          <p:nvPr/>
        </p:nvSpPr>
        <p:spPr>
          <a:xfrm>
            <a:off x="548640" y="4553712"/>
            <a:ext cx="5440680" cy="1536192"/>
          </a:xfrm>
          <a:prstGeom prst="roundRect">
            <a:avLst>
              <a:gd name="adj" fmla="val 3571"/>
            </a:avLst>
          </a:prstGeom>
          <a:solidFill>
            <a:srgbClr val="F4F7FC"/>
          </a:solidFill>
          <a:ln w="12700">
            <a:solidFill>
              <a:srgbClr val="CADCFC"/>
            </a:solidFill>
            <a:prstDash val="solid"/>
          </a:ln>
        </p:spPr>
      </p:sp>
      <p:sp>
        <p:nvSpPr>
          <p:cNvPr id="18" name="Text 16"/>
          <p:cNvSpPr/>
          <p:nvPr/>
        </p:nvSpPr>
        <p:spPr>
          <a:xfrm>
            <a:off x="713232" y="4645152"/>
            <a:ext cx="5111496" cy="274320"/>
          </a:xfrm>
          <a:prstGeom prst="rect">
            <a:avLst/>
          </a:prstGeom>
          <a:noFill/>
          <a:ln/>
        </p:spPr>
        <p:txBody>
          <a:bodyPr wrap="square" lIns="0" tIns="0" rIns="0" bIns="0"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5. Does RQ3b stand on its own</a:t>
            </a:r>
            <a:endParaRPr lang="en-US" sz="1450" dirty="0"/>
          </a:p>
        </p:txBody>
      </p:sp>
      <p:sp>
        <p:nvSpPr>
          <p:cNvPr id="19" name="Text 17"/>
          <p:cNvSpPr/>
          <p:nvPr/>
        </p:nvSpPr>
        <p:spPr>
          <a:xfrm>
            <a:off x="713232" y="4937760"/>
            <a:ext cx="5111496" cy="1042416"/>
          </a:xfrm>
          <a:prstGeom prst="rect">
            <a:avLst/>
          </a:prstGeom>
          <a:noFill/>
          <a:ln/>
        </p:spPr>
        <p:txBody>
          <a:bodyPr wrap="square" lIns="0" tIns="0" rIns="0" bIns="0" rtlCol="0" anchor="ctr"/>
          <a:lstStyle/>
          <a:p>
            <a:pPr indent="0" marL="0">
              <a:buNone/>
            </a:pPr>
            <a:r>
              <a:rPr lang="en-US" sz="1200" dirty="0">
                <a:solidFill>
                  <a:srgbClr val="1A1A2E"/>
                </a:solidFill>
                <a:latin typeface="Calibri" pitchFamily="34" charset="0"/>
                <a:ea typeface="Calibri" pitchFamily="34" charset="-122"/>
                <a:cs typeface="Calibri" pitchFamily="34" charset="-120"/>
              </a:rPr>
              <a:t>The learned model now carries a 32.6 point gap of its own, which answers the strawman objection, and the German-source stratum is still eight signals. Is that enough as written, or do I need natural German-language data first? That decides whether relabelling the new corpora is required work.</a:t>
            </a:r>
            <a:endParaRPr lang="en-US" sz="1200" dirty="0"/>
          </a:p>
        </p:txBody>
      </p:sp>
      <p:sp>
        <p:nvSpPr>
          <p:cNvPr id="20" name="Shape 18"/>
          <p:cNvSpPr/>
          <p:nvPr/>
        </p:nvSpPr>
        <p:spPr>
          <a:xfrm>
            <a:off x="6172200" y="4553712"/>
            <a:ext cx="5440680" cy="1536192"/>
          </a:xfrm>
          <a:prstGeom prst="roundRect">
            <a:avLst>
              <a:gd name="adj" fmla="val 3571"/>
            </a:avLst>
          </a:prstGeom>
          <a:solidFill>
            <a:srgbClr val="F4F7FC"/>
          </a:solidFill>
          <a:ln w="12700">
            <a:solidFill>
              <a:srgbClr val="CADCFC"/>
            </a:solidFill>
            <a:prstDash val="solid"/>
          </a:ln>
        </p:spPr>
      </p:sp>
      <p:sp>
        <p:nvSpPr>
          <p:cNvPr id="21" name="Text 19"/>
          <p:cNvSpPr/>
          <p:nvPr/>
        </p:nvSpPr>
        <p:spPr>
          <a:xfrm>
            <a:off x="6336792" y="4645152"/>
            <a:ext cx="5111496" cy="274320"/>
          </a:xfrm>
          <a:prstGeom prst="rect">
            <a:avLst/>
          </a:prstGeom>
          <a:noFill/>
          <a:ln/>
        </p:spPr>
        <p:txBody>
          <a:bodyPr wrap="square" lIns="0" tIns="0" rIns="0" bIns="0"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6. Where the methodology review belongs</a:t>
            </a:r>
            <a:endParaRPr lang="en-US" sz="1450" dirty="0"/>
          </a:p>
        </p:txBody>
      </p:sp>
      <p:sp>
        <p:nvSpPr>
          <p:cNvPr id="22" name="Text 20"/>
          <p:cNvSpPr/>
          <p:nvPr/>
        </p:nvSpPr>
        <p:spPr>
          <a:xfrm>
            <a:off x="6336792" y="4937760"/>
            <a:ext cx="5111496" cy="1042416"/>
          </a:xfrm>
          <a:prstGeom prst="rect">
            <a:avLst/>
          </a:prstGeom>
          <a:noFill/>
          <a:ln/>
        </p:spPr>
        <p:txBody>
          <a:bodyPr wrap="square" lIns="0" tIns="0" rIns="0" bIns="0" rtlCol="0" anchor="ctr"/>
          <a:lstStyle/>
          <a:p>
            <a:pPr indent="0" marL="0">
              <a:buNone/>
            </a:pPr>
            <a:r>
              <a:rPr lang="en-US" sz="1200" dirty="0">
                <a:solidFill>
                  <a:srgbClr val="1A1A2E"/>
                </a:solidFill>
                <a:latin typeface="Calibri" pitchFamily="34" charset="0"/>
                <a:ea typeface="Calibri" pitchFamily="34" charset="-122"/>
                <a:cs typeface="Calibri" pitchFamily="34" charset="-120"/>
              </a:rPr>
              <a:t>An independent statistics and ML review produced eleven findings, all ten recommendations shipped, and none of it is written up in the thesis. The same is true of the three new corpora. Section 5A, an appendix, or the repository only?</a:t>
            </a:r>
            <a:endParaRPr lang="en-US" sz="1200" dirty="0"/>
          </a:p>
        </p:txBody>
      </p:sp>
      <p:sp>
        <p:nvSpPr>
          <p:cNvPr id="23" name="Text 21"/>
          <p:cNvSpPr/>
          <p:nvPr/>
        </p:nvSpPr>
        <p:spPr>
          <a:xfrm>
            <a:off x="548640" y="6199632"/>
            <a:ext cx="11064240" cy="457200"/>
          </a:xfrm>
          <a:prstGeom prst="rect">
            <a:avLst/>
          </a:prstGeom>
          <a:noFill/>
          <a:ln/>
        </p:spPr>
        <p:txBody>
          <a:bodyPr wrap="square"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If we only get through three, they are one, two and three. I also need two dates: your realistic review turnaround on a compiled draft, and the thesis IP letter that is due on 31 August.</a:t>
            </a:r>
            <a:endParaRPr lang="en-US" sz="13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822960" y="2651760"/>
            <a:ext cx="10515600" cy="822960"/>
          </a:xfrm>
          <a:prstGeom prst="rect">
            <a:avLst/>
          </a:prstGeom>
          <a:noFill/>
          <a:ln/>
        </p:spPr>
        <p:txBody>
          <a:bodyPr wrap="square"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Backup</a:t>
            </a:r>
            <a:endParaRPr lang="en-US" sz="4000" dirty="0"/>
          </a:p>
        </p:txBody>
      </p:sp>
      <p:sp>
        <p:nvSpPr>
          <p:cNvPr id="3" name="Text 1"/>
          <p:cNvSpPr/>
          <p:nvPr/>
        </p:nvSpPr>
        <p:spPr>
          <a:xfrm>
            <a:off x="822960" y="3520440"/>
            <a:ext cx="10515600" cy="731520"/>
          </a:xfrm>
          <a:prstGeom prst="rect">
            <a:avLst/>
          </a:prstGeom>
          <a:noFill/>
          <a:ln/>
        </p:spPr>
        <p:txBody>
          <a:bodyPr wrap="square" rtlCol="0" anchor="ctr"/>
          <a:lstStyle/>
          <a:p>
            <a:pPr indent="0" marL="0">
              <a:buNone/>
            </a:pPr>
            <a:r>
              <a:rPr lang="en-US" sz="1700" dirty="0">
                <a:solidFill>
                  <a:srgbClr val="CADCFC"/>
                </a:solidFill>
                <a:latin typeface="Calibri" pitchFamily="34" charset="0"/>
                <a:ea typeface="Calibri" pitchFamily="34" charset="-122"/>
                <a:cs typeface="Calibri" pitchFamily="34" charset="-120"/>
              </a:rPr>
              <a:t>The problem  ·  Evaluation design  ·  System architecture  ·  The loop in motion  ·  Data model  ·  Design decisions  ·  Where this sits</a:t>
            </a:r>
            <a:endParaRPr lang="en-US" sz="17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11430000" y="6382512"/>
            <a:ext cx="457200" cy="256032"/>
          </a:xfrm>
          <a:prstGeom prst="rect">
            <a:avLst/>
          </a:prstGeom>
          <a:noFill/>
          <a:ln/>
        </p:spPr>
        <p:txBody>
          <a:bodyPr wrap="square" lIns="0" tIns="0" rIns="0" bIns="0" rtlCol="0" anchor="ctr"/>
          <a:lstStyle/>
          <a:p>
            <a:pPr algn="r" indent="0" marL="0">
              <a:buNone/>
            </a:pPr>
            <a:r>
              <a:rPr lang="en-US" sz="1100" dirty="0">
                <a:solidFill>
                  <a:srgbClr val="5A6478"/>
                </a:solidFill>
                <a:latin typeface="Calibri" pitchFamily="34" charset="0"/>
                <a:ea typeface="Calibri" pitchFamily="34" charset="-122"/>
                <a:cs typeface="Calibri" pitchFamily="34" charset="-120"/>
              </a:rPr>
              <a:t>19</a:t>
            </a:r>
            <a:endParaRPr lang="en-US" sz="1100" dirty="0"/>
          </a:p>
        </p:txBody>
      </p:sp>
      <p:sp>
        <p:nvSpPr>
          <p:cNvPr id="3" name="Text 1"/>
          <p:cNvSpPr/>
          <p:nvPr/>
        </p:nvSpPr>
        <p:spPr>
          <a:xfrm>
            <a:off x="548640" y="292608"/>
            <a:ext cx="11064240" cy="694944"/>
          </a:xfrm>
          <a:prstGeom prst="rect">
            <a:avLst/>
          </a:prstGeom>
          <a:noFill/>
          <a:ln/>
        </p:spPr>
        <p:txBody>
          <a:bodyPr wrap="square" rtlCol="0" anchor="ctr"/>
          <a:lstStyle/>
          <a:p>
            <a:pPr indent="0" marL="0">
              <a:buNone/>
            </a:pPr>
            <a:r>
              <a:rPr lang="en-US" sz="3000" b="1" dirty="0">
                <a:solidFill>
                  <a:srgbClr val="1A1A2E"/>
                </a:solidFill>
                <a:latin typeface="Cambria" pitchFamily="34" charset="0"/>
                <a:ea typeface="Cambria" pitchFamily="34" charset="-122"/>
                <a:cs typeface="Cambria" pitchFamily="34" charset="-120"/>
              </a:rPr>
              <a:t>Feedback is collected, and then it stops</a:t>
            </a:r>
            <a:endParaRPr lang="en-US" sz="3000" dirty="0"/>
          </a:p>
        </p:txBody>
      </p:sp>
      <p:sp>
        <p:nvSpPr>
          <p:cNvPr id="4" name="Text 2"/>
          <p:cNvSpPr/>
          <p:nvPr/>
        </p:nvSpPr>
        <p:spPr>
          <a:xfrm>
            <a:off x="548640" y="914400"/>
            <a:ext cx="11064240" cy="365760"/>
          </a:xfrm>
          <a:prstGeom prst="rect">
            <a:avLst/>
          </a:prstGeom>
          <a:noFill/>
          <a:ln/>
        </p:spPr>
        <p:txBody>
          <a:bodyPr wrap="square" rtlCol="0" anchor="ctr"/>
          <a:lstStyle/>
          <a:p>
            <a:pPr indent="0" marL="0">
              <a:buNone/>
            </a:pPr>
            <a:r>
              <a:rPr lang="en-US" sz="1500" dirty="0">
                <a:solidFill>
                  <a:srgbClr val="5A6478"/>
                </a:solidFill>
                <a:latin typeface="Calibri" pitchFamily="34" charset="0"/>
                <a:ea typeface="Calibri" pitchFamily="34" charset="-122"/>
                <a:cs typeface="Calibri" pitchFamily="34" charset="-120"/>
              </a:rPr>
              <a:t>Three failures the design has to answer</a:t>
            </a:r>
            <a:endParaRPr lang="en-US" sz="1500" dirty="0"/>
          </a:p>
        </p:txBody>
      </p:sp>
      <p:sp>
        <p:nvSpPr>
          <p:cNvPr id="5" name="Shape 3"/>
          <p:cNvSpPr/>
          <p:nvPr/>
        </p:nvSpPr>
        <p:spPr>
          <a:xfrm>
            <a:off x="548640" y="1417320"/>
            <a:ext cx="3593592" cy="2011680"/>
          </a:xfrm>
          <a:prstGeom prst="roundRect">
            <a:avLst>
              <a:gd name="adj" fmla="val 2727"/>
            </a:avLst>
          </a:prstGeom>
          <a:solidFill>
            <a:srgbClr val="F4F7FC"/>
          </a:solidFill>
          <a:ln w="12700">
            <a:solidFill>
              <a:srgbClr val="CADCFC"/>
            </a:solidFill>
            <a:prstDash val="solid"/>
          </a:ln>
        </p:spPr>
      </p:sp>
      <p:sp>
        <p:nvSpPr>
          <p:cNvPr id="6" name="Text 4"/>
          <p:cNvSpPr/>
          <p:nvPr/>
        </p:nvSpPr>
        <p:spPr>
          <a:xfrm>
            <a:off x="713232" y="1508760"/>
            <a:ext cx="3264408" cy="274320"/>
          </a:xfrm>
          <a:prstGeom prst="rect">
            <a:avLst/>
          </a:prstGeom>
          <a:noFill/>
          <a:ln/>
        </p:spPr>
        <p:txBody>
          <a:bodyPr wrap="square" lIns="0" tIns="0" rIns="0" bIns="0"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Closing the loop is the weak link</a:t>
            </a:r>
            <a:endParaRPr lang="en-US" sz="1450" dirty="0"/>
          </a:p>
        </p:txBody>
      </p:sp>
      <p:sp>
        <p:nvSpPr>
          <p:cNvPr id="7" name="Text 5"/>
          <p:cNvSpPr/>
          <p:nvPr/>
        </p:nvSpPr>
        <p:spPr>
          <a:xfrm>
            <a:off x="713232" y="1801368"/>
            <a:ext cx="3264408" cy="1517904"/>
          </a:xfrm>
          <a:prstGeom prst="rect">
            <a:avLst/>
          </a:prstGeom>
          <a:noFill/>
          <a:ln/>
        </p:spPr>
        <p:txBody>
          <a:bodyPr wrap="square" lIns="0" tIns="0" rIns="0" bIns="0" rtlCol="0" anchor="ctr"/>
          <a:lstStyle/>
          <a:p>
            <a:pPr indent="0" marL="0">
              <a:buNone/>
            </a:pPr>
            <a:r>
              <a:rPr lang="en-US" sz="1200" dirty="0">
                <a:solidFill>
                  <a:srgbClr val="1A1A2E"/>
                </a:solidFill>
                <a:latin typeface="Calibri" pitchFamily="34" charset="0"/>
                <a:ea typeface="Calibri" pitchFamily="34" charset="-122"/>
                <a:cs typeface="Calibri" pitchFamily="34" charset="-120"/>
              </a:rPr>
              <a:t>Forrester's 2025 feedback-management series finds close-the-loop practice promising but ineffective, and the communication of feedback too slow to drive action (Forrester, 2025). Bone et al. (2017) show that how feedback is solicited changes what customers then spend, so collection is not neutral either.</a:t>
            </a:r>
            <a:endParaRPr lang="en-US" sz="1200" dirty="0"/>
          </a:p>
        </p:txBody>
      </p:sp>
      <p:sp>
        <p:nvSpPr>
          <p:cNvPr id="8" name="Shape 6"/>
          <p:cNvSpPr/>
          <p:nvPr/>
        </p:nvSpPr>
        <p:spPr>
          <a:xfrm>
            <a:off x="4279392" y="1417320"/>
            <a:ext cx="3593592" cy="2011680"/>
          </a:xfrm>
          <a:prstGeom prst="roundRect">
            <a:avLst>
              <a:gd name="adj" fmla="val 2727"/>
            </a:avLst>
          </a:prstGeom>
          <a:solidFill>
            <a:srgbClr val="F4F7FC"/>
          </a:solidFill>
          <a:ln w="12700">
            <a:solidFill>
              <a:srgbClr val="CADCFC"/>
            </a:solidFill>
            <a:prstDash val="solid"/>
          </a:ln>
        </p:spPr>
      </p:sp>
      <p:sp>
        <p:nvSpPr>
          <p:cNvPr id="9" name="Text 7"/>
          <p:cNvSpPr/>
          <p:nvPr/>
        </p:nvSpPr>
        <p:spPr>
          <a:xfrm>
            <a:off x="4443984" y="1508760"/>
            <a:ext cx="3264408" cy="274320"/>
          </a:xfrm>
          <a:prstGeom prst="rect">
            <a:avLst/>
          </a:prstGeom>
          <a:noFill/>
          <a:ln/>
        </p:spPr>
        <p:txBody>
          <a:bodyPr wrap="square" lIns="0" tIns="0" rIns="0" bIns="0"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Acting can make it worse</a:t>
            </a:r>
            <a:endParaRPr lang="en-US" sz="1450" dirty="0"/>
          </a:p>
        </p:txBody>
      </p:sp>
      <p:sp>
        <p:nvSpPr>
          <p:cNvPr id="10" name="Text 8"/>
          <p:cNvSpPr/>
          <p:nvPr/>
        </p:nvSpPr>
        <p:spPr>
          <a:xfrm>
            <a:off x="4443984" y="1801368"/>
            <a:ext cx="3264408" cy="1517904"/>
          </a:xfrm>
          <a:prstGeom prst="rect">
            <a:avLst/>
          </a:prstGeom>
          <a:noFill/>
          <a:ln/>
        </p:spPr>
        <p:txBody>
          <a:bodyPr wrap="square" lIns="0" tIns="0" rIns="0" bIns="0" rtlCol="0" anchor="ctr"/>
          <a:lstStyle/>
          <a:p>
            <a:pPr indent="0" marL="0">
              <a:buNone/>
            </a:pPr>
            <a:r>
              <a:rPr lang="en-US" sz="1200" dirty="0">
                <a:solidFill>
                  <a:srgbClr val="1A1A2E"/>
                </a:solidFill>
                <a:latin typeface="Calibri" pitchFamily="34" charset="0"/>
                <a:ea typeface="Calibri" pitchFamily="34" charset="-122"/>
                <a:cs typeface="Calibri" pitchFamily="34" charset="-120"/>
              </a:rPr>
              <a:t>A field experiment with about 1.5 million Uber customers. Apologies alone did not restore spending, and repeated apologies reduced it (Halperin et al., 2022). Action taken is not the same as problem solved.</a:t>
            </a:r>
            <a:endParaRPr lang="en-US" sz="1200" dirty="0"/>
          </a:p>
        </p:txBody>
      </p:sp>
      <p:sp>
        <p:nvSpPr>
          <p:cNvPr id="11" name="Shape 9"/>
          <p:cNvSpPr/>
          <p:nvPr/>
        </p:nvSpPr>
        <p:spPr>
          <a:xfrm>
            <a:off x="8010144" y="1417320"/>
            <a:ext cx="3602736" cy="2011680"/>
          </a:xfrm>
          <a:prstGeom prst="roundRect">
            <a:avLst>
              <a:gd name="adj" fmla="val 2727"/>
            </a:avLst>
          </a:prstGeom>
          <a:solidFill>
            <a:srgbClr val="F4F7FC"/>
          </a:solidFill>
          <a:ln w="12700">
            <a:solidFill>
              <a:srgbClr val="CADCFC"/>
            </a:solidFill>
            <a:prstDash val="solid"/>
          </a:ln>
        </p:spPr>
      </p:sp>
      <p:sp>
        <p:nvSpPr>
          <p:cNvPr id="12" name="Text 10"/>
          <p:cNvSpPr/>
          <p:nvPr/>
        </p:nvSpPr>
        <p:spPr>
          <a:xfrm>
            <a:off x="8174736" y="1508760"/>
            <a:ext cx="3273552" cy="274320"/>
          </a:xfrm>
          <a:prstGeom prst="rect">
            <a:avLst/>
          </a:prstGeom>
          <a:noFill/>
          <a:ln/>
        </p:spPr>
        <p:txBody>
          <a:bodyPr wrap="square" lIns="0" tIns="0" rIns="0" bIns="0"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What is learned is forgotten</a:t>
            </a:r>
            <a:endParaRPr lang="en-US" sz="1450" dirty="0"/>
          </a:p>
        </p:txBody>
      </p:sp>
      <p:sp>
        <p:nvSpPr>
          <p:cNvPr id="13" name="Text 11"/>
          <p:cNvSpPr/>
          <p:nvPr/>
        </p:nvSpPr>
        <p:spPr>
          <a:xfrm>
            <a:off x="8174736" y="1801368"/>
            <a:ext cx="3273552" cy="1517904"/>
          </a:xfrm>
          <a:prstGeom prst="rect">
            <a:avLst/>
          </a:prstGeom>
          <a:noFill/>
          <a:ln/>
        </p:spPr>
        <p:txBody>
          <a:bodyPr wrap="square" lIns="0" tIns="0" rIns="0" bIns="0" rtlCol="0" anchor="ctr"/>
          <a:lstStyle/>
          <a:p>
            <a:pPr indent="0" marL="0">
              <a:buNone/>
            </a:pPr>
            <a:r>
              <a:rPr lang="en-US" sz="1200" dirty="0">
                <a:solidFill>
                  <a:srgbClr val="1A1A2E"/>
                </a:solidFill>
                <a:latin typeface="Calibri" pitchFamily="34" charset="0"/>
                <a:ea typeface="Calibri" pitchFamily="34" charset="-122"/>
                <a:cs typeface="Calibri" pitchFamily="34" charset="-120"/>
              </a:rPr>
              <a:t>Organisational memory depreciates (Argote, 2013; Walsh and Ungson, 1991). Teams relearn the same lessons because nothing keeps which remedy worked, or how long ago.</a:t>
            </a:r>
            <a:endParaRPr lang="en-US" sz="1200" dirty="0"/>
          </a:p>
        </p:txBody>
      </p:sp>
      <p:sp>
        <p:nvSpPr>
          <p:cNvPr id="14" name="Text 12"/>
          <p:cNvSpPr/>
          <p:nvPr/>
        </p:nvSpPr>
        <p:spPr>
          <a:xfrm>
            <a:off x="548640" y="3611880"/>
            <a:ext cx="11064240" cy="310896"/>
          </a:xfrm>
          <a:prstGeom prst="rect">
            <a:avLst/>
          </a:prstGeom>
          <a:noFill/>
          <a:ln/>
        </p:spPr>
        <p:txBody>
          <a:bodyPr wrap="square" rtlCol="0" anchor="ctr"/>
          <a:lstStyle/>
          <a:p>
            <a:pPr indent="0" marL="0">
              <a:buNone/>
            </a:pPr>
            <a:r>
              <a:rPr lang="en-US" sz="1700" b="1" dirty="0">
                <a:solidFill>
                  <a:srgbClr val="1E2761"/>
                </a:solidFill>
                <a:latin typeface="Cambria" pitchFamily="34" charset="0"/>
                <a:ea typeface="Cambria" pitchFamily="34" charset="-122"/>
                <a:cs typeface="Cambria" pitchFamily="34" charset="-120"/>
              </a:rPr>
              <a:t>The four deficiencies the artifact targets</a:t>
            </a:r>
            <a:endParaRPr lang="en-US" sz="1700" dirty="0"/>
          </a:p>
        </p:txBody>
      </p:sp>
      <p:sp>
        <p:nvSpPr>
          <p:cNvPr id="15" name="Text 13"/>
          <p:cNvSpPr/>
          <p:nvPr/>
        </p:nvSpPr>
        <p:spPr>
          <a:xfrm>
            <a:off x="731520" y="3977640"/>
            <a:ext cx="5486400" cy="2148840"/>
          </a:xfrm>
          <a:prstGeom prst="rect">
            <a:avLst/>
          </a:prstGeom>
          <a:noFill/>
          <a:ln/>
        </p:spPr>
        <p:txBody>
          <a:bodyPr wrap="square" rtlCol="0" anchor="ctr"/>
          <a:lstStyle/>
          <a:p>
            <a:pPr marL="342900" indent="-342900">
              <a:spcAft>
                <a:spcPts val="700"/>
              </a:spcAft>
              <a:buSzPct val="100000"/>
              <a:buChar char="•"/>
            </a:pPr>
            <a:r>
              <a:rPr lang="en-US" sz="1350" dirty="0">
                <a:solidFill>
                  <a:srgbClr val="1A1A2E"/>
                </a:solidFill>
                <a:latin typeface="Calibri" pitchFamily="34" charset="0"/>
                <a:ea typeface="Calibri" pitchFamily="34" charset="-122"/>
                <a:cs typeface="Calibri" pitchFamily="34" charset="-120"/>
              </a:rPr>
              <a:t>Signal fragmentation. Buyers describe more than a dozen places feedback arrives, with no single priority list.</a:t>
            </a:r>
            <a:endParaRPr lang="en-US" sz="1350" dirty="0"/>
          </a:p>
          <a:p>
            <a:pPr marL="342900" indent="-342900">
              <a:spcAft>
                <a:spcPts val="700"/>
              </a:spcAft>
              <a:buSzPct val="100000"/>
              <a:buChar char="•"/>
            </a:pPr>
            <a:r>
              <a:rPr lang="en-US" sz="1350" dirty="0">
                <a:solidFill>
                  <a:srgbClr val="1A1A2E"/>
                </a:solidFill>
                <a:latin typeface="Calibri" pitchFamily="34" charset="0"/>
                <a:ea typeface="Calibri" pitchFamily="34" charset="-122"/>
                <a:cs typeface="Calibri" pitchFamily="34" charset="-120"/>
              </a:rPr>
              <a:t>The gap from insight to action. No governed path from a finding to an execution.</a:t>
            </a:r>
            <a:endParaRPr lang="en-US" sz="1350" dirty="0"/>
          </a:p>
          <a:p>
            <a:pPr marL="342900" indent="-342900">
              <a:spcAft>
                <a:spcPts val="700"/>
              </a:spcAft>
              <a:buSzPct val="100000"/>
              <a:buChar char="•"/>
            </a:pPr>
            <a:r>
              <a:rPr lang="en-US" sz="1350" dirty="0">
                <a:solidFill>
                  <a:srgbClr val="1A1A2E"/>
                </a:solidFill>
                <a:latin typeface="Calibri" pitchFamily="34" charset="0"/>
                <a:ea typeface="Calibri" pitchFamily="34" charset="-122"/>
                <a:cs typeface="Calibri" pitchFamily="34" charset="-120"/>
              </a:rPr>
              <a:t>Unmeasured closure. Tickets get created, outcomes stay unknown.</a:t>
            </a:r>
            <a:endParaRPr lang="en-US" sz="1350" dirty="0"/>
          </a:p>
          <a:p>
            <a:pPr marL="342900" indent="-342900">
              <a:spcAft>
                <a:spcPts val="700"/>
              </a:spcAft>
              <a:buSzPct val="100000"/>
              <a:buChar char="•"/>
            </a:pPr>
            <a:r>
              <a:rPr lang="en-US" sz="1350" dirty="0">
                <a:solidFill>
                  <a:srgbClr val="1A1A2E"/>
                </a:solidFill>
                <a:latin typeface="Calibri" pitchFamily="34" charset="0"/>
                <a:ea typeface="Calibri" pitchFamily="34" charset="-122"/>
                <a:cs typeface="Calibri" pitchFamily="34" charset="-120"/>
              </a:rPr>
              <a:t>Lost memory. What worked is not retained, and not retrieved when it is needed again.</a:t>
            </a:r>
            <a:endParaRPr lang="en-US" sz="1350" dirty="0"/>
          </a:p>
        </p:txBody>
      </p:sp>
      <p:sp>
        <p:nvSpPr>
          <p:cNvPr id="16" name="Shape 14"/>
          <p:cNvSpPr/>
          <p:nvPr/>
        </p:nvSpPr>
        <p:spPr>
          <a:xfrm>
            <a:off x="6355080" y="3977640"/>
            <a:ext cx="5257800" cy="2011680"/>
          </a:xfrm>
          <a:prstGeom prst="roundRect">
            <a:avLst>
              <a:gd name="adj" fmla="val 2727"/>
            </a:avLst>
          </a:prstGeom>
          <a:solidFill>
            <a:srgbClr val="1E2761"/>
          </a:solidFill>
          <a:ln/>
        </p:spPr>
      </p:sp>
      <p:sp>
        <p:nvSpPr>
          <p:cNvPr id="17" name="Text 15"/>
          <p:cNvSpPr/>
          <p:nvPr/>
        </p:nvSpPr>
        <p:spPr>
          <a:xfrm>
            <a:off x="6556248" y="4087368"/>
            <a:ext cx="4855464" cy="274320"/>
          </a:xfrm>
          <a:prstGeom prst="rect">
            <a:avLst/>
          </a:prstGeom>
          <a:noFill/>
          <a:ln/>
        </p:spPr>
        <p:txBody>
          <a:bodyPr wrap="square" lIns="0" tIns="0" rIns="0" bIns="0" rtlCol="0" anchor="ctr"/>
          <a:lstStyle/>
          <a:p>
            <a:pPr indent="0" marL="0">
              <a:buNone/>
            </a:pPr>
            <a:r>
              <a:rPr lang="en-US" sz="1400" b="1" dirty="0">
                <a:solidFill>
                  <a:srgbClr val="CADCFC"/>
                </a:solidFill>
                <a:latin typeface="Calibri" pitchFamily="34" charset="0"/>
                <a:ea typeface="Calibri" pitchFamily="34" charset="-122"/>
                <a:cs typeface="Calibri" pitchFamily="34" charset="-120"/>
              </a:rPr>
              <a:t>The claim</a:t>
            </a:r>
            <a:endParaRPr lang="en-US" sz="1400" dirty="0"/>
          </a:p>
        </p:txBody>
      </p:sp>
      <p:sp>
        <p:nvSpPr>
          <p:cNvPr id="18" name="Text 16"/>
          <p:cNvSpPr/>
          <p:nvPr/>
        </p:nvSpPr>
        <p:spPr>
          <a:xfrm>
            <a:off x="6556248" y="4398264"/>
            <a:ext cx="4855464" cy="1481328"/>
          </a:xfrm>
          <a:prstGeom prst="rect">
            <a:avLst/>
          </a:prstGeom>
          <a:noFill/>
          <a:ln/>
        </p:spPr>
        <p:txBody>
          <a:bodyPr wrap="square" lIns="0" tIns="0" rIns="0" bIns="0" rtlCol="0" anchor="ctr"/>
          <a:lstStyle/>
          <a:p>
            <a:pPr indent="0" marL="0">
              <a:buNone/>
            </a:pPr>
            <a:r>
              <a:rPr lang="en-US" sz="1550" dirty="0">
                <a:solidFill>
                  <a:srgbClr val="FFFFFF"/>
                </a:solidFill>
                <a:latin typeface="Calibri" pitchFamily="34" charset="0"/>
                <a:ea typeface="Calibri" pitchFamily="34" charset="-122"/>
                <a:cs typeface="Calibri" pitchFamily="34" charset="-120"/>
              </a:rPr>
              <a:t>Closing the loop is a workflow and governance problem rather than an analytics problem. The two missing primitives are a measured outcome contract and a memory that expires.</a:t>
            </a:r>
            <a:endParaRPr lang="en-US" sz="15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11430000" y="6382512"/>
            <a:ext cx="457200" cy="256032"/>
          </a:xfrm>
          <a:prstGeom prst="rect">
            <a:avLst/>
          </a:prstGeom>
          <a:noFill/>
          <a:ln/>
        </p:spPr>
        <p:txBody>
          <a:bodyPr wrap="square" lIns="0" tIns="0" rIns="0" bIns="0" rtlCol="0" anchor="ctr"/>
          <a:lstStyle/>
          <a:p>
            <a:pPr algn="r" indent="0" marL="0">
              <a:buNone/>
            </a:pPr>
            <a:r>
              <a:rPr lang="en-US" sz="1100" dirty="0">
                <a:solidFill>
                  <a:srgbClr val="5A6478"/>
                </a:solidFill>
                <a:latin typeface="Calibri" pitchFamily="34" charset="0"/>
                <a:ea typeface="Calibri" pitchFamily="34" charset="-122"/>
                <a:cs typeface="Calibri" pitchFamily="34" charset="-120"/>
              </a:rPr>
              <a:t>20</a:t>
            </a:r>
            <a:endParaRPr lang="en-US" sz="1100" dirty="0"/>
          </a:p>
        </p:txBody>
      </p:sp>
      <p:sp>
        <p:nvSpPr>
          <p:cNvPr id="3" name="Text 1"/>
          <p:cNvSpPr/>
          <p:nvPr/>
        </p:nvSpPr>
        <p:spPr>
          <a:xfrm>
            <a:off x="548640" y="292608"/>
            <a:ext cx="11064240" cy="694944"/>
          </a:xfrm>
          <a:prstGeom prst="rect">
            <a:avLst/>
          </a:prstGeom>
          <a:noFill/>
          <a:ln/>
        </p:spPr>
        <p:txBody>
          <a:bodyPr wrap="square" rtlCol="0" anchor="ctr"/>
          <a:lstStyle/>
          <a:p>
            <a:pPr indent="0" marL="0">
              <a:buNone/>
            </a:pPr>
            <a:r>
              <a:rPr lang="en-US" sz="3000" b="1" dirty="0">
                <a:solidFill>
                  <a:srgbClr val="1A1A2E"/>
                </a:solidFill>
                <a:latin typeface="Cambria" pitchFamily="34" charset="0"/>
                <a:ea typeface="Cambria" pitchFamily="34" charset="-122"/>
                <a:cs typeface="Cambria" pitchFamily="34" charset="-120"/>
              </a:rPr>
              <a:t>How the evaluation is set up</a:t>
            </a:r>
            <a:endParaRPr lang="en-US" sz="3000" dirty="0"/>
          </a:p>
        </p:txBody>
      </p:sp>
      <p:sp>
        <p:nvSpPr>
          <p:cNvPr id="4" name="Text 2"/>
          <p:cNvSpPr/>
          <p:nvPr/>
        </p:nvSpPr>
        <p:spPr>
          <a:xfrm>
            <a:off x="548640" y="914400"/>
            <a:ext cx="11064240" cy="365760"/>
          </a:xfrm>
          <a:prstGeom prst="rect">
            <a:avLst/>
          </a:prstGeom>
          <a:noFill/>
          <a:ln/>
        </p:spPr>
        <p:txBody>
          <a:bodyPr wrap="square" rtlCol="0" anchor="ctr"/>
          <a:lstStyle/>
          <a:p>
            <a:pPr indent="0" marL="0">
              <a:buNone/>
            </a:pPr>
            <a:r>
              <a:rPr lang="en-US" sz="1500" dirty="0">
                <a:solidFill>
                  <a:srgbClr val="5A6478"/>
                </a:solidFill>
                <a:latin typeface="Calibri" pitchFamily="34" charset="0"/>
                <a:ea typeface="Calibri" pitchFamily="34" charset="-122"/>
                <a:cs typeface="Calibri" pitchFamily="34" charset="-120"/>
              </a:rPr>
              <a:t>Two gold standards, deliberately kept apart</a:t>
            </a:r>
            <a:endParaRPr lang="en-US" sz="1500" dirty="0"/>
          </a:p>
        </p:txBody>
      </p:sp>
      <p:pic>
        <p:nvPicPr>
          <p:cNvPr id="5" name="Image 0" descr="/home/user/CLARA/thesis/diagrams/rendered/07_evaluation_pipeline.png">    </p:cNvPr>
          <p:cNvPicPr>
            <a:picLocks noChangeAspect="1"/>
          </p:cNvPicPr>
          <p:nvPr/>
        </p:nvPicPr>
        <p:blipFill>
          <a:blip r:embed="rId1"/>
          <a:stretch>
            <a:fillRect/>
          </a:stretch>
        </p:blipFill>
        <p:spPr>
          <a:xfrm>
            <a:off x="548640" y="1463040"/>
            <a:ext cx="6400800" cy="2487168"/>
          </a:xfrm>
          <a:prstGeom prst="rect">
            <a:avLst/>
          </a:prstGeom>
        </p:spPr>
      </p:pic>
      <p:sp>
        <p:nvSpPr>
          <p:cNvPr id="6" name="Shape 3"/>
          <p:cNvSpPr/>
          <p:nvPr/>
        </p:nvSpPr>
        <p:spPr>
          <a:xfrm>
            <a:off x="7223760" y="1417320"/>
            <a:ext cx="4389120" cy="2194560"/>
          </a:xfrm>
          <a:prstGeom prst="roundRect">
            <a:avLst>
              <a:gd name="adj" fmla="val 2500"/>
            </a:avLst>
          </a:prstGeom>
          <a:solidFill>
            <a:srgbClr val="F4F7FC"/>
          </a:solidFill>
          <a:ln w="12700">
            <a:solidFill>
              <a:srgbClr val="CADCFC"/>
            </a:solidFill>
            <a:prstDash val="solid"/>
          </a:ln>
        </p:spPr>
      </p:sp>
      <p:sp>
        <p:nvSpPr>
          <p:cNvPr id="7" name="Text 4"/>
          <p:cNvSpPr/>
          <p:nvPr/>
        </p:nvSpPr>
        <p:spPr>
          <a:xfrm>
            <a:off x="7388352" y="1508760"/>
            <a:ext cx="4059936" cy="274320"/>
          </a:xfrm>
          <a:prstGeom prst="rect">
            <a:avLst/>
          </a:prstGeom>
          <a:noFill/>
          <a:ln/>
        </p:spPr>
        <p:txBody>
          <a:bodyPr wrap="square" lIns="0" tIns="0" rIns="0" bIns="0"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The thesis corpus</a:t>
            </a:r>
            <a:endParaRPr lang="en-US" sz="1450" dirty="0"/>
          </a:p>
        </p:txBody>
      </p:sp>
      <p:sp>
        <p:nvSpPr>
          <p:cNvPr id="8" name="Text 5"/>
          <p:cNvSpPr/>
          <p:nvPr/>
        </p:nvSpPr>
        <p:spPr>
          <a:xfrm>
            <a:off x="7388352" y="1801368"/>
            <a:ext cx="4059936" cy="1700784"/>
          </a:xfrm>
          <a:prstGeom prst="rect">
            <a:avLst/>
          </a:prstGeom>
          <a:noFill/>
          <a:ln/>
        </p:spPr>
        <p:txBody>
          <a:bodyPr wrap="square" lIns="0" tIns="0" rIns="0" bIns="0" rtlCol="0" anchor="ctr"/>
          <a:lstStyle/>
          <a:p>
            <a:pPr indent="0" marL="0">
              <a:buNone/>
            </a:pPr>
            <a:r>
              <a:rPr lang="en-US" sz="1300" dirty="0">
                <a:solidFill>
                  <a:srgbClr val="1A1A2E"/>
                </a:solidFill>
                <a:latin typeface="Calibri" pitchFamily="34" charset="0"/>
                <a:ea typeface="Calibri" pitchFamily="34" charset="-122"/>
                <a:cs typeface="Calibri" pitchFamily="34" charset="-120"/>
              </a:rPr>
              <a:t>188 real public signals, paraphrased and de-identified. Fintech 67, food delivery 82, B2B industrial 39. Source language English 102, German 84. Seed labels authored independently of the artifact.</a:t>
            </a:r>
            <a:endParaRPr lang="en-US" sz="1300" dirty="0"/>
          </a:p>
        </p:txBody>
      </p:sp>
      <p:sp>
        <p:nvSpPr>
          <p:cNvPr id="9" name="Shape 6"/>
          <p:cNvSpPr/>
          <p:nvPr/>
        </p:nvSpPr>
        <p:spPr>
          <a:xfrm>
            <a:off x="7223760" y="3749040"/>
            <a:ext cx="4389120" cy="2194560"/>
          </a:xfrm>
          <a:prstGeom prst="roundRect">
            <a:avLst>
              <a:gd name="adj" fmla="val 2500"/>
            </a:avLst>
          </a:prstGeom>
          <a:solidFill>
            <a:srgbClr val="F4F7FC"/>
          </a:solidFill>
          <a:ln w="12700">
            <a:solidFill>
              <a:srgbClr val="CADCFC"/>
            </a:solidFill>
            <a:prstDash val="solid"/>
          </a:ln>
        </p:spPr>
      </p:sp>
      <p:sp>
        <p:nvSpPr>
          <p:cNvPr id="10" name="Text 7"/>
          <p:cNvSpPr/>
          <p:nvPr/>
        </p:nvSpPr>
        <p:spPr>
          <a:xfrm>
            <a:off x="7388352" y="3840480"/>
            <a:ext cx="4059936" cy="274320"/>
          </a:xfrm>
          <a:prstGeom prst="rect">
            <a:avLst/>
          </a:prstGeom>
          <a:noFill/>
          <a:ln/>
        </p:spPr>
        <p:txBody>
          <a:bodyPr wrap="square" lIns="0" tIns="0" rIns="0" bIns="0"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The artifact's own set</a:t>
            </a:r>
            <a:endParaRPr lang="en-US" sz="1450" dirty="0"/>
          </a:p>
        </p:txBody>
      </p:sp>
      <p:sp>
        <p:nvSpPr>
          <p:cNvPr id="11" name="Text 8"/>
          <p:cNvSpPr/>
          <p:nvPr/>
        </p:nvSpPr>
        <p:spPr>
          <a:xfrm>
            <a:off x="7388352" y="4133088"/>
            <a:ext cx="4059936" cy="1700784"/>
          </a:xfrm>
          <a:prstGeom prst="rect">
            <a:avLst/>
          </a:prstGeom>
          <a:noFill/>
          <a:ln/>
        </p:spPr>
        <p:txBody>
          <a:bodyPr wrap="square" lIns="0" tIns="0" rIns="0" bIns="0" rtlCol="0" anchor="ctr"/>
          <a:lstStyle/>
          <a:p>
            <a:pPr indent="0" marL="0">
              <a:buNone/>
            </a:pPr>
            <a:r>
              <a:rPr lang="en-US" sz="1300" dirty="0">
                <a:solidFill>
                  <a:srgbClr val="1A1A2E"/>
                </a:solidFill>
                <a:latin typeface="Calibri" pitchFamily="34" charset="0"/>
                <a:ea typeface="Calibri" pitchFamily="34" charset="-122"/>
                <a:cs typeface="Calibri" pitchFamily="34" charset="-120"/>
              </a:rPr>
              <a:t>100 curated bilingual cases committed in the repository, with published metrics served from the model card. Reported as convergent evidence and never merged into the tables, because the gold standards differ.</a:t>
            </a:r>
            <a:endParaRPr lang="en-US" sz="1300" dirty="0"/>
          </a:p>
        </p:txBody>
      </p:sp>
      <p:sp>
        <p:nvSpPr>
          <p:cNvPr id="12" name="Text 9"/>
          <p:cNvSpPr/>
          <p:nvPr/>
        </p:nvSpPr>
        <p:spPr>
          <a:xfrm>
            <a:off x="548640" y="4206240"/>
            <a:ext cx="6400800" cy="1005840"/>
          </a:xfrm>
          <a:prstGeom prst="rect">
            <a:avLst/>
          </a:prstGeom>
          <a:noFill/>
          <a:ln/>
        </p:spPr>
        <p:txBody>
          <a:bodyPr wrap="square" rtlCol="0" anchor="ctr"/>
          <a:lstStyle/>
          <a:p>
            <a:pPr indent="0" marL="0">
              <a:buNone/>
            </a:pPr>
            <a:r>
              <a:rPr lang="en-US" sz="1350" dirty="0">
                <a:solidFill>
                  <a:srgbClr val="5A6478"/>
                </a:solidFill>
                <a:latin typeface="Calibri" pitchFamily="34" charset="0"/>
                <a:ea typeface="Calibri" pitchFamily="34" charset="-122"/>
                <a:cs typeface="Calibri" pitchFamily="34" charset="-120"/>
              </a:rPr>
              <a:t>Only real data. Synthetic sets are excluded by design. Sentiment is scored against the 1 to 5 star rating, which is independent of the text the classifier reads. Every number is written by a harness that can be re-run, and no metric in this deck was typed by hand.</a:t>
            </a:r>
            <a:endParaRPr lang="en-US" sz="13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11430000" y="6382512"/>
            <a:ext cx="457200" cy="256032"/>
          </a:xfrm>
          <a:prstGeom prst="rect">
            <a:avLst/>
          </a:prstGeom>
          <a:noFill/>
          <a:ln/>
        </p:spPr>
        <p:txBody>
          <a:bodyPr wrap="square" lIns="0" tIns="0" rIns="0" bIns="0" rtlCol="0" anchor="ctr"/>
          <a:lstStyle/>
          <a:p>
            <a:pPr algn="r" indent="0" marL="0">
              <a:buNone/>
            </a:pPr>
            <a:r>
              <a:rPr lang="en-US" sz="1100" dirty="0">
                <a:solidFill>
                  <a:srgbClr val="5A6478"/>
                </a:solidFill>
                <a:latin typeface="Calibri" pitchFamily="34" charset="0"/>
                <a:ea typeface="Calibri" pitchFamily="34" charset="-122"/>
                <a:cs typeface="Calibri" pitchFamily="34" charset="-120"/>
              </a:rPr>
              <a:t>21</a:t>
            </a:r>
            <a:endParaRPr lang="en-US" sz="1100" dirty="0"/>
          </a:p>
        </p:txBody>
      </p:sp>
      <p:sp>
        <p:nvSpPr>
          <p:cNvPr id="3" name="Text 1"/>
          <p:cNvSpPr/>
          <p:nvPr/>
        </p:nvSpPr>
        <p:spPr>
          <a:xfrm>
            <a:off x="548640" y="292608"/>
            <a:ext cx="11064240" cy="694944"/>
          </a:xfrm>
          <a:prstGeom prst="rect">
            <a:avLst/>
          </a:prstGeom>
          <a:noFill/>
          <a:ln/>
        </p:spPr>
        <p:txBody>
          <a:bodyPr wrap="square" rtlCol="0" anchor="ctr"/>
          <a:lstStyle/>
          <a:p>
            <a:pPr indent="0" marL="0">
              <a:buNone/>
            </a:pPr>
            <a:r>
              <a:rPr lang="en-US" sz="3000" b="1" dirty="0">
                <a:solidFill>
                  <a:srgbClr val="1A1A2E"/>
                </a:solidFill>
                <a:latin typeface="Cambria" pitchFamily="34" charset="0"/>
                <a:ea typeface="Cambria" pitchFamily="34" charset="-122"/>
                <a:cs typeface="Cambria" pitchFamily="34" charset="-120"/>
              </a:rPr>
              <a:t>Inside the build</a:t>
            </a:r>
            <a:endParaRPr lang="en-US" sz="3000" dirty="0"/>
          </a:p>
        </p:txBody>
      </p:sp>
      <p:sp>
        <p:nvSpPr>
          <p:cNvPr id="4" name="Text 2"/>
          <p:cNvSpPr/>
          <p:nvPr/>
        </p:nvSpPr>
        <p:spPr>
          <a:xfrm>
            <a:off x="548640" y="914400"/>
            <a:ext cx="11064240" cy="365760"/>
          </a:xfrm>
          <a:prstGeom prst="rect">
            <a:avLst/>
          </a:prstGeom>
          <a:noFill/>
          <a:ln/>
        </p:spPr>
        <p:txBody>
          <a:bodyPr wrap="square" rtlCol="0" anchor="ctr"/>
          <a:lstStyle/>
          <a:p>
            <a:pPr indent="0" marL="0">
              <a:buNone/>
            </a:pPr>
            <a:r>
              <a:rPr lang="en-US" sz="1500" dirty="0">
                <a:solidFill>
                  <a:srgbClr val="5A6478"/>
                </a:solidFill>
                <a:latin typeface="Calibri" pitchFamily="34" charset="0"/>
                <a:ea typeface="Calibri" pitchFamily="34" charset="-122"/>
                <a:cs typeface="Calibri" pitchFamily="34" charset="-120"/>
              </a:rPr>
              <a:t>Next.js on Vercel, FastAPI and LangGraph in Docker on a Hetzner EU VPS behind Caddy, Supabase Postgres</a:t>
            </a:r>
            <a:endParaRPr lang="en-US" sz="1500" dirty="0"/>
          </a:p>
        </p:txBody>
      </p:sp>
      <p:sp>
        <p:nvSpPr>
          <p:cNvPr id="5" name="Shape 3"/>
          <p:cNvSpPr/>
          <p:nvPr/>
        </p:nvSpPr>
        <p:spPr>
          <a:xfrm>
            <a:off x="548640" y="1417320"/>
            <a:ext cx="5440680" cy="1920240"/>
          </a:xfrm>
          <a:prstGeom prst="roundRect">
            <a:avLst>
              <a:gd name="adj" fmla="val 2857"/>
            </a:avLst>
          </a:prstGeom>
          <a:solidFill>
            <a:srgbClr val="F4F7FC"/>
          </a:solidFill>
          <a:ln w="12700">
            <a:solidFill>
              <a:srgbClr val="CADCFC"/>
            </a:solidFill>
            <a:prstDash val="solid"/>
          </a:ln>
        </p:spPr>
      </p:sp>
      <p:sp>
        <p:nvSpPr>
          <p:cNvPr id="6" name="Text 4"/>
          <p:cNvSpPr/>
          <p:nvPr/>
        </p:nvSpPr>
        <p:spPr>
          <a:xfrm>
            <a:off x="713232" y="1508760"/>
            <a:ext cx="5111496" cy="274320"/>
          </a:xfrm>
          <a:prstGeom prst="rect">
            <a:avLst/>
          </a:prstGeom>
          <a:noFill/>
          <a:ln/>
        </p:spPr>
        <p:txBody>
          <a:bodyPr wrap="square" lIns="0" tIns="0" rIns="0" bIns="0"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The runtime</a:t>
            </a:r>
            <a:endParaRPr lang="en-US" sz="1450" dirty="0"/>
          </a:p>
        </p:txBody>
      </p:sp>
      <p:sp>
        <p:nvSpPr>
          <p:cNvPr id="7" name="Text 5"/>
          <p:cNvSpPr/>
          <p:nvPr/>
        </p:nvSpPr>
        <p:spPr>
          <a:xfrm>
            <a:off x="713232" y="1801368"/>
            <a:ext cx="5111496" cy="1426464"/>
          </a:xfrm>
          <a:prstGeom prst="rect">
            <a:avLst/>
          </a:prstGeom>
          <a:noFill/>
          <a:ln/>
        </p:spPr>
        <p:txBody>
          <a:bodyPr wrap="square" lIns="0" tIns="0" rIns="0" bIns="0" rtlCol="0" anchor="ctr"/>
          <a:lstStyle/>
          <a:p>
            <a:pPr indent="0" marL="0">
              <a:buNone/>
            </a:pPr>
            <a:r>
              <a:rPr lang="en-US" sz="1200" dirty="0">
                <a:solidFill>
                  <a:srgbClr val="1A1A2E"/>
                </a:solidFill>
                <a:latin typeface="Calibri" pitchFamily="34" charset="0"/>
                <a:ea typeface="Calibri" pitchFamily="34" charset="-122"/>
                <a:cs typeface="Calibri" pitchFamily="34" charset="-120"/>
              </a:rPr>
              <a:t>One typed LangGraph: enrich, synthesise, evaluate rules, interrupt for human approval, execute, measure, learn. The interrupt is the Article 14 gate, and there is no code path to an external effect that goes around it. About 89 REST endpoints across seven domain routers.</a:t>
            </a:r>
            <a:endParaRPr lang="en-US" sz="1200" dirty="0"/>
          </a:p>
        </p:txBody>
      </p:sp>
      <p:sp>
        <p:nvSpPr>
          <p:cNvPr id="8" name="Shape 6"/>
          <p:cNvSpPr/>
          <p:nvPr/>
        </p:nvSpPr>
        <p:spPr>
          <a:xfrm>
            <a:off x="6172200" y="1417320"/>
            <a:ext cx="5440680" cy="1920240"/>
          </a:xfrm>
          <a:prstGeom prst="roundRect">
            <a:avLst>
              <a:gd name="adj" fmla="val 2857"/>
            </a:avLst>
          </a:prstGeom>
          <a:solidFill>
            <a:srgbClr val="F4F7FC"/>
          </a:solidFill>
          <a:ln w="12700">
            <a:solidFill>
              <a:srgbClr val="CADCFC"/>
            </a:solidFill>
            <a:prstDash val="solid"/>
          </a:ln>
        </p:spPr>
      </p:sp>
      <p:sp>
        <p:nvSpPr>
          <p:cNvPr id="9" name="Text 7"/>
          <p:cNvSpPr/>
          <p:nvPr/>
        </p:nvSpPr>
        <p:spPr>
          <a:xfrm>
            <a:off x="6336792" y="1508760"/>
            <a:ext cx="5111496" cy="274320"/>
          </a:xfrm>
          <a:prstGeom prst="rect">
            <a:avLst/>
          </a:prstGeom>
          <a:noFill/>
          <a:ln/>
        </p:spPr>
        <p:txBody>
          <a:bodyPr wrap="square" lIns="0" tIns="0" rIns="0" bIns="0"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Deployment</a:t>
            </a:r>
            <a:endParaRPr lang="en-US" sz="1450" dirty="0"/>
          </a:p>
        </p:txBody>
      </p:sp>
      <p:sp>
        <p:nvSpPr>
          <p:cNvPr id="10" name="Text 8"/>
          <p:cNvSpPr/>
          <p:nvPr/>
        </p:nvSpPr>
        <p:spPr>
          <a:xfrm>
            <a:off x="6336792" y="1801368"/>
            <a:ext cx="5111496" cy="1426464"/>
          </a:xfrm>
          <a:prstGeom prst="rect">
            <a:avLst/>
          </a:prstGeom>
          <a:noFill/>
          <a:ln/>
        </p:spPr>
        <p:txBody>
          <a:bodyPr wrap="square" lIns="0" tIns="0" rIns="0" bIns="0" rtlCol="0" anchor="ctr"/>
          <a:lstStyle/>
          <a:p>
            <a:pPr indent="0" marL="0">
              <a:buNone/>
            </a:pPr>
            <a:r>
              <a:rPr lang="en-US" sz="1200" dirty="0">
                <a:solidFill>
                  <a:srgbClr val="1A1A2E"/>
                </a:solidFill>
                <a:latin typeface="Calibri" pitchFamily="34" charset="0"/>
                <a:ea typeface="Calibri" pitchFamily="34" charset="-122"/>
                <a:cs typeface="Calibri" pitchFamily="34" charset="-120"/>
              </a:rPr>
              <a:t>API in Docker on a Hetzner EU VPS behind Caddy. Frontend on Vercel. Supabase Postgres with pgvector and row-level tenant isolation. A live smoke test runs against production every 30 minutes and opens an issue after two consecutive failures.</a:t>
            </a:r>
            <a:endParaRPr lang="en-US" sz="1200" dirty="0"/>
          </a:p>
        </p:txBody>
      </p:sp>
      <p:sp>
        <p:nvSpPr>
          <p:cNvPr id="11" name="Shape 9"/>
          <p:cNvSpPr/>
          <p:nvPr/>
        </p:nvSpPr>
        <p:spPr>
          <a:xfrm>
            <a:off x="548640" y="3520440"/>
            <a:ext cx="5440680" cy="1920240"/>
          </a:xfrm>
          <a:prstGeom prst="roundRect">
            <a:avLst>
              <a:gd name="adj" fmla="val 2857"/>
            </a:avLst>
          </a:prstGeom>
          <a:solidFill>
            <a:srgbClr val="F4F7FC"/>
          </a:solidFill>
          <a:ln w="12700">
            <a:solidFill>
              <a:srgbClr val="CADCFC"/>
            </a:solidFill>
            <a:prstDash val="solid"/>
          </a:ln>
        </p:spPr>
      </p:sp>
      <p:sp>
        <p:nvSpPr>
          <p:cNvPr id="12" name="Text 10"/>
          <p:cNvSpPr/>
          <p:nvPr/>
        </p:nvSpPr>
        <p:spPr>
          <a:xfrm>
            <a:off x="713232" y="3611880"/>
            <a:ext cx="5111496" cy="274320"/>
          </a:xfrm>
          <a:prstGeom prst="rect">
            <a:avLst/>
          </a:prstGeom>
          <a:noFill/>
          <a:ln/>
        </p:spPr>
        <p:txBody>
          <a:bodyPr wrap="square" lIns="0" tIns="0" rIns="0" bIns="0"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Model layer and observability</a:t>
            </a:r>
            <a:endParaRPr lang="en-US" sz="1450" dirty="0"/>
          </a:p>
        </p:txBody>
      </p:sp>
      <p:sp>
        <p:nvSpPr>
          <p:cNvPr id="13" name="Text 11"/>
          <p:cNvSpPr/>
          <p:nvPr/>
        </p:nvSpPr>
        <p:spPr>
          <a:xfrm>
            <a:off x="713232" y="3904488"/>
            <a:ext cx="5111496" cy="1426464"/>
          </a:xfrm>
          <a:prstGeom prst="rect">
            <a:avLst/>
          </a:prstGeom>
          <a:noFill/>
          <a:ln/>
        </p:spPr>
        <p:txBody>
          <a:bodyPr wrap="square" lIns="0" tIns="0" rIns="0" bIns="0" rtlCol="0" anchor="ctr"/>
          <a:lstStyle/>
          <a:p>
            <a:pPr indent="0" marL="0">
              <a:buNone/>
            </a:pPr>
            <a:r>
              <a:rPr lang="en-US" sz="1200" dirty="0">
                <a:solidFill>
                  <a:srgbClr val="1A1A2E"/>
                </a:solidFill>
                <a:latin typeface="Calibri" pitchFamily="34" charset="0"/>
                <a:ea typeface="Calibri" pitchFamily="34" charset="-122"/>
                <a:cs typeface="Calibri" pitchFamily="34" charset="-120"/>
              </a:rPr>
              <a:t>A provider-agnostic layer speaking the OpenAI protocol, so the model can be hosted, behind an EU gateway, or self-hosted. Langfuse tracing on the model stages. Severity scoring stays in deterministic code.</a:t>
            </a:r>
            <a:endParaRPr lang="en-US" sz="1200" dirty="0"/>
          </a:p>
        </p:txBody>
      </p:sp>
      <p:sp>
        <p:nvSpPr>
          <p:cNvPr id="14" name="Shape 12"/>
          <p:cNvSpPr/>
          <p:nvPr/>
        </p:nvSpPr>
        <p:spPr>
          <a:xfrm>
            <a:off x="6172200" y="3520440"/>
            <a:ext cx="5440680" cy="1920240"/>
          </a:xfrm>
          <a:prstGeom prst="roundRect">
            <a:avLst>
              <a:gd name="adj" fmla="val 2857"/>
            </a:avLst>
          </a:prstGeom>
          <a:solidFill>
            <a:srgbClr val="F4F7FC"/>
          </a:solidFill>
          <a:ln w="12700">
            <a:solidFill>
              <a:srgbClr val="CADCFC"/>
            </a:solidFill>
            <a:prstDash val="solid"/>
          </a:ln>
        </p:spPr>
      </p:sp>
      <p:sp>
        <p:nvSpPr>
          <p:cNvPr id="15" name="Text 13"/>
          <p:cNvSpPr/>
          <p:nvPr/>
        </p:nvSpPr>
        <p:spPr>
          <a:xfrm>
            <a:off x="6336792" y="3611880"/>
            <a:ext cx="5111496" cy="274320"/>
          </a:xfrm>
          <a:prstGeom prst="rect">
            <a:avLst/>
          </a:prstGeom>
          <a:noFill/>
          <a:ln/>
        </p:spPr>
        <p:txBody>
          <a:bodyPr wrap="square" lIns="0" tIns="0" rIns="0" bIns="0"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Connectors, stated precisely</a:t>
            </a:r>
            <a:endParaRPr lang="en-US" sz="1450" dirty="0"/>
          </a:p>
        </p:txBody>
      </p:sp>
      <p:sp>
        <p:nvSpPr>
          <p:cNvPr id="16" name="Text 14"/>
          <p:cNvSpPr/>
          <p:nvPr/>
        </p:nvSpPr>
        <p:spPr>
          <a:xfrm>
            <a:off x="6336792" y="3904488"/>
            <a:ext cx="5111496" cy="1426464"/>
          </a:xfrm>
          <a:prstGeom prst="rect">
            <a:avLst/>
          </a:prstGeom>
          <a:noFill/>
          <a:ln/>
        </p:spPr>
        <p:txBody>
          <a:bodyPr wrap="square" lIns="0" tIns="0" rIns="0" bIns="0" rtlCol="0" anchor="ctr"/>
          <a:lstStyle/>
          <a:p>
            <a:pPr indent="0" marL="0">
              <a:buNone/>
            </a:pPr>
            <a:r>
              <a:rPr lang="en-US" sz="1200" dirty="0">
                <a:solidFill>
                  <a:srgbClr val="1A1A2E"/>
                </a:solidFill>
                <a:latin typeface="Calibri" pitchFamily="34" charset="0"/>
                <a:ea typeface="Calibri" pitchFamily="34" charset="-122"/>
                <a:cs typeface="Calibri" pitchFamily="34" charset="-120"/>
              </a:rPr>
              <a:t>Five official API pull sources: Zendesk, Trustpilot, Apple App Store, Google Play, Google Business Profile. Two execution targets: Jira and Slack. Zendesk is ingest only. Everything else returns a draft.</a:t>
            </a:r>
            <a:endParaRPr lang="en-US" sz="1200" dirty="0"/>
          </a:p>
        </p:txBody>
      </p:sp>
      <p:sp>
        <p:nvSpPr>
          <p:cNvPr id="17" name="Text 15"/>
          <p:cNvSpPr/>
          <p:nvPr/>
        </p:nvSpPr>
        <p:spPr>
          <a:xfrm>
            <a:off x="548640" y="5623560"/>
            <a:ext cx="11064240" cy="457200"/>
          </a:xfrm>
          <a:prstGeom prst="rect">
            <a:avLst/>
          </a:prstGeom>
          <a:noFill/>
          <a:ln/>
        </p:spPr>
        <p:txBody>
          <a:bodyPr wrap="square" rtlCol="0" anchor="ctr"/>
          <a:lstStyle/>
          <a:p>
            <a:pPr indent="0" marL="0">
              <a:buNone/>
            </a:pPr>
            <a:r>
              <a:rPr lang="en-US" sz="1300" dirty="0">
                <a:solidFill>
                  <a:srgbClr val="5A6478"/>
                </a:solidFill>
                <a:latin typeface="Calibri" pitchFamily="34" charset="0"/>
                <a:ea typeface="Calibri" pitchFamily="34" charset="-122"/>
                <a:cs typeface="Calibri" pitchFamily="34" charset="-120"/>
              </a:rPr>
              <a:t>Diagrams re-rendered from the September sources, which draw the deployed graph and tables. The numbers above are the verified ones.</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11430000" y="6382512"/>
            <a:ext cx="457200" cy="256032"/>
          </a:xfrm>
          <a:prstGeom prst="rect">
            <a:avLst/>
          </a:prstGeom>
          <a:noFill/>
          <a:ln/>
        </p:spPr>
        <p:txBody>
          <a:bodyPr wrap="square" lIns="0" tIns="0" rIns="0" bIns="0" rtlCol="0" anchor="ctr"/>
          <a:lstStyle/>
          <a:p>
            <a:pPr algn="r" indent="0" marL="0">
              <a:buNone/>
            </a:pPr>
            <a:r>
              <a:rPr lang="en-US" sz="1100" dirty="0">
                <a:solidFill>
                  <a:srgbClr val="5A6478"/>
                </a:solidFill>
                <a:latin typeface="Calibri" pitchFamily="34" charset="0"/>
                <a:ea typeface="Calibri" pitchFamily="34" charset="-122"/>
                <a:cs typeface="Calibri" pitchFamily="34" charset="-120"/>
              </a:rPr>
              <a:t>22</a:t>
            </a:r>
            <a:endParaRPr lang="en-US" sz="1100" dirty="0"/>
          </a:p>
        </p:txBody>
      </p:sp>
      <p:sp>
        <p:nvSpPr>
          <p:cNvPr id="3" name="Text 1"/>
          <p:cNvSpPr/>
          <p:nvPr/>
        </p:nvSpPr>
        <p:spPr>
          <a:xfrm>
            <a:off x="548640" y="292608"/>
            <a:ext cx="11064240" cy="694944"/>
          </a:xfrm>
          <a:prstGeom prst="rect">
            <a:avLst/>
          </a:prstGeom>
          <a:noFill/>
          <a:ln/>
        </p:spPr>
        <p:txBody>
          <a:bodyPr wrap="square" rtlCol="0" anchor="ctr"/>
          <a:lstStyle/>
          <a:p>
            <a:pPr indent="0" marL="0">
              <a:buNone/>
            </a:pPr>
            <a:r>
              <a:rPr lang="en-US" sz="3000" b="1" dirty="0">
                <a:solidFill>
                  <a:srgbClr val="1A1A2E"/>
                </a:solidFill>
                <a:latin typeface="Cambria" pitchFamily="34" charset="0"/>
                <a:ea typeface="Cambria" pitchFamily="34" charset="-122"/>
                <a:cs typeface="Cambria" pitchFamily="34" charset="-120"/>
              </a:rPr>
              <a:t>The loop in motion</a:t>
            </a:r>
            <a:endParaRPr lang="en-US" sz="3000" dirty="0"/>
          </a:p>
        </p:txBody>
      </p:sp>
      <p:sp>
        <p:nvSpPr>
          <p:cNvPr id="4" name="Text 2"/>
          <p:cNvSpPr/>
          <p:nvPr/>
        </p:nvSpPr>
        <p:spPr>
          <a:xfrm>
            <a:off x="548640" y="914400"/>
            <a:ext cx="11064240" cy="365760"/>
          </a:xfrm>
          <a:prstGeom prst="rect">
            <a:avLst/>
          </a:prstGeom>
          <a:noFill/>
          <a:ln/>
        </p:spPr>
        <p:txBody>
          <a:bodyPr wrap="square" rtlCol="0" anchor="ctr"/>
          <a:lstStyle/>
          <a:p>
            <a:pPr indent="0" marL="0">
              <a:buNone/>
            </a:pPr>
            <a:r>
              <a:rPr lang="en-US" sz="1500" dirty="0">
                <a:solidFill>
                  <a:srgbClr val="5A6478"/>
                </a:solidFill>
                <a:latin typeface="Calibri" pitchFamily="34" charset="0"/>
                <a:ea typeface="Calibri" pitchFamily="34" charset="-122"/>
                <a:cs typeface="Calibri" pitchFamily="34" charset="-120"/>
              </a:rPr>
              <a:t>Bounded model stages inside deterministic gates, with the governance touchpoints in red</a:t>
            </a:r>
            <a:endParaRPr lang="en-US" sz="1500" dirty="0"/>
          </a:p>
        </p:txBody>
      </p:sp>
      <p:pic>
        <p:nvPicPr>
          <p:cNvPr id="5" name="Image 0" descr="/home/user/CLARA/thesis/diagrams/rendered/04_pipeline_flow.png">    </p:cNvPr>
          <p:cNvPicPr>
            <a:picLocks noChangeAspect="1"/>
          </p:cNvPicPr>
          <p:nvPr/>
        </p:nvPicPr>
        <p:blipFill>
          <a:blip r:embed="rId1"/>
          <a:stretch>
            <a:fillRect/>
          </a:stretch>
        </p:blipFill>
        <p:spPr>
          <a:xfrm>
            <a:off x="640080" y="1417320"/>
            <a:ext cx="1874520" cy="4709160"/>
          </a:xfrm>
          <a:prstGeom prst="rect">
            <a:avLst/>
          </a:prstGeom>
        </p:spPr>
      </p:pic>
      <p:pic>
        <p:nvPicPr>
          <p:cNvPr id="6" name="Image 1" descr="/home/user/CLARA/thesis/diagrams/rendered/05_sequence_hitl.png">    </p:cNvPr>
          <p:cNvPicPr>
            <a:picLocks noChangeAspect="1"/>
          </p:cNvPicPr>
          <p:nvPr/>
        </p:nvPicPr>
        <p:blipFill>
          <a:blip r:embed="rId2"/>
          <a:stretch>
            <a:fillRect/>
          </a:stretch>
        </p:blipFill>
        <p:spPr>
          <a:xfrm>
            <a:off x="2788920" y="1554480"/>
            <a:ext cx="8732520" cy="3785616"/>
          </a:xfrm>
          <a:prstGeom prst="rect">
            <a:avLst/>
          </a:prstGeom>
        </p:spPr>
      </p:pic>
      <p:sp>
        <p:nvSpPr>
          <p:cNvPr id="7" name="Text 3"/>
          <p:cNvSpPr/>
          <p:nvPr/>
        </p:nvSpPr>
        <p:spPr>
          <a:xfrm>
            <a:off x="2788920" y="5440680"/>
            <a:ext cx="8732520" cy="822960"/>
          </a:xfrm>
          <a:prstGeom prst="rect">
            <a:avLst/>
          </a:prstGeom>
          <a:noFill/>
          <a:ln/>
        </p:spPr>
        <p:txBody>
          <a:bodyPr wrap="square" rtlCol="0" anchor="ctr"/>
          <a:lstStyle/>
          <a:p>
            <a:pPr indent="0" marL="0">
              <a:buNone/>
            </a:pPr>
            <a:r>
              <a:rPr lang="en-US" sz="1300" dirty="0">
                <a:solidFill>
                  <a:srgbClr val="5A6478"/>
                </a:solidFill>
                <a:latin typeface="Calibri" pitchFamily="34" charset="0"/>
                <a:ea typeface="Calibri" pitchFamily="34" charset="-122"/>
                <a:cs typeface="Calibri" pitchFamily="34" charset="-120"/>
              </a:rPr>
              <a:t>Left: the pipeline as implemented, with the risk gate, the approval queue, the audit write, outcome measurement, and decayed-confidence retrieval feeding rule matching. Right: the same lifecycle as a sequence. The outcome contract is fixed before the action executes, so there is no choosing a friendly metric afterwards.</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11430000" y="6382512"/>
            <a:ext cx="457200" cy="256032"/>
          </a:xfrm>
          <a:prstGeom prst="rect">
            <a:avLst/>
          </a:prstGeom>
          <a:noFill/>
          <a:ln/>
        </p:spPr>
        <p:txBody>
          <a:bodyPr wrap="square" lIns="0" tIns="0" rIns="0" bIns="0" rtlCol="0" anchor="ctr"/>
          <a:lstStyle/>
          <a:p>
            <a:pPr algn="r" indent="0" marL="0">
              <a:buNone/>
            </a:pPr>
            <a:r>
              <a:rPr lang="en-US" sz="1100" dirty="0">
                <a:solidFill>
                  <a:srgbClr val="5A6478"/>
                </a:solidFill>
                <a:latin typeface="Calibri" pitchFamily="34" charset="0"/>
                <a:ea typeface="Calibri" pitchFamily="34" charset="-122"/>
                <a:cs typeface="Calibri" pitchFamily="34" charset="-120"/>
              </a:rPr>
              <a:t>23</a:t>
            </a:r>
            <a:endParaRPr lang="en-US" sz="1100" dirty="0"/>
          </a:p>
        </p:txBody>
      </p:sp>
      <p:sp>
        <p:nvSpPr>
          <p:cNvPr id="3" name="Text 1"/>
          <p:cNvSpPr/>
          <p:nvPr/>
        </p:nvSpPr>
        <p:spPr>
          <a:xfrm>
            <a:off x="548640" y="292608"/>
            <a:ext cx="11064240" cy="694944"/>
          </a:xfrm>
          <a:prstGeom prst="rect">
            <a:avLst/>
          </a:prstGeom>
          <a:noFill/>
          <a:ln/>
        </p:spPr>
        <p:txBody>
          <a:bodyPr wrap="square" rtlCol="0" anchor="ctr"/>
          <a:lstStyle/>
          <a:p>
            <a:pPr indent="0" marL="0">
              <a:buNone/>
            </a:pPr>
            <a:r>
              <a:rPr lang="en-US" sz="3000" b="1" dirty="0">
                <a:solidFill>
                  <a:srgbClr val="1A1A2E"/>
                </a:solidFill>
                <a:latin typeface="Cambria" pitchFamily="34" charset="0"/>
                <a:ea typeface="Cambria" pitchFamily="34" charset="-122"/>
                <a:cs typeface="Cambria" pitchFamily="34" charset="-120"/>
              </a:rPr>
              <a:t>The data model</a:t>
            </a:r>
            <a:endParaRPr lang="en-US" sz="3000" dirty="0"/>
          </a:p>
        </p:txBody>
      </p:sp>
      <p:sp>
        <p:nvSpPr>
          <p:cNvPr id="4" name="Text 2"/>
          <p:cNvSpPr/>
          <p:nvPr/>
        </p:nvSpPr>
        <p:spPr>
          <a:xfrm>
            <a:off x="548640" y="914400"/>
            <a:ext cx="11064240" cy="365760"/>
          </a:xfrm>
          <a:prstGeom prst="rect">
            <a:avLst/>
          </a:prstGeom>
          <a:noFill/>
          <a:ln/>
        </p:spPr>
        <p:txBody>
          <a:bodyPr wrap="square" rtlCol="0" anchor="ctr"/>
          <a:lstStyle/>
          <a:p>
            <a:pPr indent="0" marL="0">
              <a:buNone/>
            </a:pPr>
            <a:r>
              <a:rPr lang="en-US" sz="1500" dirty="0">
                <a:solidFill>
                  <a:srgbClr val="5A6478"/>
                </a:solidFill>
                <a:latin typeface="Calibri" pitchFamily="34" charset="0"/>
                <a:ea typeface="Calibri" pitchFamily="34" charset="-122"/>
                <a:cs typeface="Calibri" pitchFamily="34" charset="-120"/>
              </a:rPr>
              <a:t>Contracts and learnings are tables, so closure is referential integrity</a:t>
            </a:r>
            <a:endParaRPr lang="en-US" sz="1500" dirty="0"/>
          </a:p>
        </p:txBody>
      </p:sp>
      <p:pic>
        <p:nvPicPr>
          <p:cNvPr id="5" name="Image 0" descr="/home/user/CLARA/thesis/diagrams/rendered/06_data_model_er.png">    </p:cNvPr>
          <p:cNvPicPr>
            <a:picLocks noChangeAspect="1"/>
          </p:cNvPicPr>
          <p:nvPr/>
        </p:nvPicPr>
        <p:blipFill>
          <a:blip r:embed="rId1"/>
          <a:stretch>
            <a:fillRect/>
          </a:stretch>
        </p:blipFill>
        <p:spPr>
          <a:xfrm>
            <a:off x="685800" y="1371600"/>
            <a:ext cx="2340864" cy="4892040"/>
          </a:xfrm>
          <a:prstGeom prst="rect">
            <a:avLst/>
          </a:prstGeom>
        </p:spPr>
      </p:pic>
      <p:sp>
        <p:nvSpPr>
          <p:cNvPr id="6" name="Shape 3"/>
          <p:cNvSpPr/>
          <p:nvPr/>
        </p:nvSpPr>
        <p:spPr>
          <a:xfrm>
            <a:off x="3429000" y="1463040"/>
            <a:ext cx="8183880" cy="1371600"/>
          </a:xfrm>
          <a:prstGeom prst="roundRect">
            <a:avLst>
              <a:gd name="adj" fmla="val 4000"/>
            </a:avLst>
          </a:prstGeom>
          <a:solidFill>
            <a:srgbClr val="F4F7FC"/>
          </a:solidFill>
          <a:ln w="12700">
            <a:solidFill>
              <a:srgbClr val="CADCFC"/>
            </a:solidFill>
            <a:prstDash val="solid"/>
          </a:ln>
        </p:spPr>
      </p:sp>
      <p:sp>
        <p:nvSpPr>
          <p:cNvPr id="7" name="Text 4"/>
          <p:cNvSpPr/>
          <p:nvPr/>
        </p:nvSpPr>
        <p:spPr>
          <a:xfrm>
            <a:off x="3593592" y="1554480"/>
            <a:ext cx="7854696" cy="274320"/>
          </a:xfrm>
          <a:prstGeom prst="rect">
            <a:avLst/>
          </a:prstGeom>
          <a:noFill/>
          <a:ln/>
        </p:spPr>
        <p:txBody>
          <a:bodyPr wrap="square" lIns="0" tIns="0" rIns="0" bIns="0"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Closure</a:t>
            </a:r>
            <a:endParaRPr lang="en-US" sz="1450" dirty="0"/>
          </a:p>
        </p:txBody>
      </p:sp>
      <p:sp>
        <p:nvSpPr>
          <p:cNvPr id="8" name="Text 5"/>
          <p:cNvSpPr/>
          <p:nvPr/>
        </p:nvSpPr>
        <p:spPr>
          <a:xfrm>
            <a:off x="3593592" y="1847088"/>
            <a:ext cx="7854696" cy="877824"/>
          </a:xfrm>
          <a:prstGeom prst="rect">
            <a:avLst/>
          </a:prstGeom>
          <a:noFill/>
          <a:ln/>
        </p:spPr>
        <p:txBody>
          <a:bodyPr wrap="square" lIns="0" tIns="0" rIns="0" bIns="0" rtlCol="0" anchor="ctr"/>
          <a:lstStyle/>
          <a:p>
            <a:pPr indent="0" marL="0">
              <a:buNone/>
            </a:pPr>
            <a:r>
              <a:rPr lang="en-US" sz="1200" dirty="0">
                <a:solidFill>
                  <a:srgbClr val="1A1A2E"/>
                </a:solidFill>
                <a:latin typeface="Calibri" pitchFamily="34" charset="0"/>
                <a:ea typeface="Calibri" pitchFamily="34" charset="-122"/>
                <a:cs typeface="Calibri" pitchFamily="34" charset="-120"/>
              </a:rPr>
              <a:t>actions_log binds one to one to outcome_contracts at creation, and outcome_measurements grade closure from operational to customer to outcome. A closed action is a row with evidence behind it.</a:t>
            </a:r>
            <a:endParaRPr lang="en-US" sz="1200" dirty="0"/>
          </a:p>
        </p:txBody>
      </p:sp>
      <p:sp>
        <p:nvSpPr>
          <p:cNvPr id="9" name="Shape 6"/>
          <p:cNvSpPr/>
          <p:nvPr/>
        </p:nvSpPr>
        <p:spPr>
          <a:xfrm>
            <a:off x="3429000" y="2971800"/>
            <a:ext cx="8183880" cy="1371600"/>
          </a:xfrm>
          <a:prstGeom prst="roundRect">
            <a:avLst>
              <a:gd name="adj" fmla="val 4000"/>
            </a:avLst>
          </a:prstGeom>
          <a:solidFill>
            <a:srgbClr val="F4F7FC"/>
          </a:solidFill>
          <a:ln w="12700">
            <a:solidFill>
              <a:srgbClr val="CADCFC"/>
            </a:solidFill>
            <a:prstDash val="solid"/>
          </a:ln>
        </p:spPr>
      </p:sp>
      <p:sp>
        <p:nvSpPr>
          <p:cNvPr id="10" name="Text 7"/>
          <p:cNvSpPr/>
          <p:nvPr/>
        </p:nvSpPr>
        <p:spPr>
          <a:xfrm>
            <a:off x="3593592" y="3063240"/>
            <a:ext cx="7854696" cy="274320"/>
          </a:xfrm>
          <a:prstGeom prst="rect">
            <a:avLst/>
          </a:prstGeom>
          <a:noFill/>
          <a:ln/>
        </p:spPr>
        <p:txBody>
          <a:bodyPr wrap="square" lIns="0" tIns="0" rIns="0" bIns="0"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Memory</a:t>
            </a:r>
            <a:endParaRPr lang="en-US" sz="1450" dirty="0"/>
          </a:p>
        </p:txBody>
      </p:sp>
      <p:sp>
        <p:nvSpPr>
          <p:cNvPr id="11" name="Text 8"/>
          <p:cNvSpPr/>
          <p:nvPr/>
        </p:nvSpPr>
        <p:spPr>
          <a:xfrm>
            <a:off x="3593592" y="3355848"/>
            <a:ext cx="7854696" cy="877824"/>
          </a:xfrm>
          <a:prstGeom prst="rect">
            <a:avLst/>
          </a:prstGeom>
          <a:noFill/>
          <a:ln/>
        </p:spPr>
        <p:txBody>
          <a:bodyPr wrap="square" lIns="0" tIns="0" rIns="0" bIns="0" rtlCol="0" anchor="ctr"/>
          <a:lstStyle/>
          <a:p>
            <a:pPr indent="0" marL="0">
              <a:buNone/>
            </a:pPr>
            <a:r>
              <a:rPr lang="en-US" sz="1200" dirty="0">
                <a:solidFill>
                  <a:srgbClr val="1A1A2E"/>
                </a:solidFill>
                <a:latin typeface="Calibri" pitchFamily="34" charset="0"/>
                <a:ea typeface="Calibri" pitchFamily="34" charset="-122"/>
                <a:cs typeface="Calibri" pitchFamily="34" charset="-120"/>
              </a:rPr>
              <a:t>ab_learnings carry base_confidence and half_life_days, so decay is computed from columns and can be audited by query. Taxonomy nodes carry the same fields for theme drift.</a:t>
            </a:r>
            <a:endParaRPr lang="en-US" sz="1200" dirty="0"/>
          </a:p>
        </p:txBody>
      </p:sp>
      <p:sp>
        <p:nvSpPr>
          <p:cNvPr id="12" name="Shape 9"/>
          <p:cNvSpPr/>
          <p:nvPr/>
        </p:nvSpPr>
        <p:spPr>
          <a:xfrm>
            <a:off x="3429000" y="4480560"/>
            <a:ext cx="8183880" cy="1371600"/>
          </a:xfrm>
          <a:prstGeom prst="roundRect">
            <a:avLst>
              <a:gd name="adj" fmla="val 4000"/>
            </a:avLst>
          </a:prstGeom>
          <a:solidFill>
            <a:srgbClr val="F4F7FC"/>
          </a:solidFill>
          <a:ln w="12700">
            <a:solidFill>
              <a:srgbClr val="CADCFC"/>
            </a:solidFill>
            <a:prstDash val="solid"/>
          </a:ln>
        </p:spPr>
      </p:sp>
      <p:sp>
        <p:nvSpPr>
          <p:cNvPr id="13" name="Text 10"/>
          <p:cNvSpPr/>
          <p:nvPr/>
        </p:nvSpPr>
        <p:spPr>
          <a:xfrm>
            <a:off x="3593592" y="4572000"/>
            <a:ext cx="7854696" cy="274320"/>
          </a:xfrm>
          <a:prstGeom prst="rect">
            <a:avLst/>
          </a:prstGeom>
          <a:noFill/>
          <a:ln/>
        </p:spPr>
        <p:txBody>
          <a:bodyPr wrap="square" lIns="0" tIns="0" rIns="0" bIns="0"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Tenancy</a:t>
            </a:r>
            <a:endParaRPr lang="en-US" sz="1450" dirty="0"/>
          </a:p>
        </p:txBody>
      </p:sp>
      <p:sp>
        <p:nvSpPr>
          <p:cNvPr id="14" name="Text 11"/>
          <p:cNvSpPr/>
          <p:nvPr/>
        </p:nvSpPr>
        <p:spPr>
          <a:xfrm>
            <a:off x="3593592" y="4864608"/>
            <a:ext cx="7854696" cy="877824"/>
          </a:xfrm>
          <a:prstGeom prst="rect">
            <a:avLst/>
          </a:prstGeom>
          <a:noFill/>
          <a:ln/>
        </p:spPr>
        <p:txBody>
          <a:bodyPr wrap="square" lIns="0" tIns="0" rIns="0" bIns="0" rtlCol="0" anchor="ctr"/>
          <a:lstStyle/>
          <a:p>
            <a:pPr indent="0" marL="0">
              <a:buNone/>
            </a:pPr>
            <a:r>
              <a:rPr lang="en-US" sz="1200" dirty="0">
                <a:solidFill>
                  <a:srgbClr val="1A1A2E"/>
                </a:solidFill>
                <a:latin typeface="Calibri" pitchFamily="34" charset="0"/>
                <a:ea typeface="Calibri" pitchFamily="34" charset="-122"/>
                <a:cs typeface="Calibri" pitchFamily="34" charset="-120"/>
              </a:rPr>
              <a:t>Every table is workspace-scoped and enforced by Postgres row-level security below the application, so an application bug cannot bypass it. The honest bound: this is not warranted for adversarial co-tenants, and pilots run single-workspace.</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11430000" y="6382512"/>
            <a:ext cx="457200" cy="256032"/>
          </a:xfrm>
          <a:prstGeom prst="rect">
            <a:avLst/>
          </a:prstGeom>
          <a:noFill/>
          <a:ln/>
        </p:spPr>
        <p:txBody>
          <a:bodyPr wrap="square" lIns="0" tIns="0" rIns="0" bIns="0" rtlCol="0" anchor="ctr"/>
          <a:lstStyle/>
          <a:p>
            <a:pPr algn="r" indent="0" marL="0">
              <a:buNone/>
            </a:pPr>
            <a:r>
              <a:rPr lang="en-US" sz="1100" dirty="0">
                <a:solidFill>
                  <a:srgbClr val="5A6478"/>
                </a:solidFill>
                <a:latin typeface="Calibri" pitchFamily="34" charset="0"/>
                <a:ea typeface="Calibri" pitchFamily="34" charset="-122"/>
                <a:cs typeface="Calibri" pitchFamily="34" charset="-120"/>
              </a:rPr>
              <a:t>24</a:t>
            </a:r>
            <a:endParaRPr lang="en-US" sz="1100" dirty="0"/>
          </a:p>
        </p:txBody>
      </p:sp>
      <p:sp>
        <p:nvSpPr>
          <p:cNvPr id="3" name="Text 1"/>
          <p:cNvSpPr/>
          <p:nvPr/>
        </p:nvSpPr>
        <p:spPr>
          <a:xfrm>
            <a:off x="548640" y="292608"/>
            <a:ext cx="11064240" cy="694944"/>
          </a:xfrm>
          <a:prstGeom prst="rect">
            <a:avLst/>
          </a:prstGeom>
          <a:noFill/>
          <a:ln/>
        </p:spPr>
        <p:txBody>
          <a:bodyPr wrap="square" rtlCol="0" anchor="ctr"/>
          <a:lstStyle/>
          <a:p>
            <a:pPr indent="0" marL="0">
              <a:buNone/>
            </a:pPr>
            <a:r>
              <a:rPr lang="en-US" sz="3000" b="1" dirty="0">
                <a:solidFill>
                  <a:srgbClr val="1A1A2E"/>
                </a:solidFill>
                <a:latin typeface="Cambria" pitchFamily="34" charset="0"/>
                <a:ea typeface="Cambria" pitchFamily="34" charset="-122"/>
                <a:cs typeface="Cambria" pitchFamily="34" charset="-120"/>
              </a:rPr>
              <a:t>Five design decisions the literature does not resolve</a:t>
            </a:r>
            <a:endParaRPr lang="en-US" sz="3000" dirty="0"/>
          </a:p>
        </p:txBody>
      </p:sp>
      <p:sp>
        <p:nvSpPr>
          <p:cNvPr id="4" name="Text 2"/>
          <p:cNvSpPr/>
          <p:nvPr/>
        </p:nvSpPr>
        <p:spPr>
          <a:xfrm>
            <a:off x="548640" y="914400"/>
            <a:ext cx="11064240" cy="365760"/>
          </a:xfrm>
          <a:prstGeom prst="rect">
            <a:avLst/>
          </a:prstGeom>
          <a:noFill/>
          <a:ln/>
        </p:spPr>
        <p:txBody>
          <a:bodyPr wrap="square" rtlCol="0" anchor="ctr"/>
          <a:lstStyle/>
          <a:p>
            <a:pPr indent="0" marL="0">
              <a:buNone/>
            </a:pPr>
            <a:r>
              <a:rPr lang="en-US" sz="1500" dirty="0">
                <a:solidFill>
                  <a:srgbClr val="5A6478"/>
                </a:solidFill>
                <a:latin typeface="Calibri" pitchFamily="34" charset="0"/>
                <a:ea typeface="Calibri" pitchFamily="34" charset="-122"/>
                <a:cs typeface="Calibri" pitchFamily="34" charset="-120"/>
              </a:rPr>
              <a:t>Each one implemented, and each one stated with its cost</a:t>
            </a:r>
            <a:endParaRPr lang="en-US" sz="1500" dirty="0"/>
          </a:p>
        </p:txBody>
      </p:sp>
      <p:sp>
        <p:nvSpPr>
          <p:cNvPr id="5" name="Shape 3"/>
          <p:cNvSpPr/>
          <p:nvPr/>
        </p:nvSpPr>
        <p:spPr>
          <a:xfrm>
            <a:off x="548640" y="1463040"/>
            <a:ext cx="3593592" cy="2103120"/>
          </a:xfrm>
          <a:prstGeom prst="roundRect">
            <a:avLst>
              <a:gd name="adj" fmla="val 2609"/>
            </a:avLst>
          </a:prstGeom>
          <a:solidFill>
            <a:srgbClr val="F4F7FC"/>
          </a:solidFill>
          <a:ln w="12700">
            <a:solidFill>
              <a:srgbClr val="CADCFC"/>
            </a:solidFill>
            <a:prstDash val="solid"/>
          </a:ln>
        </p:spPr>
      </p:sp>
      <p:sp>
        <p:nvSpPr>
          <p:cNvPr id="6" name="Text 4"/>
          <p:cNvSpPr/>
          <p:nvPr/>
        </p:nvSpPr>
        <p:spPr>
          <a:xfrm>
            <a:off x="713232" y="1554480"/>
            <a:ext cx="3264408" cy="274320"/>
          </a:xfrm>
          <a:prstGeom prst="rect">
            <a:avLst/>
          </a:prstGeom>
          <a:noFill/>
          <a:ln/>
        </p:spPr>
        <p:txBody>
          <a:bodyPr wrap="square" lIns="0" tIns="0" rIns="0" bIns="0"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1. Authority graduated by consequence class</a:t>
            </a:r>
            <a:endParaRPr lang="en-US" sz="1450" dirty="0"/>
          </a:p>
        </p:txBody>
      </p:sp>
      <p:sp>
        <p:nvSpPr>
          <p:cNvPr id="7" name="Text 5"/>
          <p:cNvSpPr/>
          <p:nvPr/>
        </p:nvSpPr>
        <p:spPr>
          <a:xfrm>
            <a:off x="713232" y="1847088"/>
            <a:ext cx="3264408" cy="1609344"/>
          </a:xfrm>
          <a:prstGeom prst="rect">
            <a:avLst/>
          </a:prstGeom>
          <a:noFill/>
          <a:ln/>
        </p:spPr>
        <p:txBody>
          <a:bodyPr wrap="square" lIns="0" tIns="0" rIns="0" bIns="0" rtlCol="0" anchor="ctr"/>
          <a:lstStyle/>
          <a:p>
            <a:pPr indent="0" marL="0">
              <a:buNone/>
            </a:pPr>
            <a:r>
              <a:rPr lang="en-US" sz="1200" dirty="0">
                <a:solidFill>
                  <a:srgbClr val="1A1A2E"/>
                </a:solidFill>
                <a:latin typeface="Calibri" pitchFamily="34" charset="0"/>
                <a:ea typeface="Calibri" pitchFamily="34" charset="-122"/>
                <a:cs typeface="Calibri" pitchFamily="34" charset="-120"/>
              </a:rPr>
              <a:t>Every action is a draft; a person approves it, and consequential actions can require two. The first design cycle resolved rule conflicts by priority, specificity and de-duplication; the deployed build keeps rules as configuration and puts the decision with the reviewer. Cost: throughput is bounded by reviewer attention.</a:t>
            </a:r>
            <a:endParaRPr lang="en-US" sz="1200" dirty="0"/>
          </a:p>
        </p:txBody>
      </p:sp>
      <p:sp>
        <p:nvSpPr>
          <p:cNvPr id="8" name="Shape 6"/>
          <p:cNvSpPr/>
          <p:nvPr/>
        </p:nvSpPr>
        <p:spPr>
          <a:xfrm>
            <a:off x="4325112" y="1463040"/>
            <a:ext cx="3593592" cy="2103120"/>
          </a:xfrm>
          <a:prstGeom prst="roundRect">
            <a:avLst>
              <a:gd name="adj" fmla="val 2609"/>
            </a:avLst>
          </a:prstGeom>
          <a:solidFill>
            <a:srgbClr val="F4F7FC"/>
          </a:solidFill>
          <a:ln w="12700">
            <a:solidFill>
              <a:srgbClr val="CADCFC"/>
            </a:solidFill>
            <a:prstDash val="solid"/>
          </a:ln>
        </p:spPr>
      </p:sp>
      <p:sp>
        <p:nvSpPr>
          <p:cNvPr id="9" name="Text 7"/>
          <p:cNvSpPr/>
          <p:nvPr/>
        </p:nvSpPr>
        <p:spPr>
          <a:xfrm>
            <a:off x="4489704" y="1554480"/>
            <a:ext cx="3264408" cy="274320"/>
          </a:xfrm>
          <a:prstGeom prst="rect">
            <a:avLst/>
          </a:prstGeom>
          <a:noFill/>
          <a:ln/>
        </p:spPr>
        <p:txBody>
          <a:bodyPr wrap="square" lIns="0" tIns="0" rIns="0" bIns="0"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2. Confidence decay in learnings</a:t>
            </a:r>
            <a:endParaRPr lang="en-US" sz="1450" dirty="0"/>
          </a:p>
        </p:txBody>
      </p:sp>
      <p:sp>
        <p:nvSpPr>
          <p:cNvPr id="10" name="Text 8"/>
          <p:cNvSpPr/>
          <p:nvPr/>
        </p:nvSpPr>
        <p:spPr>
          <a:xfrm>
            <a:off x="4489704" y="1847088"/>
            <a:ext cx="3264408" cy="1609344"/>
          </a:xfrm>
          <a:prstGeom prst="rect">
            <a:avLst/>
          </a:prstGeom>
          <a:noFill/>
          <a:ln/>
        </p:spPr>
        <p:txBody>
          <a:bodyPr wrap="square" lIns="0" tIns="0" rIns="0" bIns="0" rtlCol="0" anchor="ctr"/>
          <a:lstStyle/>
          <a:p>
            <a:pPr indent="0" marL="0">
              <a:buNone/>
            </a:pPr>
            <a:r>
              <a:rPr lang="en-US" sz="1200" dirty="0">
                <a:solidFill>
                  <a:srgbClr val="1A1A2E"/>
                </a:solidFill>
                <a:latin typeface="Calibri" pitchFamily="34" charset="0"/>
                <a:ea typeface="Calibri" pitchFamily="34" charset="-122"/>
                <a:cs typeface="Calibri" pitchFamily="34" charset="-120"/>
              </a:rPr>
              <a:t>Memory as perishable: base times 0.5 to the power of age over half-life. MemoryBank decays chat memory; this decays action and outcome evidence. Cost: the half-life is a guess.</a:t>
            </a:r>
            <a:endParaRPr lang="en-US" sz="1200" dirty="0"/>
          </a:p>
        </p:txBody>
      </p:sp>
      <p:sp>
        <p:nvSpPr>
          <p:cNvPr id="11" name="Shape 9"/>
          <p:cNvSpPr/>
          <p:nvPr/>
        </p:nvSpPr>
        <p:spPr>
          <a:xfrm>
            <a:off x="8101584" y="1463040"/>
            <a:ext cx="3593592" cy="2103120"/>
          </a:xfrm>
          <a:prstGeom prst="roundRect">
            <a:avLst>
              <a:gd name="adj" fmla="val 2609"/>
            </a:avLst>
          </a:prstGeom>
          <a:solidFill>
            <a:srgbClr val="F4F7FC"/>
          </a:solidFill>
          <a:ln w="12700">
            <a:solidFill>
              <a:srgbClr val="CADCFC"/>
            </a:solidFill>
            <a:prstDash val="solid"/>
          </a:ln>
        </p:spPr>
      </p:sp>
      <p:sp>
        <p:nvSpPr>
          <p:cNvPr id="12" name="Text 10"/>
          <p:cNvSpPr/>
          <p:nvPr/>
        </p:nvSpPr>
        <p:spPr>
          <a:xfrm>
            <a:off x="8266176" y="1554480"/>
            <a:ext cx="3264408" cy="274320"/>
          </a:xfrm>
          <a:prstGeom prst="rect">
            <a:avLst/>
          </a:prstGeom>
          <a:noFill/>
          <a:ln/>
        </p:spPr>
        <p:txBody>
          <a:bodyPr wrap="square" lIns="0" tIns="0" rIns="0" bIns="0"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3. Cross-signal severity</a:t>
            </a:r>
            <a:endParaRPr lang="en-US" sz="1450" dirty="0"/>
          </a:p>
        </p:txBody>
      </p:sp>
      <p:sp>
        <p:nvSpPr>
          <p:cNvPr id="13" name="Text 11"/>
          <p:cNvSpPr/>
          <p:nvPr/>
        </p:nvSpPr>
        <p:spPr>
          <a:xfrm>
            <a:off x="8266176" y="1847088"/>
            <a:ext cx="3264408" cy="1609344"/>
          </a:xfrm>
          <a:prstGeom prst="rect">
            <a:avLst/>
          </a:prstGeom>
          <a:noFill/>
          <a:ln/>
        </p:spPr>
        <p:txBody>
          <a:bodyPr wrap="square" lIns="0" tIns="0" rIns="0" bIns="0" rtlCol="0" anchor="ctr"/>
          <a:lstStyle/>
          <a:p>
            <a:pPr indent="0" marL="0">
              <a:buNone/>
            </a:pPr>
            <a:r>
              <a:rPr lang="en-US" sz="1200" dirty="0">
                <a:solidFill>
                  <a:srgbClr val="1A1A2E"/>
                </a:solidFill>
                <a:latin typeface="Calibri" pitchFamily="34" charset="0"/>
                <a:ea typeface="Calibri" pitchFamily="34" charset="-122"/>
                <a:cs typeface="Calibri" pitchFamily="34" charset="-120"/>
              </a:rPr>
              <a:t>Severity comes from the corroborating set, using urgency, volume and sentiment, rather than from the loudest single voice. Cost: it can bury the rare catastrophic single signal, so it needs an override.</a:t>
            </a:r>
            <a:endParaRPr lang="en-US" sz="1200" dirty="0"/>
          </a:p>
        </p:txBody>
      </p:sp>
      <p:sp>
        <p:nvSpPr>
          <p:cNvPr id="14" name="Shape 12"/>
          <p:cNvSpPr/>
          <p:nvPr/>
        </p:nvSpPr>
        <p:spPr>
          <a:xfrm>
            <a:off x="548640" y="3749040"/>
            <a:ext cx="3593592" cy="2103120"/>
          </a:xfrm>
          <a:prstGeom prst="roundRect">
            <a:avLst>
              <a:gd name="adj" fmla="val 2609"/>
            </a:avLst>
          </a:prstGeom>
          <a:solidFill>
            <a:srgbClr val="F4F7FC"/>
          </a:solidFill>
          <a:ln w="12700">
            <a:solidFill>
              <a:srgbClr val="CADCFC"/>
            </a:solidFill>
            <a:prstDash val="solid"/>
          </a:ln>
        </p:spPr>
      </p:sp>
      <p:sp>
        <p:nvSpPr>
          <p:cNvPr id="15" name="Text 13"/>
          <p:cNvSpPr/>
          <p:nvPr/>
        </p:nvSpPr>
        <p:spPr>
          <a:xfrm>
            <a:off x="713232" y="3840480"/>
            <a:ext cx="3264408" cy="274320"/>
          </a:xfrm>
          <a:prstGeom prst="rect">
            <a:avLst/>
          </a:prstGeom>
          <a:noFill/>
          <a:ln/>
        </p:spPr>
        <p:txBody>
          <a:bodyPr wrap="square" lIns="0" tIns="0" rIns="0" bIns="0"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4. Past-learnings retrieval</a:t>
            </a:r>
            <a:endParaRPr lang="en-US" sz="1450" dirty="0"/>
          </a:p>
        </p:txBody>
      </p:sp>
      <p:sp>
        <p:nvSpPr>
          <p:cNvPr id="16" name="Text 14"/>
          <p:cNvSpPr/>
          <p:nvPr/>
        </p:nvSpPr>
        <p:spPr>
          <a:xfrm>
            <a:off x="713232" y="4133088"/>
            <a:ext cx="3264408" cy="1609344"/>
          </a:xfrm>
          <a:prstGeom prst="rect">
            <a:avLst/>
          </a:prstGeom>
          <a:noFill/>
          <a:ln/>
        </p:spPr>
        <p:txBody>
          <a:bodyPr wrap="square" lIns="0" tIns="0" rIns="0" bIns="0" rtlCol="0" anchor="ctr"/>
          <a:lstStyle/>
          <a:p>
            <a:pPr indent="0" marL="0">
              <a:buNone/>
            </a:pPr>
            <a:r>
              <a:rPr lang="en-US" sz="1200" dirty="0">
                <a:solidFill>
                  <a:srgbClr val="1A1A2E"/>
                </a:solidFill>
                <a:latin typeface="Calibri" pitchFamily="34" charset="0"/>
                <a:ea typeface="Calibri" pitchFamily="34" charset="-122"/>
                <a:cs typeface="Calibri" pitchFamily="34" charset="-120"/>
              </a:rPr>
              <a:t>Decayed-confidence retrieval into new decisions, in the case-based reasoning lineage. Only human-validated conclusions are retrieval-eligible, so an unvalidated causal claim cannot launder itself into the next recommendation. Cost: retrieval quality gates usefulness.</a:t>
            </a:r>
            <a:endParaRPr lang="en-US" sz="1200" dirty="0"/>
          </a:p>
        </p:txBody>
      </p:sp>
      <p:sp>
        <p:nvSpPr>
          <p:cNvPr id="17" name="Shape 15"/>
          <p:cNvSpPr/>
          <p:nvPr/>
        </p:nvSpPr>
        <p:spPr>
          <a:xfrm>
            <a:off x="4325112" y="3749040"/>
            <a:ext cx="3593592" cy="2103120"/>
          </a:xfrm>
          <a:prstGeom prst="roundRect">
            <a:avLst>
              <a:gd name="adj" fmla="val 2609"/>
            </a:avLst>
          </a:prstGeom>
          <a:solidFill>
            <a:srgbClr val="F4F7FC"/>
          </a:solidFill>
          <a:ln w="12700">
            <a:solidFill>
              <a:srgbClr val="CADCFC"/>
            </a:solidFill>
            <a:prstDash val="solid"/>
          </a:ln>
        </p:spPr>
      </p:sp>
      <p:sp>
        <p:nvSpPr>
          <p:cNvPr id="18" name="Text 16"/>
          <p:cNvSpPr/>
          <p:nvPr/>
        </p:nvSpPr>
        <p:spPr>
          <a:xfrm>
            <a:off x="4489704" y="3840480"/>
            <a:ext cx="3264408" cy="274320"/>
          </a:xfrm>
          <a:prstGeom prst="rect">
            <a:avLst/>
          </a:prstGeom>
          <a:noFill/>
          <a:ln/>
        </p:spPr>
        <p:txBody>
          <a:bodyPr wrap="square" lIns="0" tIns="0" rIns="0" bIns="0"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5. Per-industry profiles</a:t>
            </a:r>
            <a:endParaRPr lang="en-US" sz="1450" dirty="0"/>
          </a:p>
        </p:txBody>
      </p:sp>
      <p:sp>
        <p:nvSpPr>
          <p:cNvPr id="19" name="Text 17"/>
          <p:cNvSpPr/>
          <p:nvPr/>
        </p:nvSpPr>
        <p:spPr>
          <a:xfrm>
            <a:off x="4489704" y="4133088"/>
            <a:ext cx="3264408" cy="1609344"/>
          </a:xfrm>
          <a:prstGeom prst="rect">
            <a:avLst/>
          </a:prstGeom>
          <a:noFill/>
          <a:ln/>
        </p:spPr>
        <p:txBody>
          <a:bodyPr wrap="square" lIns="0" tIns="0" rIns="0" bIns="0" rtlCol="0" anchor="ctr"/>
          <a:lstStyle/>
          <a:p>
            <a:pPr indent="0" marL="0">
              <a:buNone/>
            </a:pPr>
            <a:r>
              <a:rPr lang="en-US" sz="1200" dirty="0">
                <a:solidFill>
                  <a:srgbClr val="1A1A2E"/>
                </a:solidFill>
                <a:latin typeface="Calibri" pitchFamily="34" charset="0"/>
                <a:ea typeface="Calibri" pitchFamily="34" charset="-122"/>
                <a:cs typeface="Calibri" pitchFamily="34" charset="-120"/>
              </a:rPr>
              <a:t>Adaptation by configuration rather than fine-tuning, using named weight profiles over one scoring model. Cost: authored priors can encode stereotypes, and inspectability is the safeguard rather than a guarantee.</a:t>
            </a:r>
            <a:endParaRPr lang="en-US" sz="1200" dirty="0"/>
          </a:p>
        </p:txBody>
      </p:sp>
      <p:sp>
        <p:nvSpPr>
          <p:cNvPr id="20" name="Shape 18"/>
          <p:cNvSpPr/>
          <p:nvPr/>
        </p:nvSpPr>
        <p:spPr>
          <a:xfrm>
            <a:off x="8101584" y="3749040"/>
            <a:ext cx="3538728" cy="2103120"/>
          </a:xfrm>
          <a:prstGeom prst="roundRect">
            <a:avLst>
              <a:gd name="adj" fmla="val 2609"/>
            </a:avLst>
          </a:prstGeom>
          <a:solidFill>
            <a:srgbClr val="1E2761"/>
          </a:solidFill>
          <a:ln/>
        </p:spPr>
      </p:sp>
      <p:sp>
        <p:nvSpPr>
          <p:cNvPr id="21" name="Text 19"/>
          <p:cNvSpPr/>
          <p:nvPr/>
        </p:nvSpPr>
        <p:spPr>
          <a:xfrm>
            <a:off x="8302752" y="3858768"/>
            <a:ext cx="3136392" cy="274320"/>
          </a:xfrm>
          <a:prstGeom prst="rect">
            <a:avLst/>
          </a:prstGeom>
          <a:noFill/>
          <a:ln/>
        </p:spPr>
        <p:txBody>
          <a:bodyPr wrap="square" lIns="0" tIns="0" rIns="0" bIns="0" rtlCol="0" anchor="ctr"/>
          <a:lstStyle/>
          <a:p>
            <a:pPr indent="0" marL="0">
              <a:buNone/>
            </a:pPr>
            <a:r>
              <a:rPr lang="en-US" sz="1400" b="1" dirty="0">
                <a:solidFill>
                  <a:srgbClr val="CADCFC"/>
                </a:solidFill>
                <a:latin typeface="Calibri" pitchFamily="34" charset="0"/>
                <a:ea typeface="Calibri" pitchFamily="34" charset="-122"/>
                <a:cs typeface="Calibri" pitchFamily="34" charset="-120"/>
              </a:rPr>
              <a:t>Why each cost is stated</a:t>
            </a:r>
            <a:endParaRPr lang="en-US" sz="1400" dirty="0"/>
          </a:p>
        </p:txBody>
      </p:sp>
      <p:sp>
        <p:nvSpPr>
          <p:cNvPr id="22" name="Text 20"/>
          <p:cNvSpPr/>
          <p:nvPr/>
        </p:nvSpPr>
        <p:spPr>
          <a:xfrm>
            <a:off x="8302752" y="4169664"/>
            <a:ext cx="3136392" cy="157276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A design principle that buys something for nothing is usually a platitude. The cost is what makes each decision defensible, and it is what a reader can argue with.</a:t>
            </a:r>
            <a:endParaRPr lang="en-US" sz="13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11430000" y="6382512"/>
            <a:ext cx="457200" cy="256032"/>
          </a:xfrm>
          <a:prstGeom prst="rect">
            <a:avLst/>
          </a:prstGeom>
          <a:noFill/>
          <a:ln/>
        </p:spPr>
        <p:txBody>
          <a:bodyPr wrap="square" lIns="0" tIns="0" rIns="0" bIns="0" rtlCol="0" anchor="ctr"/>
          <a:lstStyle/>
          <a:p>
            <a:pPr algn="r" indent="0" marL="0">
              <a:buNone/>
            </a:pPr>
            <a:r>
              <a:rPr lang="en-US" sz="1100" dirty="0">
                <a:solidFill>
                  <a:srgbClr val="5A6478"/>
                </a:solidFill>
                <a:latin typeface="Calibri" pitchFamily="34" charset="0"/>
                <a:ea typeface="Calibri" pitchFamily="34" charset="-122"/>
                <a:cs typeface="Calibri" pitchFamily="34" charset="-120"/>
              </a:rPr>
              <a:t>25</a:t>
            </a:r>
            <a:endParaRPr lang="en-US" sz="1100" dirty="0"/>
          </a:p>
        </p:txBody>
      </p:sp>
      <p:sp>
        <p:nvSpPr>
          <p:cNvPr id="3" name="Text 1"/>
          <p:cNvSpPr/>
          <p:nvPr/>
        </p:nvSpPr>
        <p:spPr>
          <a:xfrm>
            <a:off x="548640" y="292608"/>
            <a:ext cx="11064240" cy="694944"/>
          </a:xfrm>
          <a:prstGeom prst="rect">
            <a:avLst/>
          </a:prstGeom>
          <a:noFill/>
          <a:ln/>
        </p:spPr>
        <p:txBody>
          <a:bodyPr wrap="square" rtlCol="0" anchor="ctr"/>
          <a:lstStyle/>
          <a:p>
            <a:pPr indent="0" marL="0">
              <a:buNone/>
            </a:pPr>
            <a:r>
              <a:rPr lang="en-US" sz="3000" b="1" dirty="0">
                <a:solidFill>
                  <a:srgbClr val="1A1A2E"/>
                </a:solidFill>
                <a:latin typeface="Cambria" pitchFamily="34" charset="0"/>
                <a:ea typeface="Cambria" pitchFamily="34" charset="-122"/>
                <a:cs typeface="Cambria" pitchFamily="34" charset="-120"/>
              </a:rPr>
              <a:t>Where this sits</a:t>
            </a:r>
            <a:endParaRPr lang="en-US" sz="3000" dirty="0"/>
          </a:p>
        </p:txBody>
      </p:sp>
      <p:sp>
        <p:nvSpPr>
          <p:cNvPr id="4" name="Text 2"/>
          <p:cNvSpPr/>
          <p:nvPr/>
        </p:nvSpPr>
        <p:spPr>
          <a:xfrm>
            <a:off x="548640" y="914400"/>
            <a:ext cx="11064240" cy="365760"/>
          </a:xfrm>
          <a:prstGeom prst="rect">
            <a:avLst/>
          </a:prstGeom>
          <a:noFill/>
          <a:ln/>
        </p:spPr>
        <p:txBody>
          <a:bodyPr wrap="square" rtlCol="0" anchor="ctr"/>
          <a:lstStyle/>
          <a:p>
            <a:pPr indent="0" marL="0">
              <a:buNone/>
            </a:pPr>
            <a:r>
              <a:rPr lang="en-US" sz="1500" dirty="0">
                <a:solidFill>
                  <a:srgbClr val="5A6478"/>
                </a:solidFill>
                <a:latin typeface="Calibri" pitchFamily="34" charset="0"/>
                <a:ea typeface="Calibri" pitchFamily="34" charset="-122"/>
                <a:cs typeface="Calibri" pitchFamily="34" charset="-120"/>
              </a:rPr>
              <a:t>No single differentiator survives scrutiny, so the contribution is the combination</a:t>
            </a:r>
            <a:endParaRPr lang="en-US" sz="1500" dirty="0"/>
          </a:p>
        </p:txBody>
      </p:sp>
      <p:sp>
        <p:nvSpPr>
          <p:cNvPr id="5" name="Shape 3"/>
          <p:cNvSpPr/>
          <p:nvPr/>
        </p:nvSpPr>
        <p:spPr>
          <a:xfrm>
            <a:off x="548640" y="1463040"/>
            <a:ext cx="6035040" cy="987552"/>
          </a:xfrm>
          <a:prstGeom prst="roundRect">
            <a:avLst>
              <a:gd name="adj" fmla="val 5556"/>
            </a:avLst>
          </a:prstGeom>
          <a:solidFill>
            <a:srgbClr val="F4F7FC"/>
          </a:solidFill>
          <a:ln w="12700">
            <a:solidFill>
              <a:srgbClr val="CADCFC"/>
            </a:solidFill>
            <a:prstDash val="solid"/>
          </a:ln>
        </p:spPr>
      </p:sp>
      <p:sp>
        <p:nvSpPr>
          <p:cNvPr id="6" name="Text 4"/>
          <p:cNvSpPr/>
          <p:nvPr/>
        </p:nvSpPr>
        <p:spPr>
          <a:xfrm>
            <a:off x="713232" y="1554480"/>
            <a:ext cx="5705856" cy="274320"/>
          </a:xfrm>
          <a:prstGeom prst="rect">
            <a:avLst/>
          </a:prstGeom>
          <a:noFill/>
          <a:ln/>
        </p:spPr>
        <p:txBody>
          <a:bodyPr wrap="square" lIns="0" tIns="0" rIns="0" bIns="0"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Amplitude</a:t>
            </a:r>
            <a:endParaRPr lang="en-US" sz="1450" dirty="0"/>
          </a:p>
        </p:txBody>
      </p:sp>
      <p:sp>
        <p:nvSpPr>
          <p:cNvPr id="7" name="Text 5"/>
          <p:cNvSpPr/>
          <p:nvPr/>
        </p:nvSpPr>
        <p:spPr>
          <a:xfrm>
            <a:off x="713232" y="1847088"/>
            <a:ext cx="5705856" cy="493776"/>
          </a:xfrm>
          <a:prstGeom prst="rect">
            <a:avLst/>
          </a:prstGeom>
          <a:noFill/>
          <a:ln/>
        </p:spPr>
        <p:txBody>
          <a:bodyPr wrap="square" lIns="0" tIns="0" rIns="0" bIns="0" rtlCol="0" anchor="ctr"/>
          <a:lstStyle/>
          <a:p>
            <a:pPr indent="0" marL="0">
              <a:buNone/>
            </a:pPr>
            <a:r>
              <a:rPr lang="en-US" sz="1250" dirty="0">
                <a:solidFill>
                  <a:srgbClr val="1A1A2E"/>
                </a:solidFill>
                <a:latin typeface="Calibri" pitchFamily="34" charset="0"/>
                <a:ea typeface="Calibri" pitchFamily="34" charset="-122"/>
                <a:cs typeface="Calibri" pitchFamily="34" charset="-120"/>
              </a:rPr>
              <a:t>ties feedback to behavioural and revenue data it already owns. Recommends, does not contract closure.</a:t>
            </a:r>
            <a:endParaRPr lang="en-US" sz="1250" dirty="0"/>
          </a:p>
        </p:txBody>
      </p:sp>
      <p:sp>
        <p:nvSpPr>
          <p:cNvPr id="8" name="Shape 6"/>
          <p:cNvSpPr/>
          <p:nvPr/>
        </p:nvSpPr>
        <p:spPr>
          <a:xfrm>
            <a:off x="548640" y="2578608"/>
            <a:ext cx="6035040" cy="987552"/>
          </a:xfrm>
          <a:prstGeom prst="roundRect">
            <a:avLst>
              <a:gd name="adj" fmla="val 5556"/>
            </a:avLst>
          </a:prstGeom>
          <a:solidFill>
            <a:srgbClr val="F4F7FC"/>
          </a:solidFill>
          <a:ln w="12700">
            <a:solidFill>
              <a:srgbClr val="CADCFC"/>
            </a:solidFill>
            <a:prstDash val="solid"/>
          </a:ln>
        </p:spPr>
      </p:sp>
      <p:sp>
        <p:nvSpPr>
          <p:cNvPr id="9" name="Text 7"/>
          <p:cNvSpPr/>
          <p:nvPr/>
        </p:nvSpPr>
        <p:spPr>
          <a:xfrm>
            <a:off x="713232" y="2670048"/>
            <a:ext cx="5705856" cy="274320"/>
          </a:xfrm>
          <a:prstGeom prst="rect">
            <a:avLst/>
          </a:prstGeom>
          <a:noFill/>
          <a:ln/>
        </p:spPr>
        <p:txBody>
          <a:bodyPr wrap="square" lIns="0" tIns="0" rIns="0" bIns="0"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Medallia with Ada</a:t>
            </a:r>
            <a:endParaRPr lang="en-US" sz="1450" dirty="0"/>
          </a:p>
        </p:txBody>
      </p:sp>
      <p:sp>
        <p:nvSpPr>
          <p:cNvPr id="10" name="Text 8"/>
          <p:cNvSpPr/>
          <p:nvPr/>
        </p:nvSpPr>
        <p:spPr>
          <a:xfrm>
            <a:off x="713232" y="2962656"/>
            <a:ext cx="5705856" cy="493776"/>
          </a:xfrm>
          <a:prstGeom prst="rect">
            <a:avLst/>
          </a:prstGeom>
          <a:noFill/>
          <a:ln/>
        </p:spPr>
        <p:txBody>
          <a:bodyPr wrap="square" lIns="0" tIns="0" rIns="0" bIns="0" rtlCol="0" anchor="ctr"/>
          <a:lstStyle/>
          <a:p>
            <a:pPr indent="0" marL="0">
              <a:buNone/>
            </a:pPr>
            <a:r>
              <a:rPr lang="en-US" sz="1250" dirty="0">
                <a:solidFill>
                  <a:srgbClr val="1A1A2E"/>
                </a:solidFill>
                <a:latin typeface="Calibri" pitchFamily="34" charset="0"/>
                <a:ea typeface="Calibri" pitchFamily="34" charset="-122"/>
                <a:cs typeface="Calibri" pitchFamily="34" charset="-120"/>
              </a:rPr>
              <a:t>executes policy-aware workflows from insight, at enterprise scale, with published gains.</a:t>
            </a:r>
            <a:endParaRPr lang="en-US" sz="1250" dirty="0"/>
          </a:p>
        </p:txBody>
      </p:sp>
      <p:sp>
        <p:nvSpPr>
          <p:cNvPr id="11" name="Shape 9"/>
          <p:cNvSpPr/>
          <p:nvPr/>
        </p:nvSpPr>
        <p:spPr>
          <a:xfrm>
            <a:off x="548640" y="3694176"/>
            <a:ext cx="6035040" cy="987552"/>
          </a:xfrm>
          <a:prstGeom prst="roundRect">
            <a:avLst>
              <a:gd name="adj" fmla="val 5556"/>
            </a:avLst>
          </a:prstGeom>
          <a:solidFill>
            <a:srgbClr val="F4F7FC"/>
          </a:solidFill>
          <a:ln w="12700">
            <a:solidFill>
              <a:srgbClr val="CADCFC"/>
            </a:solidFill>
            <a:prstDash val="solid"/>
          </a:ln>
        </p:spPr>
      </p:sp>
      <p:sp>
        <p:nvSpPr>
          <p:cNvPr id="12" name="Text 10"/>
          <p:cNvSpPr/>
          <p:nvPr/>
        </p:nvSpPr>
        <p:spPr>
          <a:xfrm>
            <a:off x="713232" y="3785616"/>
            <a:ext cx="5705856" cy="274320"/>
          </a:xfrm>
          <a:prstGeom prst="rect">
            <a:avLst/>
          </a:prstGeom>
          <a:noFill/>
          <a:ln/>
        </p:spPr>
        <p:txBody>
          <a:bodyPr wrap="square" lIns="0" tIns="0" rIns="0" bIns="0"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Sprinklr</a:t>
            </a:r>
            <a:endParaRPr lang="en-US" sz="1450" dirty="0"/>
          </a:p>
        </p:txBody>
      </p:sp>
      <p:sp>
        <p:nvSpPr>
          <p:cNvPr id="13" name="Text 11"/>
          <p:cNvSpPr/>
          <p:nvPr/>
        </p:nvSpPr>
        <p:spPr>
          <a:xfrm>
            <a:off x="713232" y="4078224"/>
            <a:ext cx="5705856" cy="493776"/>
          </a:xfrm>
          <a:prstGeom prst="rect">
            <a:avLst/>
          </a:prstGeom>
          <a:noFill/>
          <a:ln/>
        </p:spPr>
        <p:txBody>
          <a:bodyPr wrap="square" lIns="0" tIns="0" rIns="0" bIns="0" rtlCol="0" anchor="ctr"/>
          <a:lstStyle/>
          <a:p>
            <a:pPr indent="0" marL="0">
              <a:buNone/>
            </a:pPr>
            <a:r>
              <a:rPr lang="en-US" sz="1250" dirty="0">
                <a:solidFill>
                  <a:srgbClr val="1A1A2E"/>
                </a:solidFill>
                <a:latin typeface="Calibri" pitchFamily="34" charset="0"/>
                <a:ea typeface="Calibri" pitchFamily="34" charset="-122"/>
                <a:cs typeface="Calibri" pitchFamily="34" charset="-120"/>
              </a:rPr>
              <a:t>audit trails and agent evaluation, so governance artefacts exist at enterprise level.</a:t>
            </a:r>
            <a:endParaRPr lang="en-US" sz="1250" dirty="0"/>
          </a:p>
        </p:txBody>
      </p:sp>
      <p:sp>
        <p:nvSpPr>
          <p:cNvPr id="14" name="Shape 12"/>
          <p:cNvSpPr/>
          <p:nvPr/>
        </p:nvSpPr>
        <p:spPr>
          <a:xfrm>
            <a:off x="548640" y="4809744"/>
            <a:ext cx="6035040" cy="987552"/>
          </a:xfrm>
          <a:prstGeom prst="roundRect">
            <a:avLst>
              <a:gd name="adj" fmla="val 5556"/>
            </a:avLst>
          </a:prstGeom>
          <a:solidFill>
            <a:srgbClr val="F4F7FC"/>
          </a:solidFill>
          <a:ln w="12700">
            <a:solidFill>
              <a:srgbClr val="CADCFC"/>
            </a:solidFill>
            <a:prstDash val="solid"/>
          </a:ln>
        </p:spPr>
      </p:sp>
      <p:sp>
        <p:nvSpPr>
          <p:cNvPr id="15" name="Text 13"/>
          <p:cNvSpPr/>
          <p:nvPr/>
        </p:nvSpPr>
        <p:spPr>
          <a:xfrm>
            <a:off x="713232" y="4901184"/>
            <a:ext cx="5705856" cy="274320"/>
          </a:xfrm>
          <a:prstGeom prst="rect">
            <a:avLst/>
          </a:prstGeom>
          <a:noFill/>
          <a:ln/>
        </p:spPr>
        <p:txBody>
          <a:bodyPr wrap="square" lIns="0" tIns="0" rIns="0" bIns="0"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Dovetail and Enterpret</a:t>
            </a:r>
            <a:endParaRPr lang="en-US" sz="1450" dirty="0"/>
          </a:p>
        </p:txBody>
      </p:sp>
      <p:sp>
        <p:nvSpPr>
          <p:cNvPr id="16" name="Text 14"/>
          <p:cNvSpPr/>
          <p:nvPr/>
        </p:nvSpPr>
        <p:spPr>
          <a:xfrm>
            <a:off x="713232" y="5193792"/>
            <a:ext cx="5705856" cy="493776"/>
          </a:xfrm>
          <a:prstGeom prst="rect">
            <a:avLst/>
          </a:prstGeom>
          <a:noFill/>
          <a:ln/>
        </p:spPr>
        <p:txBody>
          <a:bodyPr wrap="square" lIns="0" tIns="0" rIns="0" bIns="0" rtlCol="0" anchor="ctr"/>
          <a:lstStyle/>
          <a:p>
            <a:pPr indent="0" marL="0">
              <a:buNone/>
            </a:pPr>
            <a:r>
              <a:rPr lang="en-US" sz="1250" dirty="0">
                <a:solidFill>
                  <a:srgbClr val="1A1A2E"/>
                </a:solidFill>
                <a:latin typeface="Calibri" pitchFamily="34" charset="0"/>
                <a:ea typeface="Calibri" pitchFamily="34" charset="-122"/>
                <a:cs typeface="Calibri" pitchFamily="34" charset="-120"/>
              </a:rPr>
              <a:t>SMB agents that trigger real work, and broad connector coverage. No approval gates and no outcome measurement that could be verified.</a:t>
            </a:r>
            <a:endParaRPr lang="en-US" sz="1250" dirty="0"/>
          </a:p>
        </p:txBody>
      </p:sp>
      <p:sp>
        <p:nvSpPr>
          <p:cNvPr id="17" name="Shape 15"/>
          <p:cNvSpPr/>
          <p:nvPr/>
        </p:nvSpPr>
        <p:spPr>
          <a:xfrm>
            <a:off x="6858000" y="1463040"/>
            <a:ext cx="4754880" cy="3063240"/>
          </a:xfrm>
          <a:prstGeom prst="roundRect">
            <a:avLst>
              <a:gd name="adj" fmla="val 1791"/>
            </a:avLst>
          </a:prstGeom>
          <a:solidFill>
            <a:srgbClr val="1E2761"/>
          </a:solidFill>
          <a:ln/>
        </p:spPr>
      </p:sp>
      <p:sp>
        <p:nvSpPr>
          <p:cNvPr id="18" name="Text 16"/>
          <p:cNvSpPr/>
          <p:nvPr/>
        </p:nvSpPr>
        <p:spPr>
          <a:xfrm>
            <a:off x="7059168" y="1572768"/>
            <a:ext cx="4352544" cy="274320"/>
          </a:xfrm>
          <a:prstGeom prst="rect">
            <a:avLst/>
          </a:prstGeom>
          <a:noFill/>
          <a:ln/>
        </p:spPr>
        <p:txBody>
          <a:bodyPr wrap="square" lIns="0" tIns="0" rIns="0" bIns="0" rtlCol="0" anchor="ctr"/>
          <a:lstStyle/>
          <a:p>
            <a:pPr indent="0" marL="0">
              <a:buNone/>
            </a:pPr>
            <a:r>
              <a:rPr lang="en-US" sz="1400" b="1" dirty="0">
                <a:solidFill>
                  <a:srgbClr val="CADCFC"/>
                </a:solidFill>
                <a:latin typeface="Calibri" pitchFamily="34" charset="0"/>
                <a:ea typeface="Calibri" pitchFamily="34" charset="-122"/>
                <a:cs typeface="Calibri" pitchFamily="34" charset="-120"/>
              </a:rPr>
              <a:t>The unclaimed combination</a:t>
            </a:r>
            <a:endParaRPr lang="en-US" sz="1400" dirty="0"/>
          </a:p>
        </p:txBody>
      </p:sp>
      <p:sp>
        <p:nvSpPr>
          <p:cNvPr id="19" name="Text 17"/>
          <p:cNvSpPr/>
          <p:nvPr/>
        </p:nvSpPr>
        <p:spPr>
          <a:xfrm>
            <a:off x="7059168" y="1883664"/>
            <a:ext cx="4352544" cy="2532888"/>
          </a:xfrm>
          <a:prstGeom prst="rect">
            <a:avLst/>
          </a:prstGeom>
          <a:noFill/>
          <a:ln/>
        </p:spPr>
        <p:txBody>
          <a:bodyPr wrap="square" lIns="0" tIns="0" rIns="0" bIns="0" rtlCol="0" anchor="ctr"/>
          <a:lstStyle/>
          <a:p>
            <a:pPr indent="0" marL="0">
              <a:buNone/>
            </a:pPr>
            <a:r>
              <a:rPr lang="en-US" sz="1550" dirty="0">
                <a:solidFill>
                  <a:srgbClr val="FFFFFF"/>
                </a:solidFill>
                <a:latin typeface="Calibri" pitchFamily="34" charset="0"/>
                <a:ea typeface="Calibri" pitchFamily="34" charset="-122"/>
                <a:cs typeface="Calibri" pitchFamily="34" charset="-120"/>
              </a:rPr>
              <a:t>Outcome contracts with verified closure</a:t>
            </a:r>
            <a:endParaRPr lang="en-US" sz="1550" dirty="0"/>
          </a:p>
          <a:p>
            <a:pPr indent="0" marL="0">
              <a:buNone/>
            </a:pPr>
            <a:r>
              <a:rPr lang="en-US" sz="1550" dirty="0">
                <a:solidFill>
                  <a:srgbClr val="FFFFFF"/>
                </a:solidFill>
                <a:latin typeface="Calibri" pitchFamily="34" charset="0"/>
                <a:ea typeface="Calibri" pitchFamily="34" charset="-122"/>
                <a:cs typeface="Calibri" pitchFamily="34" charset="-120"/>
              </a:rPr>
              <a:t>Approval-gated cross-system action</a:t>
            </a:r>
            <a:endParaRPr lang="en-US" sz="1550" dirty="0"/>
          </a:p>
          <a:p>
            <a:pPr indent="0" marL="0">
              <a:buNone/>
            </a:pPr>
            <a:r>
              <a:rPr lang="en-US" sz="1550" dirty="0">
                <a:solidFill>
                  <a:srgbClr val="FFFFFF"/>
                </a:solidFill>
                <a:latin typeface="Calibri" pitchFamily="34" charset="0"/>
                <a:ea typeface="Calibri" pitchFamily="34" charset="-122"/>
                <a:cs typeface="Calibri" pitchFamily="34" charset="-120"/>
              </a:rPr>
              <a:t>A decaying learning memory</a:t>
            </a:r>
            <a:endParaRPr lang="en-US" sz="1550" dirty="0"/>
          </a:p>
          <a:p>
            <a:pPr indent="0" marL="0">
              <a:buNone/>
            </a:pPr>
            <a:r>
              <a:rPr lang="en-US" sz="1550" dirty="0">
                <a:solidFill>
                  <a:srgbClr val="FFFFFF"/>
                </a:solidFill>
                <a:latin typeface="Calibri" pitchFamily="34" charset="0"/>
                <a:ea typeface="Calibri" pitchFamily="34" charset="-122"/>
                <a:cs typeface="Calibri" pitchFamily="34" charset="-120"/>
              </a:rPr>
              <a:t>EU-sovereign deployment</a:t>
            </a:r>
            <a:endParaRPr lang="en-US" sz="1550" dirty="0"/>
          </a:p>
          <a:p>
            <a:pPr indent="0" marL="0">
              <a:buNone/>
            </a:pPr>
            <a:r>
              <a:rPr lang="en-US" sz="1550" dirty="0">
                <a:solidFill>
                  <a:srgbClr val="FFFFFF"/>
                </a:solidFill>
                <a:latin typeface="Calibri" pitchFamily="34" charset="0"/>
                <a:ea typeface="Calibri" pitchFamily="34" charset="-122"/>
                <a:cs typeface="Calibri" pitchFamily="34" charset="-120"/>
              </a:rPr>
              <a:t>Reachable by companies of 10 to 500 people</a:t>
            </a:r>
            <a:endParaRPr lang="en-US" sz="1550" dirty="0"/>
          </a:p>
        </p:txBody>
      </p:sp>
      <p:sp>
        <p:nvSpPr>
          <p:cNvPr id="20" name="Shape 18"/>
          <p:cNvSpPr/>
          <p:nvPr/>
        </p:nvSpPr>
        <p:spPr>
          <a:xfrm>
            <a:off x="6858000" y="4754880"/>
            <a:ext cx="4754880" cy="1371600"/>
          </a:xfrm>
          <a:prstGeom prst="roundRect">
            <a:avLst>
              <a:gd name="adj" fmla="val 4000"/>
            </a:avLst>
          </a:prstGeom>
          <a:solidFill>
            <a:srgbClr val="F4F7FC"/>
          </a:solidFill>
          <a:ln w="12700">
            <a:solidFill>
              <a:srgbClr val="CADCFC"/>
            </a:solidFill>
            <a:prstDash val="solid"/>
          </a:ln>
        </p:spPr>
      </p:sp>
      <p:sp>
        <p:nvSpPr>
          <p:cNvPr id="21" name="Text 19"/>
          <p:cNvSpPr/>
          <p:nvPr/>
        </p:nvSpPr>
        <p:spPr>
          <a:xfrm>
            <a:off x="7022592" y="4846320"/>
            <a:ext cx="4425696" cy="274320"/>
          </a:xfrm>
          <a:prstGeom prst="rect">
            <a:avLst/>
          </a:prstGeom>
          <a:noFill/>
          <a:ln/>
        </p:spPr>
        <p:txBody>
          <a:bodyPr wrap="square" lIns="0" tIns="0" rIns="0" bIns="0"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Two failure modes named by the analysts</a:t>
            </a:r>
            <a:endParaRPr lang="en-US" sz="1450" dirty="0"/>
          </a:p>
        </p:txBody>
      </p:sp>
      <p:sp>
        <p:nvSpPr>
          <p:cNvPr id="22" name="Text 20"/>
          <p:cNvSpPr/>
          <p:nvPr/>
        </p:nvSpPr>
        <p:spPr>
          <a:xfrm>
            <a:off x="7022592" y="5138928"/>
            <a:ext cx="4425696" cy="877824"/>
          </a:xfrm>
          <a:prstGeom prst="rect">
            <a:avLst/>
          </a:prstGeom>
          <a:noFill/>
          <a:ln/>
        </p:spPr>
        <p:txBody>
          <a:bodyPr wrap="square" lIns="0" tIns="0" rIns="0" bIns="0" rtlCol="0" anchor="ctr"/>
          <a:lstStyle/>
          <a:p>
            <a:pPr indent="0" marL="0">
              <a:buNone/>
            </a:pPr>
            <a:r>
              <a:rPr lang="en-US" sz="1300" dirty="0">
                <a:solidFill>
                  <a:srgbClr val="1A1A2E"/>
                </a:solidFill>
                <a:latin typeface="Calibri" pitchFamily="34" charset="0"/>
                <a:ea typeface="Calibri" pitchFamily="34" charset="-122"/>
                <a:cs typeface="Calibri" pitchFamily="34" charset="-120"/>
              </a:rPr>
              <a:t>Gartner (2025) expects more than 40% of agentic AI projects to be cancelled by 2027, for unclear business value and inadequate risk controls. Those are the two this design answers.</a:t>
            </a:r>
            <a:endParaRPr lang="en-US" sz="1300" dirty="0"/>
          </a:p>
        </p:txBody>
      </p:sp>
      <p:sp>
        <p:nvSpPr>
          <p:cNvPr id="23" name="Text 21"/>
          <p:cNvSpPr/>
          <p:nvPr/>
        </p:nvSpPr>
        <p:spPr>
          <a:xfrm>
            <a:off x="548640" y="5943600"/>
            <a:ext cx="6949440" cy="658368"/>
          </a:xfrm>
          <a:prstGeom prst="rect">
            <a:avLst/>
          </a:prstGeom>
          <a:noFill/>
          <a:ln/>
        </p:spPr>
        <p:txBody>
          <a:bodyPr wrap="square" rtlCol="0" anchor="ctr"/>
          <a:lstStyle/>
          <a:p>
            <a:pPr indent="0" marL="0">
              <a:buNone/>
            </a:pPr>
            <a:r>
              <a:rPr lang="en-US" sz="1300" dirty="0">
                <a:solidFill>
                  <a:srgbClr val="5A6478"/>
                </a:solidFill>
                <a:latin typeface="Calibri" pitchFamily="34" charset="0"/>
                <a:ea typeface="Calibri" pitchFamily="34" charset="-122"/>
                <a:cs typeface="Calibri" pitchFamily="34" charset="-120"/>
              </a:rPr>
              <a:t>Forrester retired its customer feedback management Wave in Q1 2026. Insight is being treated as commoditised, and the new axes are autonomous action and trust.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2026-09-06T17:23:57Z</dcterms:created>
  <dcterms:modified xsi:type="dcterms:W3CDTF">2026-09-06T17:23:57Z</dcterms:modified>
</cp:coreProperties>
</file>